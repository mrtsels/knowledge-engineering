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tags/tag3.xml" ContentType="application/vnd.openxmlformats-officedocument.presentationml.tags+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3"/>
  </p:notesMasterIdLst>
  <p:handoutMasterIdLst>
    <p:handoutMasterId r:id="rId24"/>
  </p:handoutMasterIdLst>
  <p:sldIdLst>
    <p:sldId id="256" r:id="rId2"/>
    <p:sldId id="1901" r:id="rId3"/>
    <p:sldId id="1950" r:id="rId4"/>
    <p:sldId id="372" r:id="rId5"/>
    <p:sldId id="1926" r:id="rId6"/>
    <p:sldId id="1927" r:id="rId7"/>
    <p:sldId id="1929" r:id="rId8"/>
    <p:sldId id="1928" r:id="rId9"/>
    <p:sldId id="1902" r:id="rId10"/>
    <p:sldId id="1977" r:id="rId11"/>
    <p:sldId id="1989" r:id="rId12"/>
    <p:sldId id="1990" r:id="rId13"/>
    <p:sldId id="2010" r:id="rId14"/>
    <p:sldId id="2011" r:id="rId15"/>
    <p:sldId id="2008" r:id="rId16"/>
    <p:sldId id="2012" r:id="rId17"/>
    <p:sldId id="2015" r:id="rId18"/>
    <p:sldId id="1942" r:id="rId19"/>
    <p:sldId id="1903" r:id="rId20"/>
    <p:sldId id="1953" r:id="rId21"/>
    <p:sldId id="259" r:id="rId22"/>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5">
          <p15:clr>
            <a:srgbClr val="A4A3A4"/>
          </p15:clr>
        </p15:guide>
        <p15:guide id="2" pos="3860">
          <p15:clr>
            <a:srgbClr val="A4A3A4"/>
          </p15:clr>
        </p15:guide>
        <p15:guide id="3" orient="horz" pos="107">
          <p15:clr>
            <a:srgbClr val="A4A3A4"/>
          </p15:clr>
        </p15:guide>
        <p15:guide id="4" pos="75">
          <p15:clr>
            <a:srgbClr val="A4A3A4"/>
          </p15:clr>
        </p15:guide>
        <p15:guide id="5" pos="7556">
          <p15:clr>
            <a:srgbClr val="A4A3A4"/>
          </p15:clr>
        </p15:guide>
        <p15:guide id="6" orient="horz" pos="492">
          <p15:clr>
            <a:srgbClr val="A4A3A4"/>
          </p15:clr>
        </p15:guide>
        <p15:guide id="7" orient="horz" pos="4088">
          <p15:clr>
            <a:srgbClr val="A4A3A4"/>
          </p15:clr>
        </p15:guide>
        <p15:guide id="8" pos="5308">
          <p15:clr>
            <a:srgbClr val="A4A3A4"/>
          </p15:clr>
        </p15:guide>
        <p15:guide id="9" orient="horz" pos="2834">
          <p15:clr>
            <a:srgbClr val="A4A3A4"/>
          </p15:clr>
        </p15:guide>
        <p15:guide id="10" pos="2059">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马小川 May" initials="马小川"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666666"/>
    <a:srgbClr val="7F7F7F"/>
    <a:srgbClr val="DBDBDB"/>
    <a:srgbClr val="F48784"/>
    <a:srgbClr val="AFABAB"/>
    <a:srgbClr val="C35F63"/>
    <a:srgbClr val="DFD5D5"/>
    <a:srgbClr val="F2736F"/>
    <a:srgbClr val="0FAB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73" autoAdjust="0"/>
    <p:restoredTop sz="87344" autoAdjust="0"/>
  </p:normalViewPr>
  <p:slideViewPr>
    <p:cSldViewPr snapToGrid="0" snapToObjects="1" showGuides="1">
      <p:cViewPr varScale="1">
        <p:scale>
          <a:sx n="111" d="100"/>
          <a:sy n="111" d="100"/>
        </p:scale>
        <p:origin x="444" y="102"/>
      </p:cViewPr>
      <p:guideLst>
        <p:guide orient="horz" pos="2445"/>
        <p:guide pos="3860"/>
        <p:guide orient="horz" pos="107"/>
        <p:guide pos="75"/>
        <p:guide pos="7556"/>
        <p:guide orient="horz" pos="492"/>
        <p:guide orient="horz" pos="4088"/>
        <p:guide pos="5308"/>
        <p:guide orient="horz" pos="2834"/>
        <p:guide pos="2059"/>
      </p:guideLst>
    </p:cSldViewPr>
  </p:slideViewPr>
  <p:notesTextViewPr>
    <p:cViewPr>
      <p:scale>
        <a:sx n="80" d="100"/>
        <a:sy n="8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1675814-F93D-49AF-BE9D-D9E10357E89C}" type="doc">
      <dgm:prSet loTypeId="urn:microsoft.com/office/officeart/2005/8/layout/cycle5" loCatId="cycle" qsTypeId="urn:microsoft.com/office/officeart/2005/8/quickstyle/simple1#1" qsCatId="simple" csTypeId="urn:microsoft.com/office/officeart/2005/8/colors/accent2_2#1" csCatId="accent1" phldr="0"/>
      <dgm:spPr/>
      <dgm:t>
        <a:bodyPr/>
        <a:lstStyle/>
        <a:p>
          <a:endParaRPr lang="zh-CN" altLang="en-US"/>
        </a:p>
      </dgm:t>
    </dgm:pt>
    <dgm:pt modelId="{E60DDDCA-C44A-4557-B5CE-3C17A5323551}">
      <dgm:prSet phldr="0" custT="0"/>
      <dgm:spPr/>
      <dgm:t>
        <a:bodyPr vert="horz" wrap="square"/>
        <a:lstStyle/>
        <a:p>
          <a:pPr>
            <a:lnSpc>
              <a:spcPct val="100000"/>
            </a:lnSpc>
            <a:spcBef>
              <a:spcPct val="0"/>
            </a:spcBef>
            <a:spcAft>
              <a:spcPct val="35000"/>
            </a:spcAft>
          </a:pPr>
          <a:r>
            <a:rPr lang="zh-CN"/>
            <a:t>语料标注</a:t>
          </a:r>
        </a:p>
      </dgm:t>
    </dgm:pt>
    <dgm:pt modelId="{505A278A-C9D6-4F98-AF10-1BF5749F4C78}" type="parTrans" cxnId="{F0704007-47D3-4A17-B58F-4EDBC02EDBBB}">
      <dgm:prSet/>
      <dgm:spPr/>
      <dgm:t>
        <a:bodyPr/>
        <a:lstStyle/>
        <a:p>
          <a:endParaRPr lang="zh-CN" altLang="en-US"/>
        </a:p>
      </dgm:t>
    </dgm:pt>
    <dgm:pt modelId="{3F3C211D-73AC-4AF1-A989-3687176B09AB}" type="sibTrans" cxnId="{F0704007-47D3-4A17-B58F-4EDBC02EDBBB}">
      <dgm:prSet/>
      <dgm:spPr/>
      <dgm:t>
        <a:bodyPr/>
        <a:lstStyle/>
        <a:p>
          <a:endParaRPr lang="zh-CN" altLang="en-US"/>
        </a:p>
      </dgm:t>
    </dgm:pt>
    <dgm:pt modelId="{19128D80-C668-4E2D-ADE5-4D8C214258F7}">
      <dgm:prSet phldrT="[文本]" phldr="0" custT="1"/>
      <dgm:spPr/>
      <dgm:t>
        <a:bodyPr vert="horz" wrap="square"/>
        <a:lstStyle/>
        <a:p>
          <a:pPr>
            <a:lnSpc>
              <a:spcPct val="100000"/>
            </a:lnSpc>
            <a:spcBef>
              <a:spcPct val="0"/>
            </a:spcBef>
            <a:spcAft>
              <a:spcPct val="35000"/>
            </a:spcAft>
          </a:pPr>
          <a:r>
            <a:rPr lang="zh-CN" altLang="en-US" sz="1000">
              <a:latin typeface="微软雅黑" panose="020B0503020204020204" charset="-122"/>
              <a:ea typeface="微软雅黑" panose="020B0503020204020204" charset="-122"/>
            </a:rPr>
            <a:t>数据质检</a:t>
          </a:r>
        </a:p>
      </dgm:t>
    </dgm:pt>
    <dgm:pt modelId="{DE0F27FA-73BB-4EA4-9778-8D9EBA925AF5}" type="parTrans" cxnId="{B26D7E33-6613-4C4D-8634-9EAE24ACC1F9}">
      <dgm:prSet/>
      <dgm:spPr/>
      <dgm:t>
        <a:bodyPr/>
        <a:lstStyle/>
        <a:p>
          <a:endParaRPr lang="zh-CN" altLang="en-US"/>
        </a:p>
      </dgm:t>
    </dgm:pt>
    <dgm:pt modelId="{86A670AC-FF76-4079-9596-4A9A0BA8F624}" type="sibTrans" cxnId="{B26D7E33-6613-4C4D-8634-9EAE24ACC1F9}">
      <dgm:prSet/>
      <dgm:spPr/>
      <dgm:t>
        <a:bodyPr/>
        <a:lstStyle/>
        <a:p>
          <a:endParaRPr lang="zh-CN" altLang="en-US"/>
        </a:p>
      </dgm:t>
    </dgm:pt>
    <dgm:pt modelId="{FB525A3D-67C1-409F-B27A-CD75D02395B7}">
      <dgm:prSet phldrT="[文本]" phldr="0" custT="0"/>
      <dgm:spPr/>
      <dgm:t>
        <a:bodyPr vert="horz" wrap="square"/>
        <a:lstStyle/>
        <a:p>
          <a:pPr>
            <a:lnSpc>
              <a:spcPct val="100000"/>
            </a:lnSpc>
            <a:spcBef>
              <a:spcPct val="0"/>
            </a:spcBef>
            <a:spcAft>
              <a:spcPct val="35000"/>
            </a:spcAft>
          </a:pPr>
          <a:r>
            <a:rPr lang="zh-CN" altLang="en-US"/>
            <a:t>数据测试</a:t>
          </a:r>
        </a:p>
      </dgm:t>
    </dgm:pt>
    <dgm:pt modelId="{660A7B3A-2EEC-4431-855B-9AC956FBBA1C}" type="parTrans" cxnId="{45D292A9-BD2C-4115-B9C0-327A5256E0D7}">
      <dgm:prSet/>
      <dgm:spPr/>
      <dgm:t>
        <a:bodyPr/>
        <a:lstStyle/>
        <a:p>
          <a:endParaRPr lang="zh-CN" altLang="en-US"/>
        </a:p>
      </dgm:t>
    </dgm:pt>
    <dgm:pt modelId="{1AB63EA3-9EE1-467A-9AED-AA4865BC6583}" type="sibTrans" cxnId="{45D292A9-BD2C-4115-B9C0-327A5256E0D7}">
      <dgm:prSet/>
      <dgm:spPr/>
      <dgm:t>
        <a:bodyPr/>
        <a:lstStyle/>
        <a:p>
          <a:endParaRPr lang="zh-CN" altLang="en-US"/>
        </a:p>
      </dgm:t>
    </dgm:pt>
    <dgm:pt modelId="{EE1B1B8E-DEE5-4FD1-B749-CB4814574F41}">
      <dgm:prSet phldrT="[文本]" phldr="0" custT="0"/>
      <dgm:spPr/>
      <dgm:t>
        <a:bodyPr vert="horz" wrap="square"/>
        <a:lstStyle/>
        <a:p>
          <a:pPr>
            <a:lnSpc>
              <a:spcPct val="100000"/>
            </a:lnSpc>
            <a:spcBef>
              <a:spcPct val="0"/>
            </a:spcBef>
            <a:spcAft>
              <a:spcPct val="35000"/>
            </a:spcAft>
          </a:pPr>
          <a:r>
            <a:rPr lang="zh-CN" altLang="en-US">
              <a:latin typeface="微软雅黑" panose="020B0503020204020204" charset="-122"/>
              <a:ea typeface="微软雅黑" panose="020B0503020204020204" charset="-122"/>
            </a:rPr>
            <a:t>模型训练</a:t>
          </a:r>
        </a:p>
      </dgm:t>
    </dgm:pt>
    <dgm:pt modelId="{1BAC8C82-524D-4513-A1AC-09A55CE1C974}" type="parTrans" cxnId="{FFE86D65-D4FC-41EC-BC64-688E13EBA253}">
      <dgm:prSet/>
      <dgm:spPr/>
      <dgm:t>
        <a:bodyPr/>
        <a:lstStyle/>
        <a:p>
          <a:endParaRPr lang="zh-CN" altLang="en-US"/>
        </a:p>
      </dgm:t>
    </dgm:pt>
    <dgm:pt modelId="{10B193D5-E874-4D7F-9CA6-82825E87DC0E}" type="sibTrans" cxnId="{FFE86D65-D4FC-41EC-BC64-688E13EBA253}">
      <dgm:prSet/>
      <dgm:spPr/>
      <dgm:t>
        <a:bodyPr/>
        <a:lstStyle/>
        <a:p>
          <a:endParaRPr lang="zh-CN" altLang="en-US"/>
        </a:p>
      </dgm:t>
    </dgm:pt>
    <dgm:pt modelId="{49AFFE84-C0D6-4DE5-8A1B-BD56866F9594}">
      <dgm:prSet phldrT="[文本]" phldr="0" custT="0"/>
      <dgm:spPr/>
      <dgm:t>
        <a:bodyPr vert="horz" wrap="square"/>
        <a:lstStyle/>
        <a:p>
          <a:pPr>
            <a:lnSpc>
              <a:spcPct val="100000"/>
            </a:lnSpc>
            <a:spcBef>
              <a:spcPct val="0"/>
            </a:spcBef>
            <a:spcAft>
              <a:spcPct val="35000"/>
            </a:spcAft>
          </a:pPr>
          <a:r>
            <a:rPr lang="zh-CN" altLang="en-US"/>
            <a:t>语料调优</a:t>
          </a:r>
        </a:p>
      </dgm:t>
    </dgm:pt>
    <dgm:pt modelId="{3C9FBC6B-50ED-4757-8C5B-89419165D5AF}" type="parTrans" cxnId="{4AA0B458-5230-4A2D-9408-689215834C13}">
      <dgm:prSet/>
      <dgm:spPr/>
      <dgm:t>
        <a:bodyPr/>
        <a:lstStyle/>
        <a:p>
          <a:endParaRPr lang="zh-CN" altLang="en-US"/>
        </a:p>
      </dgm:t>
    </dgm:pt>
    <dgm:pt modelId="{ADF435FD-1EEC-4111-B0E5-FE82C78372EF}" type="sibTrans" cxnId="{4AA0B458-5230-4A2D-9408-689215834C13}">
      <dgm:prSet/>
      <dgm:spPr/>
      <dgm:t>
        <a:bodyPr/>
        <a:lstStyle/>
        <a:p>
          <a:endParaRPr lang="zh-CN" altLang="en-US"/>
        </a:p>
      </dgm:t>
    </dgm:pt>
    <dgm:pt modelId="{E299F886-F3C6-4B7F-9B19-C1F7C677B246}">
      <dgm:prSet phldr="0" custT="0"/>
      <dgm:spPr/>
      <dgm:t>
        <a:bodyPr vert="horz" wrap="square"/>
        <a:lstStyle/>
        <a:p>
          <a:pPr>
            <a:lnSpc>
              <a:spcPct val="100000"/>
            </a:lnSpc>
            <a:spcBef>
              <a:spcPct val="0"/>
            </a:spcBef>
            <a:spcAft>
              <a:spcPct val="35000"/>
            </a:spcAft>
          </a:pPr>
          <a:r>
            <a:rPr lang="zh-CN"/>
            <a:t>确定范围</a:t>
          </a:r>
        </a:p>
      </dgm:t>
    </dgm:pt>
    <dgm:pt modelId="{56C41551-3B14-4BBF-9A6F-9F17C02C6E3A}" type="parTrans" cxnId="{9968A9E5-842F-4A3D-873E-8F96EB0150C6}">
      <dgm:prSet/>
      <dgm:spPr/>
      <dgm:t>
        <a:bodyPr/>
        <a:lstStyle/>
        <a:p>
          <a:endParaRPr lang="zh-CN" altLang="en-US"/>
        </a:p>
      </dgm:t>
    </dgm:pt>
    <dgm:pt modelId="{614C9DB2-45CF-4F43-A6CF-EC5A2C6690F8}" type="sibTrans" cxnId="{9968A9E5-842F-4A3D-873E-8F96EB0150C6}">
      <dgm:prSet/>
      <dgm:spPr/>
      <dgm:t>
        <a:bodyPr/>
        <a:lstStyle/>
        <a:p>
          <a:endParaRPr lang="zh-CN" altLang="en-US"/>
        </a:p>
      </dgm:t>
    </dgm:pt>
    <dgm:pt modelId="{19218FDC-B00F-4BB9-A0D7-A816B0A24887}">
      <dgm:prSet phldrT="[文本]" phldr="0" custT="0"/>
      <dgm:spPr/>
      <dgm:t>
        <a:bodyPr vert="horz" wrap="square"/>
        <a:lstStyle/>
        <a:p>
          <a:pPr>
            <a:lnSpc>
              <a:spcPct val="100000"/>
            </a:lnSpc>
            <a:spcBef>
              <a:spcPct val="0"/>
            </a:spcBef>
            <a:spcAft>
              <a:spcPct val="35000"/>
            </a:spcAft>
          </a:pPr>
          <a:r>
            <a:rPr lang="zh-CN" altLang="en-US"/>
            <a:t>语料搜集</a:t>
          </a:r>
        </a:p>
      </dgm:t>
    </dgm:pt>
    <dgm:pt modelId="{372FFAD0-285E-433E-8567-06E0DDFA82F0}" type="parTrans" cxnId="{9F70F5C6-8DF2-4C76-A5DA-5DFCC0476F5C}">
      <dgm:prSet/>
      <dgm:spPr/>
      <dgm:t>
        <a:bodyPr/>
        <a:lstStyle/>
        <a:p>
          <a:endParaRPr lang="zh-CN" altLang="en-US"/>
        </a:p>
      </dgm:t>
    </dgm:pt>
    <dgm:pt modelId="{C51FBF8F-5459-4C3F-AA37-75120837A52D}" type="sibTrans" cxnId="{9F70F5C6-8DF2-4C76-A5DA-5DFCC0476F5C}">
      <dgm:prSet/>
      <dgm:spPr/>
      <dgm:t>
        <a:bodyPr/>
        <a:lstStyle/>
        <a:p>
          <a:endParaRPr lang="zh-CN" altLang="en-US"/>
        </a:p>
      </dgm:t>
    </dgm:pt>
    <dgm:pt modelId="{8F483899-E69D-49E9-AFAD-248DEA394C36}" type="pres">
      <dgm:prSet presAssocID="{61675814-F93D-49AF-BE9D-D9E10357E89C}" presName="cycle" presStyleCnt="0">
        <dgm:presLayoutVars>
          <dgm:dir/>
          <dgm:resizeHandles val="exact"/>
        </dgm:presLayoutVars>
      </dgm:prSet>
      <dgm:spPr/>
    </dgm:pt>
    <dgm:pt modelId="{BE001FBD-BB48-4BE4-A155-61FC3F799CFE}" type="pres">
      <dgm:prSet presAssocID="{E60DDDCA-C44A-4557-B5CE-3C17A5323551}" presName="node" presStyleLbl="node1" presStyleIdx="0" presStyleCnt="7">
        <dgm:presLayoutVars>
          <dgm:bulletEnabled val="1"/>
        </dgm:presLayoutVars>
      </dgm:prSet>
      <dgm:spPr/>
    </dgm:pt>
    <dgm:pt modelId="{9C4E1F13-6A78-484A-9474-F8C0FAD7153B}" type="pres">
      <dgm:prSet presAssocID="{E60DDDCA-C44A-4557-B5CE-3C17A5323551}" presName="spNode" presStyleCnt="0"/>
      <dgm:spPr/>
    </dgm:pt>
    <dgm:pt modelId="{63F5EDC7-C016-45FE-B022-AB6159B87AD4}" type="pres">
      <dgm:prSet presAssocID="{3F3C211D-73AC-4AF1-A989-3687176B09AB}" presName="sibTrans" presStyleLbl="sibTrans1D1" presStyleIdx="0" presStyleCnt="7"/>
      <dgm:spPr/>
    </dgm:pt>
    <dgm:pt modelId="{0C7D36D6-1AA8-4919-A9DE-300F574FC64F}" type="pres">
      <dgm:prSet presAssocID="{19128D80-C668-4E2D-ADE5-4D8C214258F7}" presName="node" presStyleLbl="node1" presStyleIdx="1" presStyleCnt="7">
        <dgm:presLayoutVars>
          <dgm:bulletEnabled val="1"/>
        </dgm:presLayoutVars>
      </dgm:prSet>
      <dgm:spPr/>
    </dgm:pt>
    <dgm:pt modelId="{58F22B57-56EB-4243-8851-A6A77508F8BD}" type="pres">
      <dgm:prSet presAssocID="{19128D80-C668-4E2D-ADE5-4D8C214258F7}" presName="spNode" presStyleCnt="0"/>
      <dgm:spPr/>
    </dgm:pt>
    <dgm:pt modelId="{B26405B1-C8B6-441C-A596-CEB708F554F8}" type="pres">
      <dgm:prSet presAssocID="{86A670AC-FF76-4079-9596-4A9A0BA8F624}" presName="sibTrans" presStyleLbl="sibTrans1D1" presStyleIdx="1" presStyleCnt="7"/>
      <dgm:spPr/>
    </dgm:pt>
    <dgm:pt modelId="{0901F604-F9EC-4D76-A6ED-BA32352C5A98}" type="pres">
      <dgm:prSet presAssocID="{FB525A3D-67C1-409F-B27A-CD75D02395B7}" presName="node" presStyleLbl="node1" presStyleIdx="2" presStyleCnt="7">
        <dgm:presLayoutVars>
          <dgm:bulletEnabled val="1"/>
        </dgm:presLayoutVars>
      </dgm:prSet>
      <dgm:spPr/>
    </dgm:pt>
    <dgm:pt modelId="{4E4C2EC6-DF0C-4115-81BC-B86C27D576E6}" type="pres">
      <dgm:prSet presAssocID="{FB525A3D-67C1-409F-B27A-CD75D02395B7}" presName="spNode" presStyleCnt="0"/>
      <dgm:spPr/>
    </dgm:pt>
    <dgm:pt modelId="{5B35789F-BCCE-4841-A4C6-2EA3CF032314}" type="pres">
      <dgm:prSet presAssocID="{1AB63EA3-9EE1-467A-9AED-AA4865BC6583}" presName="sibTrans" presStyleLbl="sibTrans1D1" presStyleIdx="2" presStyleCnt="7"/>
      <dgm:spPr/>
    </dgm:pt>
    <dgm:pt modelId="{9FF9719A-5B20-43F5-A219-1ADBC30214AD}" type="pres">
      <dgm:prSet presAssocID="{EE1B1B8E-DEE5-4FD1-B749-CB4814574F41}" presName="node" presStyleLbl="node1" presStyleIdx="3" presStyleCnt="7">
        <dgm:presLayoutVars>
          <dgm:bulletEnabled val="1"/>
        </dgm:presLayoutVars>
      </dgm:prSet>
      <dgm:spPr/>
    </dgm:pt>
    <dgm:pt modelId="{933AA802-040A-4E70-BCF0-622F53BD9066}" type="pres">
      <dgm:prSet presAssocID="{EE1B1B8E-DEE5-4FD1-B749-CB4814574F41}" presName="spNode" presStyleCnt="0"/>
      <dgm:spPr/>
    </dgm:pt>
    <dgm:pt modelId="{E94B8C4B-C366-48BF-8697-8C04F1C25124}" type="pres">
      <dgm:prSet presAssocID="{10B193D5-E874-4D7F-9CA6-82825E87DC0E}" presName="sibTrans" presStyleLbl="sibTrans1D1" presStyleIdx="3" presStyleCnt="7"/>
      <dgm:spPr/>
    </dgm:pt>
    <dgm:pt modelId="{D3EADAB4-143F-49B5-8573-A79F4FA79E2C}" type="pres">
      <dgm:prSet presAssocID="{49AFFE84-C0D6-4DE5-8A1B-BD56866F9594}" presName="node" presStyleLbl="node1" presStyleIdx="4" presStyleCnt="7">
        <dgm:presLayoutVars>
          <dgm:bulletEnabled val="1"/>
        </dgm:presLayoutVars>
      </dgm:prSet>
      <dgm:spPr/>
    </dgm:pt>
    <dgm:pt modelId="{BCBF9FA4-7A1B-460F-AE30-22FC02697592}" type="pres">
      <dgm:prSet presAssocID="{49AFFE84-C0D6-4DE5-8A1B-BD56866F9594}" presName="spNode" presStyleCnt="0"/>
      <dgm:spPr/>
    </dgm:pt>
    <dgm:pt modelId="{D2FB9AAA-02FE-4314-A268-2F3D8E512C5C}" type="pres">
      <dgm:prSet presAssocID="{ADF435FD-1EEC-4111-B0E5-FE82C78372EF}" presName="sibTrans" presStyleLbl="sibTrans1D1" presStyleIdx="4" presStyleCnt="7"/>
      <dgm:spPr/>
    </dgm:pt>
    <dgm:pt modelId="{78C0B403-8A5C-463E-967A-B1759CDA7E30}" type="pres">
      <dgm:prSet presAssocID="{E299F886-F3C6-4B7F-9B19-C1F7C677B246}" presName="node" presStyleLbl="node1" presStyleIdx="5" presStyleCnt="7">
        <dgm:presLayoutVars>
          <dgm:bulletEnabled val="1"/>
        </dgm:presLayoutVars>
      </dgm:prSet>
      <dgm:spPr/>
    </dgm:pt>
    <dgm:pt modelId="{216D5D12-CCC0-413B-A4D2-D09E660F040B}" type="pres">
      <dgm:prSet presAssocID="{E299F886-F3C6-4B7F-9B19-C1F7C677B246}" presName="spNode" presStyleCnt="0"/>
      <dgm:spPr/>
    </dgm:pt>
    <dgm:pt modelId="{3B8774C1-FA86-4505-BACD-E3D453063CDF}" type="pres">
      <dgm:prSet presAssocID="{614C9DB2-45CF-4F43-A6CF-EC5A2C6690F8}" presName="sibTrans" presStyleLbl="sibTrans1D1" presStyleIdx="5" presStyleCnt="7"/>
      <dgm:spPr/>
    </dgm:pt>
    <dgm:pt modelId="{1BF2D754-8785-43BB-B33B-E8E13EA73F30}" type="pres">
      <dgm:prSet presAssocID="{19218FDC-B00F-4BB9-A0D7-A816B0A24887}" presName="node" presStyleLbl="node1" presStyleIdx="6" presStyleCnt="7">
        <dgm:presLayoutVars>
          <dgm:bulletEnabled val="1"/>
        </dgm:presLayoutVars>
      </dgm:prSet>
      <dgm:spPr/>
    </dgm:pt>
    <dgm:pt modelId="{EB9B5FEF-A577-4F93-AF7E-A5B8942027E5}" type="pres">
      <dgm:prSet presAssocID="{19218FDC-B00F-4BB9-A0D7-A816B0A24887}" presName="spNode" presStyleCnt="0"/>
      <dgm:spPr/>
    </dgm:pt>
    <dgm:pt modelId="{45BBA764-932B-4A31-9891-7437D938FD2C}" type="pres">
      <dgm:prSet presAssocID="{C51FBF8F-5459-4C3F-AA37-75120837A52D}" presName="sibTrans" presStyleLbl="sibTrans1D1" presStyleIdx="6" presStyleCnt="7"/>
      <dgm:spPr/>
    </dgm:pt>
  </dgm:ptLst>
  <dgm:cxnLst>
    <dgm:cxn modelId="{F0704007-47D3-4A17-B58F-4EDBC02EDBBB}" srcId="{61675814-F93D-49AF-BE9D-D9E10357E89C}" destId="{E60DDDCA-C44A-4557-B5CE-3C17A5323551}" srcOrd="0" destOrd="0" parTransId="{505A278A-C9D6-4F98-AF10-1BF5749F4C78}" sibTransId="{3F3C211D-73AC-4AF1-A989-3687176B09AB}"/>
    <dgm:cxn modelId="{4462790C-B749-405A-8EA8-8BC56495C2FB}" type="presOf" srcId="{FB525A3D-67C1-409F-B27A-CD75D02395B7}" destId="{0901F604-F9EC-4D76-A6ED-BA32352C5A98}" srcOrd="0" destOrd="0" presId="urn:microsoft.com/office/officeart/2005/8/layout/cycle5"/>
    <dgm:cxn modelId="{1C5CC827-4E50-4505-B191-24A3CD2D45BB}" type="presOf" srcId="{C51FBF8F-5459-4C3F-AA37-75120837A52D}" destId="{45BBA764-932B-4A31-9891-7437D938FD2C}" srcOrd="0" destOrd="0" presId="urn:microsoft.com/office/officeart/2005/8/layout/cycle5"/>
    <dgm:cxn modelId="{2FFB9528-5F67-49F1-BE35-BAA878823B96}" type="presOf" srcId="{19218FDC-B00F-4BB9-A0D7-A816B0A24887}" destId="{1BF2D754-8785-43BB-B33B-E8E13EA73F30}" srcOrd="0" destOrd="0" presId="urn:microsoft.com/office/officeart/2005/8/layout/cycle5"/>
    <dgm:cxn modelId="{5F0CB92A-3776-42F2-88D4-51DE38182561}" type="presOf" srcId="{3F3C211D-73AC-4AF1-A989-3687176B09AB}" destId="{63F5EDC7-C016-45FE-B022-AB6159B87AD4}" srcOrd="0" destOrd="0" presId="urn:microsoft.com/office/officeart/2005/8/layout/cycle5"/>
    <dgm:cxn modelId="{94AD322B-B3A0-4504-866B-012A9FD8ABF7}" type="presOf" srcId="{19128D80-C668-4E2D-ADE5-4D8C214258F7}" destId="{0C7D36D6-1AA8-4919-A9DE-300F574FC64F}" srcOrd="0" destOrd="0" presId="urn:microsoft.com/office/officeart/2005/8/layout/cycle5"/>
    <dgm:cxn modelId="{B26D7E33-6613-4C4D-8634-9EAE24ACC1F9}" srcId="{61675814-F93D-49AF-BE9D-D9E10357E89C}" destId="{19128D80-C668-4E2D-ADE5-4D8C214258F7}" srcOrd="1" destOrd="0" parTransId="{DE0F27FA-73BB-4EA4-9778-8D9EBA925AF5}" sibTransId="{86A670AC-FF76-4079-9596-4A9A0BA8F624}"/>
    <dgm:cxn modelId="{B8354E3D-0699-4FEC-92C2-0CCE55062144}" type="presOf" srcId="{E299F886-F3C6-4B7F-9B19-C1F7C677B246}" destId="{78C0B403-8A5C-463E-967A-B1759CDA7E30}" srcOrd="0" destOrd="0" presId="urn:microsoft.com/office/officeart/2005/8/layout/cycle5"/>
    <dgm:cxn modelId="{FFE86D65-D4FC-41EC-BC64-688E13EBA253}" srcId="{61675814-F93D-49AF-BE9D-D9E10357E89C}" destId="{EE1B1B8E-DEE5-4FD1-B749-CB4814574F41}" srcOrd="3" destOrd="0" parTransId="{1BAC8C82-524D-4513-A1AC-09A55CE1C974}" sibTransId="{10B193D5-E874-4D7F-9CA6-82825E87DC0E}"/>
    <dgm:cxn modelId="{4AA0B458-5230-4A2D-9408-689215834C13}" srcId="{61675814-F93D-49AF-BE9D-D9E10357E89C}" destId="{49AFFE84-C0D6-4DE5-8A1B-BD56866F9594}" srcOrd="4" destOrd="0" parTransId="{3C9FBC6B-50ED-4757-8C5B-89419165D5AF}" sibTransId="{ADF435FD-1EEC-4111-B0E5-FE82C78372EF}"/>
    <dgm:cxn modelId="{5B9C54A3-DE68-43DC-A956-7F215025E828}" type="presOf" srcId="{49AFFE84-C0D6-4DE5-8A1B-BD56866F9594}" destId="{D3EADAB4-143F-49B5-8573-A79F4FA79E2C}" srcOrd="0" destOrd="0" presId="urn:microsoft.com/office/officeart/2005/8/layout/cycle5"/>
    <dgm:cxn modelId="{45D292A9-BD2C-4115-B9C0-327A5256E0D7}" srcId="{61675814-F93D-49AF-BE9D-D9E10357E89C}" destId="{FB525A3D-67C1-409F-B27A-CD75D02395B7}" srcOrd="2" destOrd="0" parTransId="{660A7B3A-2EEC-4431-855B-9AC956FBBA1C}" sibTransId="{1AB63EA3-9EE1-467A-9AED-AA4865BC6583}"/>
    <dgm:cxn modelId="{600F63AF-ABBC-46C9-925A-36D2B9732C91}" type="presOf" srcId="{EE1B1B8E-DEE5-4FD1-B749-CB4814574F41}" destId="{9FF9719A-5B20-43F5-A219-1ADBC30214AD}" srcOrd="0" destOrd="0" presId="urn:microsoft.com/office/officeart/2005/8/layout/cycle5"/>
    <dgm:cxn modelId="{D6CE16B5-F38C-4EE2-A457-CDC601683959}" type="presOf" srcId="{1AB63EA3-9EE1-467A-9AED-AA4865BC6583}" destId="{5B35789F-BCCE-4841-A4C6-2EA3CF032314}" srcOrd="0" destOrd="0" presId="urn:microsoft.com/office/officeart/2005/8/layout/cycle5"/>
    <dgm:cxn modelId="{307A5BBE-2D22-453E-9708-4CE91BDC3217}" type="presOf" srcId="{614C9DB2-45CF-4F43-A6CF-EC5A2C6690F8}" destId="{3B8774C1-FA86-4505-BACD-E3D453063CDF}" srcOrd="0" destOrd="0" presId="urn:microsoft.com/office/officeart/2005/8/layout/cycle5"/>
    <dgm:cxn modelId="{9F70F5C6-8DF2-4C76-A5DA-5DFCC0476F5C}" srcId="{61675814-F93D-49AF-BE9D-D9E10357E89C}" destId="{19218FDC-B00F-4BB9-A0D7-A816B0A24887}" srcOrd="6" destOrd="0" parTransId="{372FFAD0-285E-433E-8567-06E0DDFA82F0}" sibTransId="{C51FBF8F-5459-4C3F-AA37-75120837A52D}"/>
    <dgm:cxn modelId="{4B77F8CB-3855-4AD4-9840-74E678912877}" type="presOf" srcId="{86A670AC-FF76-4079-9596-4A9A0BA8F624}" destId="{B26405B1-C8B6-441C-A596-CEB708F554F8}" srcOrd="0" destOrd="0" presId="urn:microsoft.com/office/officeart/2005/8/layout/cycle5"/>
    <dgm:cxn modelId="{FF1469D0-0E9E-47A4-AA12-F852EC61B634}" type="presOf" srcId="{61675814-F93D-49AF-BE9D-D9E10357E89C}" destId="{8F483899-E69D-49E9-AFAD-248DEA394C36}" srcOrd="0" destOrd="0" presId="urn:microsoft.com/office/officeart/2005/8/layout/cycle5"/>
    <dgm:cxn modelId="{30D2B9D4-8767-4817-A522-98E8CCE1C13E}" type="presOf" srcId="{E60DDDCA-C44A-4557-B5CE-3C17A5323551}" destId="{BE001FBD-BB48-4BE4-A155-61FC3F799CFE}" srcOrd="0" destOrd="0" presId="urn:microsoft.com/office/officeart/2005/8/layout/cycle5"/>
    <dgm:cxn modelId="{13F504D7-9BEA-4448-AF9D-8DB29F2BFF66}" type="presOf" srcId="{ADF435FD-1EEC-4111-B0E5-FE82C78372EF}" destId="{D2FB9AAA-02FE-4314-A268-2F3D8E512C5C}" srcOrd="0" destOrd="0" presId="urn:microsoft.com/office/officeart/2005/8/layout/cycle5"/>
    <dgm:cxn modelId="{9968A9E5-842F-4A3D-873E-8F96EB0150C6}" srcId="{61675814-F93D-49AF-BE9D-D9E10357E89C}" destId="{E299F886-F3C6-4B7F-9B19-C1F7C677B246}" srcOrd="5" destOrd="0" parTransId="{56C41551-3B14-4BBF-9A6F-9F17C02C6E3A}" sibTransId="{614C9DB2-45CF-4F43-A6CF-EC5A2C6690F8}"/>
    <dgm:cxn modelId="{2026ACFA-682F-40E3-A25F-16DE9D97EACD}" type="presOf" srcId="{10B193D5-E874-4D7F-9CA6-82825E87DC0E}" destId="{E94B8C4B-C366-48BF-8697-8C04F1C25124}" srcOrd="0" destOrd="0" presId="urn:microsoft.com/office/officeart/2005/8/layout/cycle5"/>
    <dgm:cxn modelId="{6AA79A59-0332-4C70-BA70-4B786F5E37A3}" type="presParOf" srcId="{8F483899-E69D-49E9-AFAD-248DEA394C36}" destId="{BE001FBD-BB48-4BE4-A155-61FC3F799CFE}" srcOrd="0" destOrd="0" presId="urn:microsoft.com/office/officeart/2005/8/layout/cycle5"/>
    <dgm:cxn modelId="{357BEB36-156D-4F8B-A559-D2D69785C18D}" type="presParOf" srcId="{8F483899-E69D-49E9-AFAD-248DEA394C36}" destId="{9C4E1F13-6A78-484A-9474-F8C0FAD7153B}" srcOrd="1" destOrd="0" presId="urn:microsoft.com/office/officeart/2005/8/layout/cycle5"/>
    <dgm:cxn modelId="{35E78C7D-F2EC-4F3B-8170-EF64CA59BCC9}" type="presParOf" srcId="{8F483899-E69D-49E9-AFAD-248DEA394C36}" destId="{63F5EDC7-C016-45FE-B022-AB6159B87AD4}" srcOrd="2" destOrd="0" presId="urn:microsoft.com/office/officeart/2005/8/layout/cycle5"/>
    <dgm:cxn modelId="{7F80B5D0-BE9B-484E-AC6B-5E41E5B3098F}" type="presParOf" srcId="{8F483899-E69D-49E9-AFAD-248DEA394C36}" destId="{0C7D36D6-1AA8-4919-A9DE-300F574FC64F}" srcOrd="3" destOrd="0" presId="urn:microsoft.com/office/officeart/2005/8/layout/cycle5"/>
    <dgm:cxn modelId="{7D9F52DE-BA49-4385-8CEB-C8F9BD2B0314}" type="presParOf" srcId="{8F483899-E69D-49E9-AFAD-248DEA394C36}" destId="{58F22B57-56EB-4243-8851-A6A77508F8BD}" srcOrd="4" destOrd="0" presId="urn:microsoft.com/office/officeart/2005/8/layout/cycle5"/>
    <dgm:cxn modelId="{7D25E3B0-2C7D-4BBC-9AEE-7FD6606C146F}" type="presParOf" srcId="{8F483899-E69D-49E9-AFAD-248DEA394C36}" destId="{B26405B1-C8B6-441C-A596-CEB708F554F8}" srcOrd="5" destOrd="0" presId="urn:microsoft.com/office/officeart/2005/8/layout/cycle5"/>
    <dgm:cxn modelId="{8538ADDA-EA4E-4D35-A9E7-512B14D335C4}" type="presParOf" srcId="{8F483899-E69D-49E9-AFAD-248DEA394C36}" destId="{0901F604-F9EC-4D76-A6ED-BA32352C5A98}" srcOrd="6" destOrd="0" presId="urn:microsoft.com/office/officeart/2005/8/layout/cycle5"/>
    <dgm:cxn modelId="{A0E89736-D4A8-4341-9734-C2A44E6A7237}" type="presParOf" srcId="{8F483899-E69D-49E9-AFAD-248DEA394C36}" destId="{4E4C2EC6-DF0C-4115-81BC-B86C27D576E6}" srcOrd="7" destOrd="0" presId="urn:microsoft.com/office/officeart/2005/8/layout/cycle5"/>
    <dgm:cxn modelId="{7DD74D50-CF3E-4A7C-9A63-D7A2A44106DE}" type="presParOf" srcId="{8F483899-E69D-49E9-AFAD-248DEA394C36}" destId="{5B35789F-BCCE-4841-A4C6-2EA3CF032314}" srcOrd="8" destOrd="0" presId="urn:microsoft.com/office/officeart/2005/8/layout/cycle5"/>
    <dgm:cxn modelId="{DC227BE7-37F4-4FC5-9751-1DEB9DDEC1EE}" type="presParOf" srcId="{8F483899-E69D-49E9-AFAD-248DEA394C36}" destId="{9FF9719A-5B20-43F5-A219-1ADBC30214AD}" srcOrd="9" destOrd="0" presId="urn:microsoft.com/office/officeart/2005/8/layout/cycle5"/>
    <dgm:cxn modelId="{A48A4B89-6EF8-4766-AD92-A04583F307F8}" type="presParOf" srcId="{8F483899-E69D-49E9-AFAD-248DEA394C36}" destId="{933AA802-040A-4E70-BCF0-622F53BD9066}" srcOrd="10" destOrd="0" presId="urn:microsoft.com/office/officeart/2005/8/layout/cycle5"/>
    <dgm:cxn modelId="{D252C8A3-AD83-489F-AC72-52BF34B8DBEF}" type="presParOf" srcId="{8F483899-E69D-49E9-AFAD-248DEA394C36}" destId="{E94B8C4B-C366-48BF-8697-8C04F1C25124}" srcOrd="11" destOrd="0" presId="urn:microsoft.com/office/officeart/2005/8/layout/cycle5"/>
    <dgm:cxn modelId="{309F349F-B053-4ABB-B69B-2EA9B90DD4D9}" type="presParOf" srcId="{8F483899-E69D-49E9-AFAD-248DEA394C36}" destId="{D3EADAB4-143F-49B5-8573-A79F4FA79E2C}" srcOrd="12" destOrd="0" presId="urn:microsoft.com/office/officeart/2005/8/layout/cycle5"/>
    <dgm:cxn modelId="{6BEF0427-170D-4EE8-84CD-87803611FE74}" type="presParOf" srcId="{8F483899-E69D-49E9-AFAD-248DEA394C36}" destId="{BCBF9FA4-7A1B-460F-AE30-22FC02697592}" srcOrd="13" destOrd="0" presId="urn:microsoft.com/office/officeart/2005/8/layout/cycle5"/>
    <dgm:cxn modelId="{4EEB4DCD-3BDA-456C-9C19-723AF2107C85}" type="presParOf" srcId="{8F483899-E69D-49E9-AFAD-248DEA394C36}" destId="{D2FB9AAA-02FE-4314-A268-2F3D8E512C5C}" srcOrd="14" destOrd="0" presId="urn:microsoft.com/office/officeart/2005/8/layout/cycle5"/>
    <dgm:cxn modelId="{0C0CE653-4167-4B1F-AB97-9124F6C7ECBF}" type="presParOf" srcId="{8F483899-E69D-49E9-AFAD-248DEA394C36}" destId="{78C0B403-8A5C-463E-967A-B1759CDA7E30}" srcOrd="15" destOrd="0" presId="urn:microsoft.com/office/officeart/2005/8/layout/cycle5"/>
    <dgm:cxn modelId="{624F389F-9220-4516-8496-4878CDF86C25}" type="presParOf" srcId="{8F483899-E69D-49E9-AFAD-248DEA394C36}" destId="{216D5D12-CCC0-413B-A4D2-D09E660F040B}" srcOrd="16" destOrd="0" presId="urn:microsoft.com/office/officeart/2005/8/layout/cycle5"/>
    <dgm:cxn modelId="{160E4A95-0C78-4779-B320-AC42D3792970}" type="presParOf" srcId="{8F483899-E69D-49E9-AFAD-248DEA394C36}" destId="{3B8774C1-FA86-4505-BACD-E3D453063CDF}" srcOrd="17" destOrd="0" presId="urn:microsoft.com/office/officeart/2005/8/layout/cycle5"/>
    <dgm:cxn modelId="{40EC9C0C-BDE4-434E-A441-AF4F56C9D980}" type="presParOf" srcId="{8F483899-E69D-49E9-AFAD-248DEA394C36}" destId="{1BF2D754-8785-43BB-B33B-E8E13EA73F30}" srcOrd="18" destOrd="0" presId="urn:microsoft.com/office/officeart/2005/8/layout/cycle5"/>
    <dgm:cxn modelId="{757F0A46-70A7-40E7-B96A-B88D41E2382C}" type="presParOf" srcId="{8F483899-E69D-49E9-AFAD-248DEA394C36}" destId="{EB9B5FEF-A577-4F93-AF7E-A5B8942027E5}" srcOrd="19" destOrd="0" presId="urn:microsoft.com/office/officeart/2005/8/layout/cycle5"/>
    <dgm:cxn modelId="{4B259108-84ED-4605-A9AB-13025A9D4767}" type="presParOf" srcId="{8F483899-E69D-49E9-AFAD-248DEA394C36}" destId="{45BBA764-932B-4A31-9891-7437D938FD2C}" srcOrd="20"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001FBD-BB48-4BE4-A155-61FC3F799CFE}">
      <dsp:nvSpPr>
        <dsp:cNvPr id="0" name=""/>
        <dsp:cNvSpPr/>
      </dsp:nvSpPr>
      <dsp:spPr bwMode="white">
        <a:xfrm>
          <a:off x="1233410" y="352834"/>
          <a:ext cx="680873" cy="44256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100000"/>
            </a:lnSpc>
            <a:spcBef>
              <a:spcPct val="0"/>
            </a:spcBef>
            <a:spcAft>
              <a:spcPct val="35000"/>
            </a:spcAft>
            <a:buNone/>
          </a:pPr>
          <a:r>
            <a:rPr lang="zh-CN" altLang="en-US" sz="1000" kern="1200"/>
            <a:t>语料标注</a:t>
          </a:r>
        </a:p>
      </dsp:txBody>
      <dsp:txXfrm>
        <a:off x="1255014" y="374438"/>
        <a:ext cx="637665" cy="399359"/>
      </dsp:txXfrm>
    </dsp:sp>
    <dsp:sp modelId="{63F5EDC7-C016-45FE-B022-AB6159B87AD4}">
      <dsp:nvSpPr>
        <dsp:cNvPr id="0" name=""/>
        <dsp:cNvSpPr/>
      </dsp:nvSpPr>
      <dsp:spPr>
        <a:xfrm>
          <a:off x="310255" y="574118"/>
          <a:ext cx="2527183" cy="2527183"/>
        </a:xfrm>
        <a:custGeom>
          <a:avLst/>
          <a:gdLst/>
          <a:ahLst/>
          <a:cxnLst/>
          <a:rect l="0" t="0" r="0" b="0"/>
          <a:pathLst>
            <a:path>
              <a:moveTo>
                <a:pt x="1693267" y="75297"/>
              </a:moveTo>
              <a:arcTo wR="1263591" hR="1263591" stAng="17392770" swAng="772376"/>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0C7D36D6-1AA8-4919-A9DE-300F574FC64F}">
      <dsp:nvSpPr>
        <dsp:cNvPr id="0" name=""/>
        <dsp:cNvSpPr/>
      </dsp:nvSpPr>
      <dsp:spPr bwMode="white">
        <a:xfrm>
          <a:off x="2221326" y="828589"/>
          <a:ext cx="680873" cy="44256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微软雅黑" panose="020B0503020204020204" charset="-122"/>
              <a:ea typeface="微软雅黑" panose="020B0503020204020204" charset="-122"/>
            </a:rPr>
            <a:t>数据质检</a:t>
          </a:r>
        </a:p>
      </dsp:txBody>
      <dsp:txXfrm>
        <a:off x="2242930" y="850193"/>
        <a:ext cx="637665" cy="399359"/>
      </dsp:txXfrm>
    </dsp:sp>
    <dsp:sp modelId="{B26405B1-C8B6-441C-A596-CEB708F554F8}">
      <dsp:nvSpPr>
        <dsp:cNvPr id="0" name=""/>
        <dsp:cNvSpPr/>
      </dsp:nvSpPr>
      <dsp:spPr>
        <a:xfrm>
          <a:off x="310255" y="574118"/>
          <a:ext cx="2527183" cy="2527183"/>
        </a:xfrm>
        <a:custGeom>
          <a:avLst/>
          <a:gdLst/>
          <a:ahLst/>
          <a:cxnLst/>
          <a:rect l="0" t="0" r="0" b="0"/>
          <a:pathLst>
            <a:path>
              <a:moveTo>
                <a:pt x="2444580" y="814225"/>
              </a:moveTo>
              <a:arcTo wR="1263591" hR="1263591" stAng="20350091" swAng="1064485"/>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0901F604-F9EC-4D76-A6ED-BA32352C5A98}">
      <dsp:nvSpPr>
        <dsp:cNvPr id="0" name=""/>
        <dsp:cNvSpPr/>
      </dsp:nvSpPr>
      <dsp:spPr bwMode="white">
        <a:xfrm>
          <a:off x="2465321" y="1897601"/>
          <a:ext cx="680873" cy="44256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100000"/>
            </a:lnSpc>
            <a:spcBef>
              <a:spcPct val="0"/>
            </a:spcBef>
            <a:spcAft>
              <a:spcPct val="35000"/>
            </a:spcAft>
            <a:buNone/>
          </a:pPr>
          <a:r>
            <a:rPr lang="zh-CN" altLang="en-US" sz="1000" kern="1200"/>
            <a:t>数据测试</a:t>
          </a:r>
        </a:p>
      </dsp:txBody>
      <dsp:txXfrm>
        <a:off x="2486925" y="1919205"/>
        <a:ext cx="637665" cy="399359"/>
      </dsp:txXfrm>
    </dsp:sp>
    <dsp:sp modelId="{5B35789F-BCCE-4841-A4C6-2EA3CF032314}">
      <dsp:nvSpPr>
        <dsp:cNvPr id="0" name=""/>
        <dsp:cNvSpPr/>
      </dsp:nvSpPr>
      <dsp:spPr>
        <a:xfrm>
          <a:off x="310255" y="574118"/>
          <a:ext cx="2527183" cy="2527183"/>
        </a:xfrm>
        <a:custGeom>
          <a:avLst/>
          <a:gdLst/>
          <a:ahLst/>
          <a:cxnLst/>
          <a:rect l="0" t="0" r="0" b="0"/>
          <a:pathLst>
            <a:path>
              <a:moveTo>
                <a:pt x="2379055" y="1857228"/>
              </a:moveTo>
              <a:arcTo wR="1263591" hR="1263591" stAng="1681282" swAng="835650"/>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9FF9719A-5B20-43F5-A219-1ADBC30214AD}">
      <dsp:nvSpPr>
        <dsp:cNvPr id="0" name=""/>
        <dsp:cNvSpPr/>
      </dsp:nvSpPr>
      <dsp:spPr bwMode="white">
        <a:xfrm>
          <a:off x="1781662" y="2754882"/>
          <a:ext cx="680873" cy="44256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微软雅黑" panose="020B0503020204020204" charset="-122"/>
              <a:ea typeface="微软雅黑" panose="020B0503020204020204" charset="-122"/>
            </a:rPr>
            <a:t>模型训练</a:t>
          </a:r>
        </a:p>
      </dsp:txBody>
      <dsp:txXfrm>
        <a:off x="1803266" y="2776486"/>
        <a:ext cx="637665" cy="399359"/>
      </dsp:txXfrm>
    </dsp:sp>
    <dsp:sp modelId="{E94B8C4B-C366-48BF-8697-8C04F1C25124}">
      <dsp:nvSpPr>
        <dsp:cNvPr id="0" name=""/>
        <dsp:cNvSpPr/>
      </dsp:nvSpPr>
      <dsp:spPr>
        <a:xfrm>
          <a:off x="310255" y="574118"/>
          <a:ext cx="2527183" cy="2527183"/>
        </a:xfrm>
        <a:custGeom>
          <a:avLst/>
          <a:gdLst/>
          <a:ahLst/>
          <a:cxnLst/>
          <a:rect l="0" t="0" r="0" b="0"/>
          <a:pathLst>
            <a:path>
              <a:moveTo>
                <a:pt x="1389022" y="2520942"/>
              </a:moveTo>
              <a:arcTo wR="1263591" hR="1263591" stAng="5058189" swAng="683623"/>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D3EADAB4-143F-49B5-8573-A79F4FA79E2C}">
      <dsp:nvSpPr>
        <dsp:cNvPr id="0" name=""/>
        <dsp:cNvSpPr/>
      </dsp:nvSpPr>
      <dsp:spPr bwMode="white">
        <a:xfrm>
          <a:off x="685158" y="2754882"/>
          <a:ext cx="680873" cy="44256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100000"/>
            </a:lnSpc>
            <a:spcBef>
              <a:spcPct val="0"/>
            </a:spcBef>
            <a:spcAft>
              <a:spcPct val="35000"/>
            </a:spcAft>
            <a:buNone/>
          </a:pPr>
          <a:r>
            <a:rPr lang="zh-CN" altLang="en-US" sz="1000" kern="1200"/>
            <a:t>语料调优</a:t>
          </a:r>
        </a:p>
      </dsp:txBody>
      <dsp:txXfrm>
        <a:off x="706762" y="2776486"/>
        <a:ext cx="637665" cy="399359"/>
      </dsp:txXfrm>
    </dsp:sp>
    <dsp:sp modelId="{D2FB9AAA-02FE-4314-A268-2F3D8E512C5C}">
      <dsp:nvSpPr>
        <dsp:cNvPr id="0" name=""/>
        <dsp:cNvSpPr/>
      </dsp:nvSpPr>
      <dsp:spPr>
        <a:xfrm>
          <a:off x="310255" y="574118"/>
          <a:ext cx="2527183" cy="2527183"/>
        </a:xfrm>
        <a:custGeom>
          <a:avLst/>
          <a:gdLst/>
          <a:ahLst/>
          <a:cxnLst/>
          <a:rect l="0" t="0" r="0" b="0"/>
          <a:pathLst>
            <a:path>
              <a:moveTo>
                <a:pt x="323805" y="2108261"/>
              </a:moveTo>
              <a:arcTo wR="1263591" hR="1263591" stAng="8283068" swAng="835650"/>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78C0B403-8A5C-463E-967A-B1759CDA7E30}">
      <dsp:nvSpPr>
        <dsp:cNvPr id="0" name=""/>
        <dsp:cNvSpPr/>
      </dsp:nvSpPr>
      <dsp:spPr bwMode="white">
        <a:xfrm>
          <a:off x="1499" y="1897601"/>
          <a:ext cx="680873" cy="44256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100000"/>
            </a:lnSpc>
            <a:spcBef>
              <a:spcPct val="0"/>
            </a:spcBef>
            <a:spcAft>
              <a:spcPct val="35000"/>
            </a:spcAft>
            <a:buNone/>
          </a:pPr>
          <a:r>
            <a:rPr lang="zh-CN" altLang="en-US" sz="1000" kern="1200"/>
            <a:t>确定范围</a:t>
          </a:r>
        </a:p>
      </dsp:txBody>
      <dsp:txXfrm>
        <a:off x="23103" y="1919205"/>
        <a:ext cx="637665" cy="399359"/>
      </dsp:txXfrm>
    </dsp:sp>
    <dsp:sp modelId="{3B8774C1-FA86-4505-BACD-E3D453063CDF}">
      <dsp:nvSpPr>
        <dsp:cNvPr id="0" name=""/>
        <dsp:cNvSpPr/>
      </dsp:nvSpPr>
      <dsp:spPr>
        <a:xfrm>
          <a:off x="310255" y="574118"/>
          <a:ext cx="2527183" cy="2527183"/>
        </a:xfrm>
        <a:custGeom>
          <a:avLst/>
          <a:gdLst/>
          <a:ahLst/>
          <a:cxnLst/>
          <a:rect l="0" t="0" r="0" b="0"/>
          <a:pathLst>
            <a:path>
              <a:moveTo>
                <a:pt x="1837" y="1195469"/>
              </a:moveTo>
              <a:arcTo wR="1263591" hR="1263591" stAng="10985424" swAng="1064485"/>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1BF2D754-8785-43BB-B33B-E8E13EA73F30}">
      <dsp:nvSpPr>
        <dsp:cNvPr id="0" name=""/>
        <dsp:cNvSpPr/>
      </dsp:nvSpPr>
      <dsp:spPr bwMode="white">
        <a:xfrm>
          <a:off x="245494" y="828589"/>
          <a:ext cx="680873" cy="44256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100000"/>
            </a:lnSpc>
            <a:spcBef>
              <a:spcPct val="0"/>
            </a:spcBef>
            <a:spcAft>
              <a:spcPct val="35000"/>
            </a:spcAft>
            <a:buNone/>
          </a:pPr>
          <a:r>
            <a:rPr lang="zh-CN" altLang="en-US" sz="1000" kern="1200"/>
            <a:t>语料搜集</a:t>
          </a:r>
        </a:p>
      </dsp:txBody>
      <dsp:txXfrm>
        <a:off x="267098" y="850193"/>
        <a:ext cx="637665" cy="399359"/>
      </dsp:txXfrm>
    </dsp:sp>
    <dsp:sp modelId="{45BBA764-932B-4A31-9891-7437D938FD2C}">
      <dsp:nvSpPr>
        <dsp:cNvPr id="0" name=""/>
        <dsp:cNvSpPr/>
      </dsp:nvSpPr>
      <dsp:spPr>
        <a:xfrm>
          <a:off x="310255" y="574118"/>
          <a:ext cx="2527183" cy="2527183"/>
        </a:xfrm>
        <a:custGeom>
          <a:avLst/>
          <a:gdLst/>
          <a:ahLst/>
          <a:cxnLst/>
          <a:rect l="0" t="0" r="0" b="0"/>
          <a:pathLst>
            <a:path>
              <a:moveTo>
                <a:pt x="579975" y="200890"/>
              </a:moveTo>
              <a:arcTo wR="1263591" hR="1263591" stAng="14234855" swAng="772376"/>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2024/12/4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E81C10-DED5-4B6C-AFCF-08AC304B04B9}" type="datetimeFigureOut">
              <a:rPr lang="zh-CN" altLang="en-US" smtClean="0"/>
              <a:t>2024/12/4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F109B6-C84A-4720-B199-87E06777BD2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00" dirty="0">
                <a:effectLst/>
                <a:latin typeface="微软雅黑" panose="020B0503020204020204" charset="-122"/>
                <a:ea typeface="微软雅黑" panose="020B0503020204020204" charset="-122"/>
                <a:cs typeface="Times New Roman" panose="02020603050405020304" pitchFamily="18" charset="0"/>
              </a:rPr>
              <a:t>1.</a:t>
            </a:r>
            <a:r>
              <a:rPr lang="zh-CN" altLang="zh-CN" sz="1200" kern="100" dirty="0">
                <a:effectLst/>
                <a:latin typeface="微软雅黑" panose="020B0503020204020204" charset="-122"/>
                <a:ea typeface="微软雅黑" panose="020B0503020204020204" charset="-122"/>
                <a:cs typeface="Times New Roman" panose="02020603050405020304" pitchFamily="18" charset="0"/>
              </a:rPr>
              <a:t>任务范式作为本体论、认识论、方法论的统一，指导我们实现对世界的描述，实现对任务的确定、展开、实现对问题的解决。</a:t>
            </a:r>
            <a:endParaRPr lang="en-US" altLang="zh-CN" sz="1200" kern="100" dirty="0">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00" dirty="0">
                <a:effectLst/>
                <a:latin typeface="微软雅黑" panose="020B0503020204020204" charset="-122"/>
                <a:ea typeface="微软雅黑" panose="020B0503020204020204" charset="-122"/>
                <a:cs typeface="Times New Roman" panose="02020603050405020304" pitchFamily="18" charset="0"/>
              </a:rPr>
              <a:t>2.</a:t>
            </a:r>
            <a:r>
              <a:rPr lang="zh-CN" altLang="en-US" kern="100" dirty="0">
                <a:latin typeface="微软雅黑" panose="020B0503020204020204" charset="-122"/>
                <a:ea typeface="微软雅黑" panose="020B0503020204020204" charset="-122"/>
                <a:cs typeface="Times New Roman" panose="02020603050405020304" pitchFamily="18" charset="0"/>
              </a:rPr>
              <a:t>人类的任何任务是由两个系统建立起来的，施行行动、主导行动的一方是主动系统，被动接受的一方是被动系统，被动系统呈现为主动系统的工作对象、任务对象、使命对象，它是主动系统的对象系统。“主动”的相对词是“被动”，“被动”一词的基本解释是“待外力推动而行动，受他人影响或牵制而发生行动”，其感情色彩一般都是消极的，而被动系统并不是一味地被动接受，被动系统同样具有主动的历史使命，同样具有能动性，所以为了语言的方便，避免产生歧义，本书中统一使用“对象系统”这一表达。</a:t>
            </a:r>
            <a:endParaRPr lang="en-US" altLang="zh-CN" kern="100" dirty="0">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kern="100" dirty="0">
                <a:latin typeface="微软雅黑" panose="020B0503020204020204" charset="-122"/>
                <a:ea typeface="微软雅黑" panose="020B0503020204020204" charset="-122"/>
                <a:cs typeface="Times New Roman" panose="02020603050405020304" pitchFamily="18" charset="0"/>
              </a:rPr>
              <a:t>3.</a:t>
            </a:r>
            <a:r>
              <a:rPr lang="zh-CN" altLang="zh-CN" sz="1200" dirty="0">
                <a:effectLst/>
                <a:ea typeface="宋体" panose="02010600030101010101" pitchFamily="2" charset="-122"/>
                <a:cs typeface="Times New Roman" panose="02020603050405020304" pitchFamily="18" charset="0"/>
              </a:rPr>
              <a:t>主动系统之所以是主动的、能够对对象系统采取行为是由其使命所决定的。主动系统的使命即解决对象系统的问题、改善对象系统的状态、满足对象系统的诉求，其使命决定了主动系统存在的理由和价值。如果主动系统不履行使命，就无法实现主动系统存在的价值，失去其存在的理由。</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kern="100" dirty="0">
                <a:latin typeface="微软雅黑" panose="020B0503020204020204" charset="-122"/>
                <a:ea typeface="微软雅黑" panose="020B0503020204020204" charset="-122"/>
                <a:cs typeface="Times New Roman" panose="02020603050405020304" pitchFamily="18" charset="0"/>
              </a:rPr>
              <a:t>4.</a:t>
            </a:r>
            <a:r>
              <a:rPr lang="zh-CN" altLang="zh-CN" sz="1800" dirty="0">
                <a:effectLst/>
                <a:ea typeface="宋体" panose="02010600030101010101" pitchFamily="2" charset="-122"/>
                <a:cs typeface="Times New Roman" panose="02020603050405020304" pitchFamily="18" charset="0"/>
              </a:rPr>
              <a:t>在具体的工程实践中，在特定的任务场景下，对象的状态，对象的问题，对象产生问题的根源和症结是什么，决定了主动系统用什么方案、手段，用什么资源。对象的状态和诉求的根源和症结决定了主动系统采取的措施和方案。主动系统采取的措施和方案也决定了对象系统是否得到相应改变。对象系统状态的改变和诉求的变化也要求主动系统的措施和方案随之调整。</a:t>
            </a:r>
            <a:endParaRPr lang="zh-CN" altLang="en-US" kern="100" dirty="0">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00" dirty="0">
              <a:effectLst/>
              <a:latin typeface="微软雅黑" panose="020B0503020204020204" charset="-122"/>
              <a:ea typeface="微软雅黑" panose="020B0503020204020204"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4</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00" dirty="0">
                <a:effectLst/>
                <a:latin typeface="微软雅黑" panose="020B0503020204020204" charset="-122"/>
                <a:ea typeface="微软雅黑" panose="020B0503020204020204" charset="-122"/>
                <a:cs typeface="Times New Roman" panose="02020603050405020304" pitchFamily="18" charset="0"/>
              </a:rPr>
              <a:t>1.</a:t>
            </a:r>
            <a:r>
              <a:rPr lang="zh-CN" altLang="zh-CN" sz="1200" kern="100" dirty="0">
                <a:effectLst/>
                <a:latin typeface="微软雅黑" panose="020B0503020204020204" charset="-122"/>
                <a:ea typeface="微软雅黑" panose="020B0503020204020204" charset="-122"/>
                <a:cs typeface="Times New Roman" panose="02020603050405020304" pitchFamily="18" charset="0"/>
              </a:rPr>
              <a:t>任务范式作为本体论、认识论、方法论的统一，指导我们实现对世界的描述，实现对任务的确定、展开、实现对问题的解决。</a:t>
            </a:r>
            <a:endParaRPr lang="en-US" altLang="zh-CN" sz="1200" kern="100" dirty="0">
              <a:effectLst/>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00" dirty="0">
                <a:effectLst/>
                <a:latin typeface="微软雅黑" panose="020B0503020204020204" charset="-122"/>
                <a:ea typeface="微软雅黑" panose="020B0503020204020204" charset="-122"/>
                <a:cs typeface="Times New Roman" panose="02020603050405020304" pitchFamily="18" charset="0"/>
              </a:rPr>
              <a:t>2.</a:t>
            </a:r>
            <a:r>
              <a:rPr lang="zh-CN" altLang="en-US" kern="100" dirty="0">
                <a:latin typeface="微软雅黑" panose="020B0503020204020204" charset="-122"/>
                <a:ea typeface="微软雅黑" panose="020B0503020204020204" charset="-122"/>
                <a:cs typeface="Times New Roman" panose="02020603050405020304" pitchFamily="18" charset="0"/>
              </a:rPr>
              <a:t>人类的任何任务是由两个系统建立起来的，施行行动、主导行动的一方是主动系统，被动接受的一方是被动系统，被动系统呈现为主动系统的工作对象、任务对象、使命对象，它是主动系统的对象系统。“主动”的相对词是“被动”，“被动”一词的基本解释是“待外力推动而行动，受他人影响或牵制而发生行动”，其感情色彩一般都是消极的，而被动系统并不是一味地被动接受，被动系统同样具有主动的历史使命，同样具有能动性，所以为了语言的方便，避免产生歧义，本书中统一使用“对象系统”这一表达。</a:t>
            </a: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00" dirty="0">
              <a:effectLst/>
              <a:latin typeface="微软雅黑" panose="020B0503020204020204" charset="-122"/>
              <a:ea typeface="微软雅黑" panose="020B0503020204020204"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F109B6-C84A-4720-B199-87E06777BD2D}" type="slidenum">
              <a:rPr lang="zh-CN" altLang="en-US" smtClean="0"/>
              <a:t>6</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F109B6-C84A-4720-B199-87E06777BD2D}" type="slidenum">
              <a:rPr lang="zh-CN" altLang="en-US" smtClean="0"/>
              <a:t>7</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F109B6-C84A-4720-B199-87E06777BD2D}" type="slidenum">
              <a:rPr lang="zh-CN" altLang="en-US" smtClean="0"/>
              <a:t>8</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a:p>
            <a:endParaRPr lang="zh-CN" altLang="en-US"/>
          </a:p>
          <a:p>
            <a:endParaRPr lang="zh-CN" altLang="en-US"/>
          </a:p>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因果性的指标，不是静态的指标，主动系统的指标是对象系统的指标的果，自变量和因变量的关系，放到选择的依据里</a:t>
            </a:r>
          </a:p>
        </p:txBody>
      </p:sp>
      <p:sp>
        <p:nvSpPr>
          <p:cNvPr id="4" name="灯片编号占位符 3"/>
          <p:cNvSpPr>
            <a:spLocks noGrp="1"/>
          </p:cNvSpPr>
          <p:nvPr>
            <p:ph type="sldNum" sz="quarter" idx="5"/>
          </p:nvPr>
        </p:nvSpPr>
        <p:spPr/>
        <p:txBody>
          <a:bodyPr/>
          <a:lstStyle/>
          <a:p>
            <a:fld id="{02F109B6-C84A-4720-B199-87E06777BD2D}" type="slidenum">
              <a:rPr lang="zh-CN" altLang="en-US" smtClean="0"/>
              <a:t>18</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FF0000"/>
                </a:solidFill>
              </a:rPr>
              <a:t>公司的行政权力</a:t>
            </a:r>
            <a:endParaRPr lang="en-US" altLang="zh-CN" sz="1200" dirty="0">
              <a:solidFill>
                <a:srgbClr val="FF0000"/>
              </a:solidFill>
            </a:endParaRPr>
          </a:p>
          <a:p>
            <a:r>
              <a:rPr lang="zh-CN" altLang="en-US" sz="1200" dirty="0">
                <a:solidFill>
                  <a:srgbClr val="FF0000"/>
                </a:solidFill>
              </a:rPr>
              <a:t>配置相应的资源，</a:t>
            </a:r>
            <a:endParaRPr lang="en-US" altLang="zh-CN" sz="1200" dirty="0">
              <a:solidFill>
                <a:srgbClr val="FF0000"/>
              </a:solidFill>
            </a:endParaRPr>
          </a:p>
          <a:p>
            <a:r>
              <a:rPr lang="zh-CN" altLang="en-US" sz="1200" dirty="0">
                <a:solidFill>
                  <a:srgbClr val="FF0000"/>
                </a:solidFill>
              </a:rPr>
              <a:t>比如财力、人力等服务资源</a:t>
            </a:r>
            <a:endParaRPr lang="en-US" altLang="zh-CN" sz="1200" dirty="0">
              <a:solidFill>
                <a:srgbClr val="FF0000"/>
              </a:solidFill>
            </a:endParaRPr>
          </a:p>
          <a:p>
            <a:r>
              <a:rPr lang="zh-CN" altLang="en-US" sz="1200" dirty="0">
                <a:solidFill>
                  <a:srgbClr val="FF0000"/>
                </a:solidFill>
              </a:rPr>
              <a:t>触动专业团队</a:t>
            </a:r>
            <a:endParaRPr lang="en-US" altLang="zh-CN" sz="1200" dirty="0">
              <a:solidFill>
                <a:srgbClr val="FF0000"/>
              </a:solidFill>
            </a:endParaRPr>
          </a:p>
          <a:p>
            <a:r>
              <a:rPr lang="zh-CN" altLang="en-US" sz="1200" dirty="0">
                <a:solidFill>
                  <a:srgbClr val="FF0000"/>
                </a:solidFill>
              </a:rPr>
              <a:t>展开专业活动</a:t>
            </a:r>
            <a:endParaRPr lang="en-US" altLang="zh-CN" sz="1200" dirty="0">
              <a:solidFill>
                <a:srgbClr val="FF0000"/>
              </a:solidFill>
            </a:endParaRPr>
          </a:p>
          <a:p>
            <a:r>
              <a:rPr lang="zh-CN" altLang="en-US" sz="1200" dirty="0">
                <a:solidFill>
                  <a:srgbClr val="FF0000"/>
                </a:solidFill>
              </a:rPr>
              <a:t>为公司牟利</a:t>
            </a:r>
            <a:endParaRPr lang="en-US" altLang="zh-CN" sz="1200" dirty="0">
              <a:solidFill>
                <a:srgbClr val="FF0000"/>
              </a:solidFill>
            </a:endParaRPr>
          </a:p>
          <a:p>
            <a:r>
              <a:rPr lang="zh-CN" altLang="en-US" sz="1200" dirty="0">
                <a:solidFill>
                  <a:srgbClr val="FF0000"/>
                </a:solidFill>
              </a:rPr>
              <a:t>形成一个团体</a:t>
            </a:r>
            <a:endParaRPr lang="en-US" altLang="zh-CN" sz="1200" dirty="0">
              <a:solidFill>
                <a:srgbClr val="FF0000"/>
              </a:solidFill>
            </a:endParaRPr>
          </a:p>
          <a:p>
            <a:endParaRPr lang="en-US" altLang="zh-CN" sz="1200" dirty="0">
              <a:solidFill>
                <a:srgbClr val="FF0000"/>
              </a:solidFill>
            </a:endParaRPr>
          </a:p>
          <a:p>
            <a:endParaRPr lang="en-US" altLang="zh-CN" sz="1200" dirty="0">
              <a:solidFill>
                <a:srgbClr val="FF0000"/>
              </a:solidFill>
            </a:endParaRPr>
          </a:p>
          <a:p>
            <a:r>
              <a:rPr lang="zh-CN" altLang="en-US" sz="1200" dirty="0">
                <a:solidFill>
                  <a:srgbClr val="FF0000"/>
                </a:solidFill>
              </a:rPr>
              <a:t>效能专员与公司其他资源部门相互合作，财务和</a:t>
            </a:r>
            <a:r>
              <a:rPr lang="en-US" altLang="zh-CN" sz="1200" dirty="0">
                <a:solidFill>
                  <a:srgbClr val="FF0000"/>
                </a:solidFill>
              </a:rPr>
              <a:t>HR</a:t>
            </a:r>
            <a:r>
              <a:rPr lang="zh-CN" altLang="en-US" sz="1200" dirty="0">
                <a:solidFill>
                  <a:srgbClr val="FF0000"/>
                </a:solidFill>
              </a:rPr>
              <a:t>负责</a:t>
            </a:r>
            <a:endParaRPr lang="en-US" altLang="zh-CN" sz="1200" dirty="0">
              <a:solidFill>
                <a:srgbClr val="FF0000"/>
              </a:solidFill>
            </a:endParaRPr>
          </a:p>
          <a:p>
            <a:r>
              <a:rPr lang="zh-CN" altLang="en-US" sz="1200" dirty="0">
                <a:solidFill>
                  <a:srgbClr val="FF0000"/>
                </a:solidFill>
              </a:rPr>
              <a:t>产品专员与市场和商务负责</a:t>
            </a:r>
            <a:endParaRPr lang="en-US" altLang="zh-CN" sz="1200" dirty="0">
              <a:solidFill>
                <a:srgbClr val="FF0000"/>
              </a:solidFill>
            </a:endParaRPr>
          </a:p>
          <a:p>
            <a:endParaRPr lang="en-US" altLang="zh-CN" sz="1200" dirty="0">
              <a:solidFill>
                <a:srgbClr val="FF0000"/>
              </a:solidFill>
            </a:endParaRPr>
          </a:p>
          <a:p>
            <a:r>
              <a:rPr lang="zh-CN" altLang="en-US" sz="1200" dirty="0">
                <a:solidFill>
                  <a:srgbClr val="FF0000"/>
                </a:solidFill>
              </a:rPr>
              <a:t>角色、等级、贡献</a:t>
            </a:r>
            <a:endParaRPr lang="en-US" altLang="zh-CN" sz="1200" dirty="0">
              <a:solidFill>
                <a:srgbClr val="FF0000"/>
              </a:solidFill>
            </a:endParaRPr>
          </a:p>
          <a:p>
            <a:endParaRPr lang="en-US" altLang="zh-CN" sz="1200" dirty="0">
              <a:solidFill>
                <a:srgbClr val="FF0000"/>
              </a:solidFill>
            </a:endParaRPr>
          </a:p>
          <a:p>
            <a:endParaRPr lang="en-US" altLang="zh-CN" sz="1200" dirty="0">
              <a:solidFill>
                <a:srgbClr val="FF0000"/>
              </a:solidFill>
            </a:endParaRPr>
          </a:p>
          <a:p>
            <a:endParaRPr lang="en-US" altLang="zh-CN" sz="1200" dirty="0">
              <a:solidFill>
                <a:srgbClr val="FF0000"/>
              </a:solidFill>
            </a:endParaRPr>
          </a:p>
          <a:p>
            <a:endParaRPr lang="en-US" altLang="zh-CN" sz="1200" dirty="0">
              <a:solidFill>
                <a:srgbClr val="FF0000"/>
              </a:solidFill>
            </a:endParaRPr>
          </a:p>
          <a:p>
            <a:endParaRPr lang="en-US" altLang="zh-CN" sz="1200" dirty="0">
              <a:solidFill>
                <a:srgbClr val="FF0000"/>
              </a:solidFill>
            </a:endParaRPr>
          </a:p>
          <a:p>
            <a:endParaRPr lang="zh-CN" altLang="en-US" sz="1200" dirty="0">
              <a:solidFill>
                <a:srgbClr val="FF0000"/>
              </a:solidFill>
            </a:endParaRPr>
          </a:p>
        </p:txBody>
      </p:sp>
      <p:sp>
        <p:nvSpPr>
          <p:cNvPr id="4" name="灯片编号占位符 3"/>
          <p:cNvSpPr>
            <a:spLocks noGrp="1"/>
          </p:cNvSpPr>
          <p:nvPr>
            <p:ph type="sldNum" sz="quarter" idx="5"/>
          </p:nvPr>
        </p:nvSpPr>
        <p:spPr/>
        <p:txBody>
          <a:bodyPr/>
          <a:lstStyle/>
          <a:p>
            <a:fld id="{D38D2F7A-C68C-43CC-AE82-F58069E4D02F}" type="slidenum">
              <a:rPr lang="zh-CN" altLang="en-US" smtClean="0"/>
              <a:t>20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cxnSp>
        <p:nvCxnSpPr>
          <p:cNvPr id="21" name="直线连接符 20"/>
          <p:cNvCxnSpPr/>
          <p:nvPr userDrawn="1"/>
        </p:nvCxnSpPr>
        <p:spPr>
          <a:xfrm>
            <a:off x="947854" y="3907129"/>
            <a:ext cx="6346829"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947854" y="2779680"/>
            <a:ext cx="9144000" cy="1037089"/>
          </a:xfrm>
        </p:spPr>
        <p:txBody>
          <a:bodyPr anchor="ctr">
            <a:normAutofit/>
          </a:bodyPr>
          <a:lstStyle>
            <a:lvl1pPr algn="l">
              <a:defRPr sz="54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defRPr>
            </a:lvl1pPr>
          </a:lstStyle>
          <a:p>
            <a:r>
              <a:rPr kumimoji="1" lang="zh-CN" altLang="en-US"/>
              <a:t>单击此处编辑</a:t>
            </a:r>
          </a:p>
        </p:txBody>
      </p:sp>
      <p:sp>
        <p:nvSpPr>
          <p:cNvPr id="3" name="副标题 2"/>
          <p:cNvSpPr>
            <a:spLocks noGrp="1"/>
          </p:cNvSpPr>
          <p:nvPr>
            <p:ph type="subTitle" idx="1" hasCustomPrompt="1"/>
          </p:nvPr>
        </p:nvSpPr>
        <p:spPr>
          <a:xfrm>
            <a:off x="947854" y="4095787"/>
            <a:ext cx="9144000" cy="369332"/>
          </a:xfrm>
          <a:noFill/>
        </p:spPr>
        <p:txBody>
          <a:bodyPr wrap="square" rtlCol="0">
            <a:spAutoFit/>
          </a:bodyPr>
          <a:lstStyle>
            <a:lvl1pPr marL="0" indent="0">
              <a:buNone/>
              <a:defRPr kumimoji="1"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defRPr>
            </a:lvl1pPr>
          </a:lstStyle>
          <a:p>
            <a:pPr marL="0" lvl="0"/>
            <a:r>
              <a:rPr kumimoji="1" lang="zh-CN" altLang="en-US" dirty="0"/>
              <a:t>单击此处编辑汇报人信息等</a:t>
            </a:r>
          </a:p>
        </p:txBody>
      </p:sp>
      <p:sp>
        <p:nvSpPr>
          <p:cNvPr id="25" name="任意形状 24"/>
          <p:cNvSpPr/>
          <p:nvPr userDrawn="1"/>
        </p:nvSpPr>
        <p:spPr>
          <a:xfrm>
            <a:off x="9143999" y="0"/>
            <a:ext cx="3048001" cy="2665142"/>
          </a:xfrm>
          <a:custGeom>
            <a:avLst/>
            <a:gdLst>
              <a:gd name="connsiteX0" fmla="*/ 67580 w 3048001"/>
              <a:gd name="connsiteY0" fmla="*/ 0 h 2665142"/>
              <a:gd name="connsiteX1" fmla="*/ 3048001 w 3048001"/>
              <a:gd name="connsiteY1" fmla="*/ 0 h 2665142"/>
              <a:gd name="connsiteX2" fmla="*/ 3048001 w 3048001"/>
              <a:gd name="connsiteY2" fmla="*/ 2503344 h 2665142"/>
              <a:gd name="connsiteX3" fmla="*/ 2864517 w 3048001"/>
              <a:gd name="connsiteY3" fmla="*/ 2568635 h 2665142"/>
              <a:gd name="connsiteX4" fmla="*/ 2207942 w 3048001"/>
              <a:gd name="connsiteY4" fmla="*/ 2665142 h 2665142"/>
              <a:gd name="connsiteX5" fmla="*/ 0 w 3048001"/>
              <a:gd name="connsiteY5" fmla="*/ 518532 h 2665142"/>
              <a:gd name="connsiteX6" fmla="*/ 44858 w 3048001"/>
              <a:gd name="connsiteY6" fmla="*/ 85915 h 2665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8001" h="2665142">
                <a:moveTo>
                  <a:pt x="67580" y="0"/>
                </a:moveTo>
                <a:lnTo>
                  <a:pt x="3048001" y="0"/>
                </a:lnTo>
                <a:lnTo>
                  <a:pt x="3048001" y="2503344"/>
                </a:lnTo>
                <a:lnTo>
                  <a:pt x="2864517" y="2568635"/>
                </a:lnTo>
                <a:cubicBezTo>
                  <a:pt x="2657105" y="2631355"/>
                  <a:pt x="2436582" y="2665142"/>
                  <a:pt x="2207942" y="2665142"/>
                </a:cubicBezTo>
                <a:cubicBezTo>
                  <a:pt x="988529" y="2665142"/>
                  <a:pt x="0" y="1704072"/>
                  <a:pt x="0" y="518532"/>
                </a:cubicBezTo>
                <a:cubicBezTo>
                  <a:pt x="0" y="370340"/>
                  <a:pt x="15446" y="225654"/>
                  <a:pt x="44858" y="85915"/>
                </a:cubicBezTo>
                <a:close/>
              </a:path>
            </a:pathLst>
          </a:custGeom>
          <a:gradFill flip="none" rotWithShape="1">
            <a:gsLst>
              <a:gs pos="0">
                <a:srgbClr val="0FABBC">
                  <a:shade val="30000"/>
                  <a:satMod val="115000"/>
                </a:srgbClr>
              </a:gs>
              <a:gs pos="0">
                <a:srgbClr val="0FABBC">
                  <a:shade val="67500"/>
                  <a:satMod val="115000"/>
                  <a:lumMod val="77000"/>
                  <a:lumOff val="23000"/>
                </a:srgbClr>
              </a:gs>
              <a:gs pos="100000">
                <a:srgbClr val="0FABBC">
                  <a:shade val="100000"/>
                  <a:satMod val="115000"/>
                </a:srgb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任意形状 25"/>
          <p:cNvSpPr/>
          <p:nvPr userDrawn="1"/>
        </p:nvSpPr>
        <p:spPr>
          <a:xfrm rot="21129633">
            <a:off x="-43297" y="4901199"/>
            <a:ext cx="11902019" cy="1346653"/>
          </a:xfrm>
          <a:custGeom>
            <a:avLst/>
            <a:gdLst>
              <a:gd name="connsiteX0" fmla="*/ 8568901 w 11902019"/>
              <a:gd name="connsiteY0" fmla="*/ 200371 h 1346653"/>
              <a:gd name="connsiteX1" fmla="*/ 9715460 w 11902019"/>
              <a:gd name="connsiteY1" fmla="*/ 400211 h 1346653"/>
              <a:gd name="connsiteX2" fmla="*/ 10135546 w 11902019"/>
              <a:gd name="connsiteY2" fmla="*/ 494693 h 1346653"/>
              <a:gd name="connsiteX3" fmla="*/ 10136082 w 11902019"/>
              <a:gd name="connsiteY3" fmla="*/ 490802 h 1346653"/>
              <a:gd name="connsiteX4" fmla="*/ 10875108 w 11902019"/>
              <a:gd name="connsiteY4" fmla="*/ 697947 h 1346653"/>
              <a:gd name="connsiteX5" fmla="*/ 11575358 w 11902019"/>
              <a:gd name="connsiteY5" fmla="*/ 924042 h 1346653"/>
              <a:gd name="connsiteX6" fmla="*/ 11902019 w 11902019"/>
              <a:gd name="connsiteY6" fmla="*/ 1044602 h 1346653"/>
              <a:gd name="connsiteX7" fmla="*/ 11900540 w 11902019"/>
              <a:gd name="connsiteY7" fmla="*/ 1055340 h 1346653"/>
              <a:gd name="connsiteX8" fmla="*/ 11628911 w 11902019"/>
              <a:gd name="connsiteY8" fmla="*/ 956155 h 1346653"/>
              <a:gd name="connsiteX9" fmla="*/ 6862281 w 11902019"/>
              <a:gd name="connsiteY9" fmla="*/ 367553 h 1346653"/>
              <a:gd name="connsiteX10" fmla="*/ 1554558 w 11902019"/>
              <a:gd name="connsiteY10" fmla="*/ 1284258 h 1346653"/>
              <a:gd name="connsiteX11" fmla="*/ 1432991 w 11902019"/>
              <a:gd name="connsiteY11" fmla="*/ 1346653 h 1346653"/>
              <a:gd name="connsiteX12" fmla="*/ 0 w 11902019"/>
              <a:gd name="connsiteY12" fmla="*/ 1149353 h 1346653"/>
              <a:gd name="connsiteX13" fmla="*/ 4610 w 11902019"/>
              <a:gd name="connsiteY13" fmla="*/ 1145878 h 1346653"/>
              <a:gd name="connsiteX14" fmla="*/ 6271392 w 11902019"/>
              <a:gd name="connsiteY14" fmla="*/ 0 h 1346653"/>
              <a:gd name="connsiteX15" fmla="*/ 6449352 w 11902019"/>
              <a:gd name="connsiteY15" fmla="*/ 2711 h 1346653"/>
              <a:gd name="connsiteX16" fmla="*/ 6573224 w 11902019"/>
              <a:gd name="connsiteY16" fmla="*/ 6131 h 1346653"/>
              <a:gd name="connsiteX17" fmla="*/ 8170915 w 11902019"/>
              <a:gd name="connsiteY17" fmla="*/ 146297 h 1346653"/>
              <a:gd name="connsiteX18" fmla="*/ 8568901 w 11902019"/>
              <a:gd name="connsiteY18" fmla="*/ 200371 h 1346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902019" h="1346653">
                <a:moveTo>
                  <a:pt x="8568901" y="200371"/>
                </a:moveTo>
                <a:cubicBezTo>
                  <a:pt x="8963286" y="257736"/>
                  <a:pt x="9346517" y="324815"/>
                  <a:pt x="9715460" y="400211"/>
                </a:cubicBezTo>
                <a:lnTo>
                  <a:pt x="10135546" y="494693"/>
                </a:lnTo>
                <a:lnTo>
                  <a:pt x="10136082" y="490802"/>
                </a:lnTo>
                <a:lnTo>
                  <a:pt x="10875108" y="697947"/>
                </a:lnTo>
                <a:cubicBezTo>
                  <a:pt x="11115479" y="770374"/>
                  <a:pt x="11349191" y="845905"/>
                  <a:pt x="11575358" y="924042"/>
                </a:cubicBezTo>
                <a:lnTo>
                  <a:pt x="11902019" y="1044602"/>
                </a:lnTo>
                <a:lnTo>
                  <a:pt x="11900540" y="1055340"/>
                </a:lnTo>
                <a:lnTo>
                  <a:pt x="11628911" y="956155"/>
                </a:lnTo>
                <a:cubicBezTo>
                  <a:pt x="10451043" y="575232"/>
                  <a:pt x="8750605" y="346543"/>
                  <a:pt x="6862281" y="367553"/>
                </a:cubicBezTo>
                <a:cubicBezTo>
                  <a:pt x="4648862" y="392181"/>
                  <a:pt x="2701156" y="754057"/>
                  <a:pt x="1554558" y="1284258"/>
                </a:cubicBezTo>
                <a:lnTo>
                  <a:pt x="1432991" y="1346653"/>
                </a:lnTo>
                <a:lnTo>
                  <a:pt x="0" y="1149353"/>
                </a:lnTo>
                <a:lnTo>
                  <a:pt x="4610" y="1145878"/>
                </a:lnTo>
                <a:cubicBezTo>
                  <a:pt x="1037097" y="472494"/>
                  <a:pt x="3454217" y="0"/>
                  <a:pt x="6271392" y="0"/>
                </a:cubicBezTo>
                <a:lnTo>
                  <a:pt x="6449352" y="2711"/>
                </a:lnTo>
                <a:lnTo>
                  <a:pt x="6573224" y="6131"/>
                </a:lnTo>
                <a:cubicBezTo>
                  <a:pt x="7086446" y="30689"/>
                  <a:pt x="7621891" y="76920"/>
                  <a:pt x="8170915" y="146297"/>
                </a:cubicBezTo>
                <a:cubicBezTo>
                  <a:pt x="8304739" y="163207"/>
                  <a:pt x="8437440" y="181250"/>
                  <a:pt x="8568901" y="200371"/>
                </a:cubicBezTo>
                <a:close/>
              </a:path>
            </a:pathLst>
          </a:custGeom>
          <a:gradFill flip="none" rotWithShape="1">
            <a:gsLst>
              <a:gs pos="0">
                <a:srgbClr val="0FABBC">
                  <a:shade val="30000"/>
                  <a:satMod val="115000"/>
                </a:srgbClr>
              </a:gs>
              <a:gs pos="0">
                <a:srgbClr val="0FABBC">
                  <a:shade val="67500"/>
                  <a:satMod val="115000"/>
                  <a:lumMod val="77000"/>
                  <a:lumOff val="23000"/>
                </a:srgbClr>
              </a:gs>
              <a:gs pos="100000">
                <a:srgbClr val="0FABBC">
                  <a:shade val="100000"/>
                  <a:satMod val="115000"/>
                </a:srgb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25450" y="169122"/>
            <a:ext cx="6296626" cy="480131"/>
          </a:xfrm>
          <a:noFill/>
        </p:spPr>
        <p:txBody>
          <a:bodyPr wrap="square" rtlCol="0">
            <a:spAutoFit/>
          </a:bodyPr>
          <a:lstStyle>
            <a:lvl1pPr>
              <a:defRPr kumimoji="1" lang="zh-CN" altLang="en-US" sz="28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defRPr>
            </a:lvl1pPr>
          </a:lstStyle>
          <a:p>
            <a:pPr marL="0" lvl="0"/>
            <a:r>
              <a:rPr kumimoji="1" lang="zh-CN" altLang="en-US" dirty="0"/>
              <a:t>单击此处编辑母版标题样式</a:t>
            </a:r>
          </a:p>
        </p:txBody>
      </p:sp>
      <p:grpSp>
        <p:nvGrpSpPr>
          <p:cNvPr id="8" name="组 7"/>
          <p:cNvGrpSpPr/>
          <p:nvPr userDrawn="1"/>
        </p:nvGrpSpPr>
        <p:grpSpPr>
          <a:xfrm>
            <a:off x="342900" y="185078"/>
            <a:ext cx="82550" cy="448221"/>
            <a:chOff x="1447800" y="434974"/>
            <a:chExt cx="82550" cy="448221"/>
          </a:xfrm>
        </p:grpSpPr>
        <p:sp>
          <p:nvSpPr>
            <p:cNvPr id="9" name="椭圆 8"/>
            <p:cNvSpPr/>
            <p:nvPr/>
          </p:nvSpPr>
          <p:spPr>
            <a:xfrm>
              <a:off x="1447800" y="434974"/>
              <a:ext cx="82550" cy="76201"/>
            </a:xfrm>
            <a:prstGeom prst="ellipse">
              <a:avLst/>
            </a:prstGeom>
            <a:solidFill>
              <a:srgbClr val="0FAB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p:nvSpPr>
          <p:spPr>
            <a:xfrm>
              <a:off x="1447800" y="527979"/>
              <a:ext cx="82550" cy="76201"/>
            </a:xfrm>
            <a:prstGeom prst="ellipse">
              <a:avLst/>
            </a:prstGeom>
            <a:solidFill>
              <a:srgbClr val="12C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椭圆 10"/>
            <p:cNvSpPr/>
            <p:nvPr/>
          </p:nvSpPr>
          <p:spPr>
            <a:xfrm>
              <a:off x="1447800" y="620984"/>
              <a:ext cx="82550" cy="76201"/>
            </a:xfrm>
            <a:prstGeom prst="ellipse">
              <a:avLst/>
            </a:prstGeom>
            <a:solidFill>
              <a:srgbClr val="12CAD6">
                <a:alpha val="7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p:cNvSpPr/>
            <p:nvPr/>
          </p:nvSpPr>
          <p:spPr>
            <a:xfrm>
              <a:off x="1447800" y="713989"/>
              <a:ext cx="82550" cy="76201"/>
            </a:xfrm>
            <a:prstGeom prst="ellipse">
              <a:avLst/>
            </a:prstGeom>
            <a:solidFill>
              <a:srgbClr val="12CAD6">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p:nvSpPr>
          <p:spPr>
            <a:xfrm>
              <a:off x="1447800" y="806994"/>
              <a:ext cx="82550" cy="76201"/>
            </a:xfrm>
            <a:prstGeom prst="ellipse">
              <a:avLst/>
            </a:prstGeom>
            <a:solidFill>
              <a:schemeClr val="bg1">
                <a:lumMod val="75000"/>
                <a:alpha val="760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hasCustomPrompt="1"/>
          </p:nvPr>
        </p:nvSpPr>
        <p:spPr>
          <a:xfrm>
            <a:off x="3114724" y="2651354"/>
            <a:ext cx="6559378" cy="1089529"/>
          </a:xfrm>
          <a:noFill/>
          <a:ln>
            <a:noFill/>
          </a:ln>
        </p:spPr>
        <p:txBody>
          <a:bodyPr wrap="square" rtlCol="0">
            <a:spAutoFit/>
          </a:bodyPr>
          <a:lstStyle>
            <a:lvl1pPr>
              <a:defRPr kumimoji="1" lang="zh-CN" altLang="en-US" sz="72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defRPr>
            </a:lvl1pPr>
          </a:lstStyle>
          <a:p>
            <a:pPr marL="0" lvl="0" algn="ctr"/>
            <a:r>
              <a:rPr kumimoji="1" lang="zh-CN" altLang="en-US"/>
              <a:t>谢谢！</a:t>
            </a:r>
            <a:endParaRPr kumimoji="1" lang="zh-CN" altLang="en-US" dirty="0"/>
          </a:p>
        </p:txBody>
      </p:sp>
      <p:sp>
        <p:nvSpPr>
          <p:cNvPr id="7" name="任意形状 6"/>
          <p:cNvSpPr/>
          <p:nvPr userDrawn="1"/>
        </p:nvSpPr>
        <p:spPr>
          <a:xfrm>
            <a:off x="-2" y="4683512"/>
            <a:ext cx="7805856" cy="2174487"/>
          </a:xfrm>
          <a:custGeom>
            <a:avLst/>
            <a:gdLst>
              <a:gd name="connsiteX0" fmla="*/ 0 w 5279999"/>
              <a:gd name="connsiteY0" fmla="*/ 0 h 2012265"/>
              <a:gd name="connsiteX1" fmla="*/ 162919 w 5279999"/>
              <a:gd name="connsiteY1" fmla="*/ 10677 h 2012265"/>
              <a:gd name="connsiteX2" fmla="*/ 5209239 w 5279999"/>
              <a:gd name="connsiteY2" fmla="*/ 1932677 h 2012265"/>
              <a:gd name="connsiteX3" fmla="*/ 5279999 w 5279999"/>
              <a:gd name="connsiteY3" fmla="*/ 2012265 h 2012265"/>
              <a:gd name="connsiteX4" fmla="*/ 0 w 5279999"/>
              <a:gd name="connsiteY4" fmla="*/ 2012265 h 2012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9999" h="2012265">
                <a:moveTo>
                  <a:pt x="0" y="0"/>
                </a:moveTo>
                <a:lnTo>
                  <a:pt x="162919" y="10677"/>
                </a:lnTo>
                <a:cubicBezTo>
                  <a:pt x="2389926" y="186181"/>
                  <a:pt x="4258722" y="923136"/>
                  <a:pt x="5209239" y="1932677"/>
                </a:cubicBezTo>
                <a:lnTo>
                  <a:pt x="5279999" y="2012265"/>
                </a:lnTo>
                <a:lnTo>
                  <a:pt x="0" y="2012265"/>
                </a:lnTo>
                <a:close/>
              </a:path>
            </a:pathLst>
          </a:custGeom>
          <a:solidFill>
            <a:srgbClr val="12CAD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任意形状 7"/>
          <p:cNvSpPr/>
          <p:nvPr userDrawn="1"/>
        </p:nvSpPr>
        <p:spPr>
          <a:xfrm>
            <a:off x="7070" y="4763960"/>
            <a:ext cx="6215309" cy="2094040"/>
          </a:xfrm>
          <a:custGeom>
            <a:avLst/>
            <a:gdLst>
              <a:gd name="connsiteX0" fmla="*/ 0 w 5279999"/>
              <a:gd name="connsiteY0" fmla="*/ 0 h 2012265"/>
              <a:gd name="connsiteX1" fmla="*/ 162919 w 5279999"/>
              <a:gd name="connsiteY1" fmla="*/ 10677 h 2012265"/>
              <a:gd name="connsiteX2" fmla="*/ 5209239 w 5279999"/>
              <a:gd name="connsiteY2" fmla="*/ 1932677 h 2012265"/>
              <a:gd name="connsiteX3" fmla="*/ 5279999 w 5279999"/>
              <a:gd name="connsiteY3" fmla="*/ 2012265 h 2012265"/>
              <a:gd name="connsiteX4" fmla="*/ 0 w 5279999"/>
              <a:gd name="connsiteY4" fmla="*/ 2012265 h 2012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9999" h="2012265">
                <a:moveTo>
                  <a:pt x="0" y="0"/>
                </a:moveTo>
                <a:lnTo>
                  <a:pt x="162919" y="10677"/>
                </a:lnTo>
                <a:cubicBezTo>
                  <a:pt x="2389926" y="186181"/>
                  <a:pt x="4258722" y="923136"/>
                  <a:pt x="5209239" y="1932677"/>
                </a:cubicBezTo>
                <a:lnTo>
                  <a:pt x="5279999" y="2012265"/>
                </a:lnTo>
                <a:lnTo>
                  <a:pt x="0" y="2012265"/>
                </a:lnTo>
                <a:close/>
              </a:path>
            </a:pathLst>
          </a:custGeom>
          <a:solidFill>
            <a:srgbClr val="12C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任意形状 8"/>
          <p:cNvSpPr/>
          <p:nvPr userDrawn="1"/>
        </p:nvSpPr>
        <p:spPr>
          <a:xfrm>
            <a:off x="0" y="4845736"/>
            <a:ext cx="5279999" cy="2012265"/>
          </a:xfrm>
          <a:custGeom>
            <a:avLst/>
            <a:gdLst>
              <a:gd name="connsiteX0" fmla="*/ 0 w 5279999"/>
              <a:gd name="connsiteY0" fmla="*/ 0 h 2012265"/>
              <a:gd name="connsiteX1" fmla="*/ 162919 w 5279999"/>
              <a:gd name="connsiteY1" fmla="*/ 10677 h 2012265"/>
              <a:gd name="connsiteX2" fmla="*/ 5209239 w 5279999"/>
              <a:gd name="connsiteY2" fmla="*/ 1932677 h 2012265"/>
              <a:gd name="connsiteX3" fmla="*/ 5279999 w 5279999"/>
              <a:gd name="connsiteY3" fmla="*/ 2012265 h 2012265"/>
              <a:gd name="connsiteX4" fmla="*/ 0 w 5279999"/>
              <a:gd name="connsiteY4" fmla="*/ 2012265 h 2012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9999" h="2012265">
                <a:moveTo>
                  <a:pt x="0" y="0"/>
                </a:moveTo>
                <a:lnTo>
                  <a:pt x="162919" y="10677"/>
                </a:lnTo>
                <a:cubicBezTo>
                  <a:pt x="2389926" y="186181"/>
                  <a:pt x="4258722" y="923136"/>
                  <a:pt x="5209239" y="1932677"/>
                </a:cubicBezTo>
                <a:lnTo>
                  <a:pt x="5279999" y="2012265"/>
                </a:lnTo>
                <a:lnTo>
                  <a:pt x="0" y="2012265"/>
                </a:lnTo>
                <a:close/>
              </a:path>
            </a:pathLst>
          </a:custGeom>
          <a:solidFill>
            <a:srgbClr val="0FAB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任意形状 10"/>
          <p:cNvSpPr/>
          <p:nvPr userDrawn="1"/>
        </p:nvSpPr>
        <p:spPr>
          <a:xfrm>
            <a:off x="7697446" y="0"/>
            <a:ext cx="4508702" cy="2245891"/>
          </a:xfrm>
          <a:custGeom>
            <a:avLst/>
            <a:gdLst>
              <a:gd name="connsiteX0" fmla="*/ 0 w 4508702"/>
              <a:gd name="connsiteY0" fmla="*/ 0 h 2245891"/>
              <a:gd name="connsiteX1" fmla="*/ 4508702 w 4508702"/>
              <a:gd name="connsiteY1" fmla="*/ 0 h 2245891"/>
              <a:gd name="connsiteX2" fmla="*/ 4508702 w 4508702"/>
              <a:gd name="connsiteY2" fmla="*/ 2245891 h 2245891"/>
              <a:gd name="connsiteX3" fmla="*/ 4353161 w 4508702"/>
              <a:gd name="connsiteY3" fmla="*/ 2074816 h 2245891"/>
              <a:gd name="connsiteX4" fmla="*/ 281491 w 4508702"/>
              <a:gd name="connsiteY4" fmla="*/ 45810 h 22458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8702" h="2245891">
                <a:moveTo>
                  <a:pt x="0" y="0"/>
                </a:moveTo>
                <a:lnTo>
                  <a:pt x="4508702" y="0"/>
                </a:lnTo>
                <a:lnTo>
                  <a:pt x="4508702" y="2245891"/>
                </a:lnTo>
                <a:lnTo>
                  <a:pt x="4353161" y="2074816"/>
                </a:lnTo>
                <a:cubicBezTo>
                  <a:pt x="3405843" y="1086097"/>
                  <a:pt x="1965815" y="351375"/>
                  <a:pt x="281491" y="45810"/>
                </a:cubicBezTo>
                <a:close/>
              </a:path>
            </a:pathLst>
          </a:custGeom>
          <a:solidFill>
            <a:srgbClr val="12CAD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任意形状 11"/>
          <p:cNvSpPr/>
          <p:nvPr userDrawn="1"/>
        </p:nvSpPr>
        <p:spPr>
          <a:xfrm>
            <a:off x="9630260" y="0"/>
            <a:ext cx="2575888" cy="1990532"/>
          </a:xfrm>
          <a:custGeom>
            <a:avLst/>
            <a:gdLst>
              <a:gd name="connsiteX0" fmla="*/ 0 w 2575888"/>
              <a:gd name="connsiteY0" fmla="*/ 0 h 1990532"/>
              <a:gd name="connsiteX1" fmla="*/ 2575888 w 2575888"/>
              <a:gd name="connsiteY1" fmla="*/ 0 h 1990532"/>
              <a:gd name="connsiteX2" fmla="*/ 2575888 w 2575888"/>
              <a:gd name="connsiteY2" fmla="*/ 1990532 h 1990532"/>
              <a:gd name="connsiteX3" fmla="*/ 2420347 w 2575888"/>
              <a:gd name="connsiteY3" fmla="*/ 1794214 h 1990532"/>
              <a:gd name="connsiteX4" fmla="*/ 236705 w 2575888"/>
              <a:gd name="connsiteY4" fmla="*/ 110128 h 1990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5888" h="1990532">
                <a:moveTo>
                  <a:pt x="0" y="0"/>
                </a:moveTo>
                <a:lnTo>
                  <a:pt x="2575888" y="0"/>
                </a:lnTo>
                <a:lnTo>
                  <a:pt x="2575888" y="1990532"/>
                </a:lnTo>
                <a:lnTo>
                  <a:pt x="2420347" y="1794214"/>
                </a:lnTo>
                <a:cubicBezTo>
                  <a:pt x="1851956" y="1113448"/>
                  <a:pt x="1106190" y="537614"/>
                  <a:pt x="236705" y="110128"/>
                </a:cubicBezTo>
                <a:close/>
              </a:path>
            </a:pathLst>
          </a:custGeom>
          <a:solidFill>
            <a:srgbClr val="0FABBC">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242E353-C76D-9F48-85C1-F0CBB6FFC761}" type="datetimeFigureOut">
              <a:rPr kumimoji="1" lang="zh-CN" altLang="en-US" smtClean="0"/>
              <a:t>2024/12/4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8C88EA67-CA38-254B-A61F-78A58BA24700}"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42E353-C76D-9F48-85C1-F0CBB6FFC761}" type="datetimeFigureOut">
              <a:rPr kumimoji="1" lang="zh-CN" altLang="en-US" smtClean="0"/>
              <a:t>2024/12/4</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88EA67-CA38-254B-A61F-78A58BA24700}"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wiki.mbalib.com/wiki/Image:&#32467;&#26500;&#30456;&#23545;&#25351;&#26631;&#20844;&#24335;.jpg" TargetMode="External"/><Relationship Id="rId5" Type="http://schemas.openxmlformats.org/officeDocument/2006/relationships/image" Target="../media/image6.jpeg"/><Relationship Id="rId10" Type="http://schemas.openxmlformats.org/officeDocument/2006/relationships/image" Target="../media/image10.png"/><Relationship Id="rId4" Type="http://schemas.openxmlformats.org/officeDocument/2006/relationships/hyperlink" Target="https://wiki.mbalib.com/wiki/Image:&#35745;&#21010;&#23436;&#25104;&#31243;&#24230;&#30456;&#23545;&#25351;&#26631;&#20844;&#24335;.jpg" TargetMode="External"/><Relationship Id="rId9"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947854" y="4095787"/>
            <a:ext cx="9144000" cy="369332"/>
          </a:xfrm>
        </p:spPr>
        <p:txBody>
          <a:bodyPr/>
          <a:lstStyle/>
          <a:p>
            <a:r>
              <a:rPr lang="zh-CN" altLang="en-US" dirty="0">
                <a:solidFill>
                  <a:srgbClr val="595959"/>
                </a:solidFill>
                <a:latin typeface="Arial" panose="020B0604020202020204" pitchFamily="34" charset="0"/>
                <a:ea typeface="微软雅黑" panose="020B0503020204020204" charset="-122"/>
                <a:sym typeface="Arial" panose="020B0604020202020204" pitchFamily="34" charset="0"/>
              </a:rPr>
              <a:t>主讲：创新中心</a:t>
            </a:r>
          </a:p>
        </p:txBody>
      </p:sp>
      <p:sp>
        <p:nvSpPr>
          <p:cNvPr id="4" name="标题 1"/>
          <p:cNvSpPr txBox="1">
            <a:spLocks noGrp="1"/>
          </p:cNvSpPr>
          <p:nvPr>
            <p:ph type="ctrTitle"/>
          </p:nvPr>
        </p:nvSpPr>
        <p:spPr>
          <a:xfrm>
            <a:off x="797379" y="1932973"/>
            <a:ext cx="8260124" cy="1883378"/>
          </a:xfrm>
          <a:prstGeom prst="rect">
            <a:avLst/>
          </a:prstGeom>
        </p:spPr>
        <p:txBody>
          <a:bodyP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7200" dirty="0">
                <a:solidFill>
                  <a:srgbClr val="595959"/>
                </a:solidFill>
                <a:latin typeface="Arial" panose="020B0604020202020204" pitchFamily="34" charset="0"/>
                <a:ea typeface="微软雅黑" panose="020B0503020204020204" charset="-122"/>
                <a:sym typeface="Arial" panose="020B0604020202020204" pitchFamily="34" charset="0"/>
              </a:rPr>
              <a:t>领域知识工程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弧 7"/>
          <p:cNvSpPr/>
          <p:nvPr/>
        </p:nvSpPr>
        <p:spPr>
          <a:xfrm>
            <a:off x="-3447416" y="-452205"/>
            <a:ext cx="8437418" cy="7730836"/>
          </a:xfrm>
          <a:prstGeom prst="arc">
            <a:avLst>
              <a:gd name="adj1" fmla="val 17919618"/>
              <a:gd name="adj2" fmla="val 3665690"/>
            </a:avLst>
          </a:prstGeom>
          <a:ln w="508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0" name="椭圆 9"/>
          <p:cNvSpPr/>
          <p:nvPr/>
        </p:nvSpPr>
        <p:spPr>
          <a:xfrm>
            <a:off x="3940477" y="2544275"/>
            <a:ext cx="1809455" cy="1763273"/>
          </a:xfrm>
          <a:prstGeom prst="ellipse">
            <a:avLst/>
          </a:prstGeom>
          <a:solidFill>
            <a:srgbClr val="12CAD6">
              <a:alpha val="6862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5400" dirty="0">
              <a:latin typeface="微软雅黑" panose="020B0503020204020204" charset="-122"/>
              <a:ea typeface="微软雅黑" panose="020B0503020204020204" charset="-122"/>
              <a:cs typeface="微软雅黑" panose="020B0503020204020204" charset="-122"/>
            </a:endParaRPr>
          </a:p>
        </p:txBody>
      </p:sp>
      <p:sp>
        <p:nvSpPr>
          <p:cNvPr id="11" name="椭圆 10"/>
          <p:cNvSpPr/>
          <p:nvPr/>
        </p:nvSpPr>
        <p:spPr>
          <a:xfrm>
            <a:off x="4070195" y="2653990"/>
            <a:ext cx="1550020" cy="1550020"/>
          </a:xfrm>
          <a:prstGeom prst="ellipse">
            <a:avLst/>
          </a:prstGeom>
          <a:solidFill>
            <a:srgbClr val="12C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5400" dirty="0">
                <a:latin typeface="微软雅黑" panose="020B0503020204020204" charset="-122"/>
                <a:ea typeface="微软雅黑" panose="020B0503020204020204" charset="-122"/>
                <a:cs typeface="微软雅黑" panose="020B0503020204020204" charset="-122"/>
              </a:rPr>
              <a:t>一</a:t>
            </a:r>
          </a:p>
        </p:txBody>
      </p:sp>
      <p:sp>
        <p:nvSpPr>
          <p:cNvPr id="12" name="文本框 11"/>
          <p:cNvSpPr txBox="1"/>
          <p:nvPr/>
        </p:nvSpPr>
        <p:spPr>
          <a:xfrm>
            <a:off x="5982629" y="3059269"/>
            <a:ext cx="6395266" cy="707886"/>
          </a:xfrm>
          <a:prstGeom prst="rect">
            <a:avLst/>
          </a:prstGeom>
          <a:noFill/>
        </p:spPr>
        <p:txBody>
          <a:bodyPr wrap="square" rtlCol="0">
            <a:spAutoFit/>
          </a:bodyPr>
          <a:lstStyle/>
          <a:p>
            <a:r>
              <a:rPr kumimoji="1" lang="zh-CN" altLang="en-US" sz="40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理论模式</a:t>
            </a:r>
          </a:p>
        </p:txBody>
      </p:sp>
      <p:sp>
        <p:nvSpPr>
          <p:cNvPr id="13" name="椭圆 12"/>
          <p:cNvSpPr/>
          <p:nvPr/>
        </p:nvSpPr>
        <p:spPr>
          <a:xfrm>
            <a:off x="4516244" y="1762599"/>
            <a:ext cx="320560" cy="306179"/>
          </a:xfrm>
          <a:prstGeom prst="ellipse">
            <a:avLst/>
          </a:prstGeom>
          <a:solidFill>
            <a:srgbClr val="12C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5400" dirty="0">
              <a:latin typeface="微软雅黑" panose="020B0503020204020204" charset="-122"/>
              <a:ea typeface="微软雅黑" panose="020B0503020204020204" charset="-122"/>
              <a:cs typeface="微软雅黑" panose="020B0503020204020204" charset="-122"/>
            </a:endParaRPr>
          </a:p>
        </p:txBody>
      </p:sp>
      <p:sp>
        <p:nvSpPr>
          <p:cNvPr id="14" name="椭圆 13"/>
          <p:cNvSpPr/>
          <p:nvPr/>
        </p:nvSpPr>
        <p:spPr>
          <a:xfrm>
            <a:off x="4513419" y="4783045"/>
            <a:ext cx="320560" cy="306179"/>
          </a:xfrm>
          <a:prstGeom prst="ellipse">
            <a:avLst/>
          </a:prstGeom>
          <a:solidFill>
            <a:srgbClr val="12C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5400" dirty="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2141034" y="3090047"/>
            <a:ext cx="1839952" cy="646331"/>
          </a:xfrm>
          <a:prstGeom prst="rect">
            <a:avLst/>
          </a:prstGeom>
          <a:noFill/>
        </p:spPr>
        <p:txBody>
          <a:bodyPr wrap="square" rtlCol="0">
            <a:spAutoFit/>
          </a:bodyPr>
          <a:lstStyle/>
          <a:p>
            <a:pPr algn="ctr"/>
            <a:r>
              <a:rPr kumimoji="1" lang="en-US" altLang="zh-CN" sz="3600" b="1" dirty="0">
                <a:solidFill>
                  <a:schemeClr val="tx1">
                    <a:lumMod val="65000"/>
                    <a:lumOff val="35000"/>
                  </a:schemeClr>
                </a:solidFill>
              </a:rPr>
              <a:t>PART</a:t>
            </a:r>
            <a:endParaRPr kumimoji="1" lang="zh-CN" altLang="en-US" sz="3600" b="1" dirty="0">
              <a:solidFill>
                <a:schemeClr val="tx1">
                  <a:lumMod val="65000"/>
                  <a:lumOff val="35000"/>
                </a:schemeClr>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5450" y="169122"/>
            <a:ext cx="4971768" cy="480131"/>
          </a:xfrm>
        </p:spPr>
        <p:txBody>
          <a:bodyPr/>
          <a:lstStyle/>
          <a:p>
            <a:r>
              <a:rPr lang="zh-CN" altLang="en-US" dirty="0"/>
              <a:t>领域知识工程学</a:t>
            </a:r>
          </a:p>
        </p:txBody>
      </p:sp>
      <p:sp>
        <p:nvSpPr>
          <p:cNvPr id="4" name="矩形: 圆角 3"/>
          <p:cNvSpPr/>
          <p:nvPr/>
        </p:nvSpPr>
        <p:spPr>
          <a:xfrm flipH="1">
            <a:off x="1461494" y="1014168"/>
            <a:ext cx="9269005" cy="524595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000" dirty="0"/>
              <a:t>       领域知识工程学的研究对象是信息社会人类经济社会活动特定任务过程的基本范式、范式的实例、实例的自动化，以及自动化实例的普及率。</a:t>
            </a:r>
            <a:endParaRPr lang="en-US" altLang="zh-CN" sz="2000" dirty="0"/>
          </a:p>
          <a:p>
            <a:pPr>
              <a:lnSpc>
                <a:spcPct val="150000"/>
              </a:lnSpc>
            </a:pPr>
            <a:r>
              <a:rPr lang="zh-CN" altLang="en-US" sz="2000" dirty="0"/>
              <a:t>       领域知识工程学并不进入各学科的具体内容本身，但要围绕特定问题和解决特定问题的特定任务，快速把握各学科形成的专业知识的外部特征轮廓，把实践中不断细分的客观状态和理论中不断细化的专业知识关联、映射、集成起来，不断循环迭代上升，在实践中检验知识，在知识中总结实践，在学科分和合的过程中，解决人类能力极限不能达到的缺陷，同时解决现实问题的紧迫性需求。</a:t>
            </a:r>
            <a:endParaRPr lang="en-US" altLang="zh-CN" sz="2000" dirty="0"/>
          </a:p>
          <a:p>
            <a:pPr>
              <a:lnSpc>
                <a:spcPct val="150000"/>
              </a:lnSpc>
            </a:pPr>
            <a:r>
              <a:rPr lang="zh-CN" altLang="en-US" sz="2000" dirty="0"/>
              <a:t>       领域知识工程实践的成果主要有两大类，一是针对指定领域用户的顶层设计，包括设计文档、原型等；二是指定领域研究过程中产生的知识内容，包括信息资源、知识本体、业务规则等。</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425449" y="225540"/>
            <a:ext cx="7162498" cy="480131"/>
          </a:xfrm>
        </p:spPr>
        <p:txBody>
          <a:bodyPr/>
          <a:lstStyle/>
          <a:p>
            <a:r>
              <a:rPr lang="zh-CN" altLang="en-US" dirty="0">
                <a:latin typeface="Arial" panose="020B0604020202020204" pitchFamily="34" charset="0"/>
                <a:ea typeface="微软雅黑" panose="020B0503020204020204" charset="-122"/>
                <a:sym typeface="Arial" panose="020B0604020202020204" pitchFamily="34" charset="0"/>
              </a:rPr>
              <a:t>（一）任务范式</a:t>
            </a:r>
            <a:r>
              <a:rPr lang="en-US" altLang="zh-CN" sz="2000" dirty="0">
                <a:latin typeface="Arial" panose="020B0604020202020204" pitchFamily="34" charset="0"/>
                <a:ea typeface="微软雅黑" panose="020B0503020204020204" charset="-122"/>
                <a:sym typeface="Arial" panose="020B0604020202020204" pitchFamily="34" charset="0"/>
              </a:rPr>
              <a:t>——</a:t>
            </a:r>
            <a:r>
              <a:rPr lang="zh-CN" altLang="en-US" sz="2000" dirty="0">
                <a:latin typeface="Arial" panose="020B0604020202020204" pitchFamily="34" charset="0"/>
                <a:ea typeface="微软雅黑" panose="020B0503020204020204" charset="-122"/>
                <a:sym typeface="Arial" panose="020B0604020202020204" pitchFamily="34" charset="0"/>
              </a:rPr>
              <a:t>主动系统与对象系统</a:t>
            </a:r>
            <a:endParaRPr lang="zh-CN" altLang="en-US" dirty="0">
              <a:latin typeface="Arial" panose="020B0604020202020204" pitchFamily="34" charset="0"/>
              <a:ea typeface="微软雅黑" panose="020B0503020204020204" charset="-122"/>
              <a:sym typeface="Arial" panose="020B0604020202020204" pitchFamily="34" charset="0"/>
            </a:endParaRPr>
          </a:p>
        </p:txBody>
      </p:sp>
      <p:pic>
        <p:nvPicPr>
          <p:cNvPr id="5" name="图片 4"/>
          <p:cNvPicPr>
            <a:picLocks noChangeAspect="1"/>
          </p:cNvPicPr>
          <p:nvPr/>
        </p:nvPicPr>
        <p:blipFill rotWithShape="1">
          <a:blip r:embed="rId3"/>
          <a:srcRect b="660"/>
          <a:stretch>
            <a:fillRect/>
          </a:stretch>
        </p:blipFill>
        <p:spPr>
          <a:xfrm>
            <a:off x="3139425" y="1927824"/>
            <a:ext cx="5517354" cy="3137701"/>
          </a:xfrm>
          <a:prstGeom prst="rect">
            <a:avLst/>
          </a:prstGeom>
          <a:effectLst>
            <a:outerShdw blurRad="50800" dist="38100" dir="5400000" algn="t" rotWithShape="0">
              <a:prstClr val="black">
                <a:alpha val="40000"/>
              </a:prstClr>
            </a:outerShdw>
          </a:effectLst>
        </p:spPr>
      </p:pic>
      <p:sp>
        <p:nvSpPr>
          <p:cNvPr id="27" name="矩形 26"/>
          <p:cNvSpPr/>
          <p:nvPr/>
        </p:nvSpPr>
        <p:spPr>
          <a:xfrm>
            <a:off x="3135498" y="2020146"/>
            <a:ext cx="5498414" cy="304538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1" name="组合 30"/>
          <p:cNvGrpSpPr/>
          <p:nvPr/>
        </p:nvGrpSpPr>
        <p:grpSpPr>
          <a:xfrm>
            <a:off x="3715158" y="2804525"/>
            <a:ext cx="3628833" cy="257290"/>
            <a:chOff x="3715158" y="2804525"/>
            <a:chExt cx="3628833" cy="257290"/>
          </a:xfrm>
        </p:grpSpPr>
        <p:sp>
          <p:nvSpPr>
            <p:cNvPr id="8" name="矩形: 圆角 7"/>
            <p:cNvSpPr/>
            <p:nvPr/>
          </p:nvSpPr>
          <p:spPr>
            <a:xfrm>
              <a:off x="6558046" y="2804525"/>
              <a:ext cx="785945" cy="25729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对象系统</a:t>
              </a:r>
            </a:p>
          </p:txBody>
        </p:sp>
        <p:sp>
          <p:nvSpPr>
            <p:cNvPr id="2" name="矩形: 圆角 1"/>
            <p:cNvSpPr/>
            <p:nvPr/>
          </p:nvSpPr>
          <p:spPr>
            <a:xfrm>
              <a:off x="3715158" y="2804525"/>
              <a:ext cx="785945" cy="25729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主动系统</a:t>
              </a:r>
            </a:p>
          </p:txBody>
        </p:sp>
      </p:grpSp>
      <p:sp>
        <p:nvSpPr>
          <p:cNvPr id="28" name="文本框 27"/>
          <p:cNvSpPr txBox="1"/>
          <p:nvPr/>
        </p:nvSpPr>
        <p:spPr>
          <a:xfrm>
            <a:off x="119063" y="823242"/>
            <a:ext cx="11772899" cy="874407"/>
          </a:xfrm>
          <a:prstGeom prst="rect">
            <a:avLst/>
          </a:prstGeom>
          <a:noFill/>
        </p:spPr>
        <p:txBody>
          <a:bodyPr wrap="square" rtlCol="0">
            <a:spAutoFit/>
          </a:bodyPr>
          <a:lstStyle/>
          <a:p>
            <a:pPr>
              <a:lnSpc>
                <a:spcPct val="150000"/>
              </a:lnSpc>
            </a:pPr>
            <a:r>
              <a:rPr lang="en-US" altLang="zh-CN" sz="1800" kern="100" dirty="0">
                <a:effectLst/>
                <a:latin typeface="微软雅黑" panose="020B0503020204020204" charset="-122"/>
                <a:ea typeface="微软雅黑" panose="020B0503020204020204" charset="-122"/>
                <a:cs typeface="Times New Roman" panose="02020603050405020304" pitchFamily="18" charset="0"/>
              </a:rPr>
              <a:t>       </a:t>
            </a:r>
            <a:r>
              <a:rPr lang="zh-CN" altLang="zh-CN" sz="1800" kern="100" dirty="0">
                <a:effectLst/>
                <a:latin typeface="微软雅黑" panose="020B0503020204020204" charset="-122"/>
                <a:ea typeface="微软雅黑" panose="020B0503020204020204" charset="-122"/>
                <a:cs typeface="Times New Roman" panose="02020603050405020304" pitchFamily="18" charset="0"/>
              </a:rPr>
              <a:t>人类经济社会活动中涉及的两系统（主动系统、对象系统）以及两系统中的主体、行为、客体、时间、空间等五要素、问题、目标、事实、知识、任务共同构成人类经济社会活动的基本模式</a:t>
            </a:r>
            <a:r>
              <a:rPr lang="zh-CN" altLang="en-US" kern="100" dirty="0">
                <a:latin typeface="微软雅黑" panose="020B0503020204020204" charset="-122"/>
                <a:ea typeface="微软雅黑" panose="020B0503020204020204" charset="-122"/>
                <a:cs typeface="Times New Roman" panose="02020603050405020304" pitchFamily="18" charset="0"/>
              </a:rPr>
              <a:t>，</a:t>
            </a:r>
            <a:r>
              <a:rPr lang="zh-CN" altLang="zh-CN" sz="1800" kern="100" dirty="0">
                <a:effectLst/>
                <a:latin typeface="微软雅黑" panose="020B0503020204020204" charset="-122"/>
                <a:ea typeface="微软雅黑" panose="020B0503020204020204" charset="-122"/>
                <a:cs typeface="Times New Roman" panose="02020603050405020304" pitchFamily="18" charset="0"/>
              </a:rPr>
              <a:t>即任务范式的基本要素。</a:t>
            </a:r>
            <a:endParaRPr lang="zh-CN" altLang="en-US" dirty="0">
              <a:latin typeface="微软雅黑" panose="020B0503020204020204" charset="-122"/>
              <a:ea typeface="微软雅黑" panose="020B0503020204020204" charset="-122"/>
            </a:endParaRPr>
          </a:p>
        </p:txBody>
      </p:sp>
      <p:cxnSp>
        <p:nvCxnSpPr>
          <p:cNvPr id="39" name="连接符: 曲线 38"/>
          <p:cNvCxnSpPr>
            <a:stCxn id="2" idx="2"/>
            <a:endCxn id="8" idx="2"/>
          </p:cNvCxnSpPr>
          <p:nvPr/>
        </p:nvCxnSpPr>
        <p:spPr>
          <a:xfrm rot="16200000" flipH="1">
            <a:off x="5529575" y="1640371"/>
            <a:ext cx="12700" cy="2842888"/>
          </a:xfrm>
          <a:prstGeom prst="curvedConnector3">
            <a:avLst>
              <a:gd name="adj1" fmla="val 5339394"/>
            </a:avLst>
          </a:prstGeom>
          <a:ln w="28575">
            <a:solidFill>
              <a:schemeClr val="accent3"/>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4844790" y="3822687"/>
            <a:ext cx="1337626" cy="28944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100">
                <a:solidFill>
                  <a:schemeClr val="lt1"/>
                </a:solidFill>
                <a:latin typeface="微软雅黑" panose="020B0503020204020204" charset="-122"/>
                <a:ea typeface="微软雅黑" panose="020B050302020402020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互作用、强相关</a:t>
            </a:r>
          </a:p>
        </p:txBody>
      </p:sp>
      <p:sp>
        <p:nvSpPr>
          <p:cNvPr id="44" name="椭圆 43"/>
          <p:cNvSpPr/>
          <p:nvPr/>
        </p:nvSpPr>
        <p:spPr>
          <a:xfrm>
            <a:off x="4413897" y="3701214"/>
            <a:ext cx="532385" cy="532385"/>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宏观</a:t>
            </a:r>
          </a:p>
        </p:txBody>
      </p:sp>
      <p:sp>
        <p:nvSpPr>
          <p:cNvPr id="83" name="椭圆 82"/>
          <p:cNvSpPr/>
          <p:nvPr/>
        </p:nvSpPr>
        <p:spPr>
          <a:xfrm>
            <a:off x="4485244" y="1820049"/>
            <a:ext cx="2056943" cy="1900499"/>
          </a:xfrm>
          <a:prstGeom prst="ellips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latin typeface="微软雅黑" panose="020B0503020204020204" charset="-122"/>
                <a:ea typeface="微软雅黑" panose="020B0503020204020204" charset="-122"/>
              </a:rPr>
              <a:t>特定任务场景</a:t>
            </a:r>
            <a:endParaRPr lang="en-US" altLang="zh-CN" sz="1100" b="1" dirty="0">
              <a:latin typeface="微软雅黑" panose="020B0503020204020204" charset="-122"/>
              <a:ea typeface="微软雅黑" panose="020B0503020204020204" charset="-122"/>
            </a:endParaRPr>
          </a:p>
          <a:p>
            <a:pPr algn="ctr"/>
            <a:endParaRPr lang="en-US" altLang="zh-CN" sz="1100" dirty="0">
              <a:latin typeface="微软雅黑" panose="020B0503020204020204" charset="-122"/>
              <a:ea typeface="微软雅黑" panose="020B0503020204020204" charset="-122"/>
            </a:endParaRPr>
          </a:p>
          <a:p>
            <a:pPr algn="ctr"/>
            <a:endParaRPr lang="en-US" altLang="zh-CN" sz="1100" dirty="0">
              <a:latin typeface="微软雅黑" panose="020B0503020204020204" charset="-122"/>
              <a:ea typeface="微软雅黑" panose="020B0503020204020204" charset="-122"/>
            </a:endParaRPr>
          </a:p>
          <a:p>
            <a:pPr algn="ctr"/>
            <a:endParaRPr lang="en-US" altLang="zh-CN" sz="1100" dirty="0">
              <a:latin typeface="微软雅黑" panose="020B0503020204020204" charset="-122"/>
              <a:ea typeface="微软雅黑" panose="020B0503020204020204" charset="-122"/>
            </a:endParaRPr>
          </a:p>
          <a:p>
            <a:pPr algn="ctr"/>
            <a:endParaRPr lang="en-US" altLang="zh-CN" sz="1100" dirty="0">
              <a:latin typeface="微软雅黑" panose="020B0503020204020204" charset="-122"/>
              <a:ea typeface="微软雅黑" panose="020B0503020204020204" charset="-122"/>
            </a:endParaRPr>
          </a:p>
          <a:p>
            <a:pPr algn="ctr"/>
            <a:endParaRPr lang="en-US" altLang="zh-CN" sz="1100" dirty="0">
              <a:latin typeface="微软雅黑" panose="020B0503020204020204" charset="-122"/>
              <a:ea typeface="微软雅黑" panose="020B0503020204020204" charset="-122"/>
            </a:endParaRPr>
          </a:p>
          <a:p>
            <a:pPr algn="ctr"/>
            <a:endParaRPr lang="en-US" altLang="zh-CN" sz="1100" dirty="0">
              <a:latin typeface="微软雅黑" panose="020B0503020204020204" charset="-122"/>
              <a:ea typeface="微软雅黑" panose="020B0503020204020204" charset="-122"/>
            </a:endParaRPr>
          </a:p>
          <a:p>
            <a:pPr algn="ctr"/>
            <a:endParaRPr lang="en-US" altLang="zh-CN" sz="1100" dirty="0">
              <a:latin typeface="微软雅黑" panose="020B0503020204020204" charset="-122"/>
              <a:ea typeface="微软雅黑" panose="020B0503020204020204" charset="-122"/>
            </a:endParaRPr>
          </a:p>
          <a:p>
            <a:pPr algn="ctr"/>
            <a:endParaRPr lang="zh-CN" altLang="en-US" sz="1100" dirty="0">
              <a:latin typeface="微软雅黑" panose="020B0503020204020204" charset="-122"/>
              <a:ea typeface="微软雅黑" panose="020B0503020204020204" charset="-122"/>
            </a:endParaRPr>
          </a:p>
        </p:txBody>
      </p:sp>
      <p:sp>
        <p:nvSpPr>
          <p:cNvPr id="48" name="椭圆 47"/>
          <p:cNvSpPr/>
          <p:nvPr/>
        </p:nvSpPr>
        <p:spPr>
          <a:xfrm>
            <a:off x="6074465" y="3695414"/>
            <a:ext cx="532385" cy="532385"/>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微观</a:t>
            </a:r>
          </a:p>
        </p:txBody>
      </p:sp>
      <p:sp>
        <p:nvSpPr>
          <p:cNvPr id="54" name="对话气泡: 圆角矩形 53"/>
          <p:cNvSpPr/>
          <p:nvPr/>
        </p:nvSpPr>
        <p:spPr>
          <a:xfrm>
            <a:off x="3266427" y="1802648"/>
            <a:ext cx="4321520" cy="610077"/>
          </a:xfrm>
          <a:prstGeom prst="wedgeRoundRectCallout">
            <a:avLst>
              <a:gd name="adj1" fmla="val -10672"/>
              <a:gd name="adj2" fmla="val 83898"/>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主动系统的使命即解决对象系统的问题、改善对象系统的状态、满足对象系统的诉求，其使命决定了主动系统存在的理由和价值。</a:t>
            </a:r>
          </a:p>
        </p:txBody>
      </p:sp>
      <p:grpSp>
        <p:nvGrpSpPr>
          <p:cNvPr id="67" name="组合 66"/>
          <p:cNvGrpSpPr/>
          <p:nvPr/>
        </p:nvGrpSpPr>
        <p:grpSpPr>
          <a:xfrm>
            <a:off x="4501103" y="2663664"/>
            <a:ext cx="2056943" cy="535698"/>
            <a:chOff x="4501103" y="2663664"/>
            <a:chExt cx="2056943" cy="535698"/>
          </a:xfrm>
        </p:grpSpPr>
        <p:grpSp>
          <p:nvGrpSpPr>
            <p:cNvPr id="56" name="组合 55"/>
            <p:cNvGrpSpPr/>
            <p:nvPr/>
          </p:nvGrpSpPr>
          <p:grpSpPr>
            <a:xfrm>
              <a:off x="4501103" y="2666977"/>
              <a:ext cx="2056943" cy="532385"/>
              <a:chOff x="4501103" y="2666977"/>
              <a:chExt cx="2056943" cy="532385"/>
            </a:xfrm>
          </p:grpSpPr>
          <p:sp>
            <p:nvSpPr>
              <p:cNvPr id="55" name="椭圆 54"/>
              <p:cNvSpPr/>
              <p:nvPr/>
            </p:nvSpPr>
            <p:spPr>
              <a:xfrm>
                <a:off x="4700208" y="2666977"/>
                <a:ext cx="532385" cy="532385"/>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使命</a:t>
                </a:r>
              </a:p>
            </p:txBody>
          </p:sp>
          <p:cxnSp>
            <p:nvCxnSpPr>
              <p:cNvPr id="49" name="直接箭头连接符 48"/>
              <p:cNvCxnSpPr/>
              <p:nvPr/>
            </p:nvCxnSpPr>
            <p:spPr>
              <a:xfrm>
                <a:off x="4501103" y="2933169"/>
                <a:ext cx="199105" cy="0"/>
              </a:xfrm>
              <a:prstGeom prst="straightConnector1">
                <a:avLst/>
              </a:prstGeom>
              <a:ln w="28575">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5232593" y="2933169"/>
                <a:ext cx="1325453" cy="0"/>
              </a:xfrm>
              <a:prstGeom prst="straightConnector1">
                <a:avLst/>
              </a:prstGeom>
              <a:ln w="28575">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66" name="文本框 65"/>
            <p:cNvSpPr txBox="1"/>
            <p:nvPr/>
          </p:nvSpPr>
          <p:spPr>
            <a:xfrm>
              <a:off x="5378224" y="2663664"/>
              <a:ext cx="1093247" cy="261610"/>
            </a:xfrm>
            <a:prstGeom prst="rect">
              <a:avLst/>
            </a:prstGeom>
            <a:noFill/>
          </p:spPr>
          <p:txBody>
            <a:bodyPr wrap="square" rtlCol="0">
              <a:spAutoFit/>
            </a:bodyPr>
            <a:lstStyle/>
            <a:p>
              <a:r>
                <a:rPr lang="zh-CN" altLang="en-US" sz="1100" b="1" dirty="0">
                  <a:solidFill>
                    <a:schemeClr val="accent2"/>
                  </a:solidFill>
                  <a:latin typeface="微软雅黑" panose="020B0503020204020204" charset="-122"/>
                  <a:ea typeface="微软雅黑" panose="020B0503020204020204" charset="-122"/>
                </a:rPr>
                <a:t>决定采取行为</a:t>
              </a:r>
            </a:p>
          </p:txBody>
        </p:sp>
      </p:grpSp>
      <p:grpSp>
        <p:nvGrpSpPr>
          <p:cNvPr id="9" name="组合 8"/>
          <p:cNvGrpSpPr/>
          <p:nvPr/>
        </p:nvGrpSpPr>
        <p:grpSpPr>
          <a:xfrm>
            <a:off x="4468989" y="2286595"/>
            <a:ext cx="2025226" cy="1276634"/>
            <a:chOff x="5891701" y="-253425"/>
            <a:chExt cx="2025226" cy="1276634"/>
          </a:xfrm>
        </p:grpSpPr>
        <p:grpSp>
          <p:nvGrpSpPr>
            <p:cNvPr id="105" name="组合 104"/>
            <p:cNvGrpSpPr/>
            <p:nvPr/>
          </p:nvGrpSpPr>
          <p:grpSpPr>
            <a:xfrm>
              <a:off x="5891701" y="-243869"/>
              <a:ext cx="948397" cy="1267078"/>
              <a:chOff x="4501103" y="2289999"/>
              <a:chExt cx="948397" cy="1267078"/>
            </a:xfrm>
          </p:grpSpPr>
          <p:grpSp>
            <p:nvGrpSpPr>
              <p:cNvPr id="71" name="组合 70"/>
              <p:cNvGrpSpPr/>
              <p:nvPr/>
            </p:nvGrpSpPr>
            <p:grpSpPr>
              <a:xfrm>
                <a:off x="4743224" y="2289999"/>
                <a:ext cx="706276" cy="1267078"/>
                <a:chOff x="4291516" y="2619699"/>
                <a:chExt cx="706276" cy="1267078"/>
              </a:xfrm>
            </p:grpSpPr>
            <p:sp>
              <p:nvSpPr>
                <p:cNvPr id="77" name="椭圆 76"/>
                <p:cNvSpPr/>
                <p:nvPr/>
              </p:nvSpPr>
              <p:spPr>
                <a:xfrm>
                  <a:off x="4291516" y="3371861"/>
                  <a:ext cx="524271" cy="514916"/>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latin typeface="微软雅黑" panose="020B0503020204020204" charset="-122"/>
                      <a:ea typeface="微软雅黑" panose="020B0503020204020204" charset="-122"/>
                    </a:rPr>
                    <a:t>…</a:t>
                  </a:r>
                  <a:endParaRPr lang="zh-CN" altLang="en-US" sz="900" dirty="0">
                    <a:latin typeface="微软雅黑" panose="020B0503020204020204" charset="-122"/>
                    <a:ea typeface="微软雅黑" panose="020B0503020204020204" charset="-122"/>
                  </a:endParaRPr>
                </a:p>
              </p:txBody>
            </p:sp>
            <p:sp>
              <p:nvSpPr>
                <p:cNvPr id="72" name="椭圆 71"/>
                <p:cNvSpPr/>
                <p:nvPr/>
              </p:nvSpPr>
              <p:spPr>
                <a:xfrm>
                  <a:off x="4473521" y="3033043"/>
                  <a:ext cx="524271" cy="514916"/>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dirty="0">
                      <a:latin typeface="微软雅黑" panose="020B0503020204020204" charset="-122"/>
                      <a:ea typeface="微软雅黑" panose="020B0503020204020204" charset="-122"/>
                    </a:rPr>
                    <a:t>资源</a:t>
                  </a:r>
                </a:p>
              </p:txBody>
            </p:sp>
            <p:sp>
              <p:nvSpPr>
                <p:cNvPr id="68" name="椭圆 67"/>
                <p:cNvSpPr/>
                <p:nvPr/>
              </p:nvSpPr>
              <p:spPr>
                <a:xfrm>
                  <a:off x="4353589" y="2619699"/>
                  <a:ext cx="524271" cy="514916"/>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dirty="0">
                      <a:latin typeface="微软雅黑" panose="020B0503020204020204" charset="-122"/>
                      <a:ea typeface="微软雅黑" panose="020B0503020204020204" charset="-122"/>
                    </a:rPr>
                    <a:t>方案</a:t>
                  </a:r>
                </a:p>
              </p:txBody>
            </p:sp>
          </p:grpSp>
          <p:cxnSp>
            <p:nvCxnSpPr>
              <p:cNvPr id="76" name="直接箭头连接符 75"/>
              <p:cNvCxnSpPr>
                <a:stCxn id="2" idx="3"/>
                <a:endCxn id="68" idx="3"/>
              </p:cNvCxnSpPr>
              <p:nvPr/>
            </p:nvCxnSpPr>
            <p:spPr>
              <a:xfrm flipV="1">
                <a:off x="4501103" y="2729507"/>
                <a:ext cx="380972" cy="203663"/>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a:stCxn id="2" idx="3"/>
                <a:endCxn id="72" idx="2"/>
              </p:cNvCxnSpPr>
              <p:nvPr/>
            </p:nvCxnSpPr>
            <p:spPr>
              <a:xfrm>
                <a:off x="4501103" y="2933170"/>
                <a:ext cx="424126" cy="27631"/>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a:stCxn id="2" idx="3"/>
                <a:endCxn id="77" idx="1"/>
              </p:cNvCxnSpPr>
              <p:nvPr/>
            </p:nvCxnSpPr>
            <p:spPr>
              <a:xfrm>
                <a:off x="4501103" y="2933170"/>
                <a:ext cx="318899" cy="184399"/>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6" name="组合 105"/>
            <p:cNvGrpSpPr/>
            <p:nvPr/>
          </p:nvGrpSpPr>
          <p:grpSpPr>
            <a:xfrm>
              <a:off x="6977759" y="-253425"/>
              <a:ext cx="939168" cy="1244449"/>
              <a:chOff x="5587161" y="2280443"/>
              <a:chExt cx="939168" cy="1244449"/>
            </a:xfrm>
          </p:grpSpPr>
          <p:grpSp>
            <p:nvGrpSpPr>
              <p:cNvPr id="69" name="组合 68"/>
              <p:cNvGrpSpPr/>
              <p:nvPr/>
            </p:nvGrpSpPr>
            <p:grpSpPr>
              <a:xfrm>
                <a:off x="5587161" y="2280443"/>
                <a:ext cx="701342" cy="1244449"/>
                <a:chOff x="5949675" y="2252736"/>
                <a:chExt cx="701342" cy="1244449"/>
              </a:xfrm>
            </p:grpSpPr>
            <p:sp>
              <p:nvSpPr>
                <p:cNvPr id="82" name="椭圆 81"/>
                <p:cNvSpPr/>
                <p:nvPr/>
              </p:nvSpPr>
              <p:spPr>
                <a:xfrm>
                  <a:off x="6126746" y="2982269"/>
                  <a:ext cx="524271" cy="514916"/>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latin typeface="微软雅黑" panose="020B0503020204020204" charset="-122"/>
                      <a:ea typeface="微软雅黑" panose="020B0503020204020204" charset="-122"/>
                    </a:rPr>
                    <a:t>…</a:t>
                  </a:r>
                  <a:endParaRPr lang="zh-CN" altLang="en-US" sz="900" dirty="0">
                    <a:latin typeface="微软雅黑" panose="020B0503020204020204" charset="-122"/>
                    <a:ea typeface="微软雅黑" panose="020B0503020204020204" charset="-122"/>
                  </a:endParaRPr>
                </a:p>
              </p:txBody>
            </p:sp>
            <p:sp>
              <p:nvSpPr>
                <p:cNvPr id="73" name="椭圆 72"/>
                <p:cNvSpPr/>
                <p:nvPr/>
              </p:nvSpPr>
              <p:spPr>
                <a:xfrm>
                  <a:off x="5949675" y="2638898"/>
                  <a:ext cx="524271" cy="514916"/>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dirty="0">
                      <a:latin typeface="微软雅黑" panose="020B0503020204020204" charset="-122"/>
                      <a:ea typeface="微软雅黑" panose="020B0503020204020204" charset="-122"/>
                    </a:rPr>
                    <a:t>根源</a:t>
                  </a:r>
                </a:p>
              </p:txBody>
            </p:sp>
            <p:sp>
              <p:nvSpPr>
                <p:cNvPr id="74" name="椭圆 73"/>
                <p:cNvSpPr/>
                <p:nvPr/>
              </p:nvSpPr>
              <p:spPr>
                <a:xfrm>
                  <a:off x="6090383" y="2252736"/>
                  <a:ext cx="524271" cy="514916"/>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dirty="0">
                      <a:latin typeface="微软雅黑" panose="020B0503020204020204" charset="-122"/>
                      <a:ea typeface="微软雅黑" panose="020B0503020204020204" charset="-122"/>
                    </a:rPr>
                    <a:t>现象</a:t>
                  </a:r>
                </a:p>
              </p:txBody>
            </p:sp>
          </p:grpSp>
          <p:grpSp>
            <p:nvGrpSpPr>
              <p:cNvPr id="99" name="组合 98"/>
              <p:cNvGrpSpPr/>
              <p:nvPr/>
            </p:nvGrpSpPr>
            <p:grpSpPr>
              <a:xfrm flipH="1">
                <a:off x="6111421" y="2729499"/>
                <a:ext cx="414908" cy="355881"/>
                <a:chOff x="9022316" y="2981559"/>
                <a:chExt cx="163354" cy="248075"/>
              </a:xfrm>
            </p:grpSpPr>
            <p:cxnSp>
              <p:nvCxnSpPr>
                <p:cNvPr id="94" name="直接箭头连接符 93"/>
                <p:cNvCxnSpPr/>
                <p:nvPr/>
              </p:nvCxnSpPr>
              <p:spPr>
                <a:xfrm flipV="1">
                  <a:off x="9022316" y="2981559"/>
                  <a:ext cx="126269" cy="104011"/>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a:endCxn id="73" idx="6"/>
                </p:cNvCxnSpPr>
                <p:nvPr/>
              </p:nvCxnSpPr>
              <p:spPr>
                <a:xfrm>
                  <a:off x="9022316" y="3085570"/>
                  <a:ext cx="163354" cy="31609"/>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a:endCxn id="82" idx="7"/>
                </p:cNvCxnSpPr>
                <p:nvPr/>
              </p:nvCxnSpPr>
              <p:spPr>
                <a:xfrm>
                  <a:off x="9022316" y="3085570"/>
                  <a:ext cx="123863" cy="144064"/>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58" name="组合 157"/>
            <p:cNvGrpSpPr/>
            <p:nvPr/>
          </p:nvGrpSpPr>
          <p:grpSpPr>
            <a:xfrm>
              <a:off x="6658093" y="13589"/>
              <a:ext cx="496737" cy="732679"/>
              <a:chOff x="6658093" y="13589"/>
              <a:chExt cx="496737" cy="732679"/>
            </a:xfrm>
          </p:grpSpPr>
          <p:cxnSp>
            <p:nvCxnSpPr>
              <p:cNvPr id="153" name="直接箭头连接符 152"/>
              <p:cNvCxnSpPr>
                <a:stCxn id="68" idx="6"/>
                <a:endCxn id="73" idx="2"/>
              </p:cNvCxnSpPr>
              <p:nvPr/>
            </p:nvCxnSpPr>
            <p:spPr>
              <a:xfrm>
                <a:off x="6720166" y="13589"/>
                <a:ext cx="257593" cy="376606"/>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接箭头连接符 153"/>
              <p:cNvCxnSpPr>
                <a:stCxn id="72" idx="6"/>
                <a:endCxn id="73" idx="2"/>
              </p:cNvCxnSpPr>
              <p:nvPr/>
            </p:nvCxnSpPr>
            <p:spPr>
              <a:xfrm flipV="1">
                <a:off x="6840098" y="390195"/>
                <a:ext cx="137661" cy="3673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直接箭头连接符 158"/>
              <p:cNvCxnSpPr>
                <a:endCxn id="82" idx="2"/>
              </p:cNvCxnSpPr>
              <p:nvPr/>
            </p:nvCxnSpPr>
            <p:spPr>
              <a:xfrm flipV="1">
                <a:off x="6658093" y="733566"/>
                <a:ext cx="496737" cy="12702"/>
              </a:xfrm>
              <a:prstGeom prst="straightConnector1">
                <a:avLst/>
              </a:prstGeom>
              <a:ln>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grpSp>
      </p:grpSp>
      <p:grpSp>
        <p:nvGrpSpPr>
          <p:cNvPr id="164" name="组合 163"/>
          <p:cNvGrpSpPr/>
          <p:nvPr/>
        </p:nvGrpSpPr>
        <p:grpSpPr>
          <a:xfrm>
            <a:off x="6564962" y="3081809"/>
            <a:ext cx="882381" cy="1280985"/>
            <a:chOff x="6564962" y="3081809"/>
            <a:chExt cx="882381" cy="1280985"/>
          </a:xfrm>
        </p:grpSpPr>
        <p:sp>
          <p:nvSpPr>
            <p:cNvPr id="165" name="矩形: 圆角 164"/>
            <p:cNvSpPr/>
            <p:nvPr/>
          </p:nvSpPr>
          <p:spPr>
            <a:xfrm>
              <a:off x="7206770" y="3527252"/>
              <a:ext cx="240573" cy="4042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主体</a:t>
              </a:r>
            </a:p>
          </p:txBody>
        </p:sp>
        <p:sp>
          <p:nvSpPr>
            <p:cNvPr id="166" name="矩形: 圆角 165"/>
            <p:cNvSpPr/>
            <p:nvPr/>
          </p:nvSpPr>
          <p:spPr>
            <a:xfrm>
              <a:off x="6788398" y="3534232"/>
              <a:ext cx="240573" cy="4042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行为</a:t>
              </a:r>
            </a:p>
          </p:txBody>
        </p:sp>
        <p:sp>
          <p:nvSpPr>
            <p:cNvPr id="167" name="矩形: 圆角 166"/>
            <p:cNvSpPr/>
            <p:nvPr/>
          </p:nvSpPr>
          <p:spPr>
            <a:xfrm>
              <a:off x="6788397" y="3958510"/>
              <a:ext cx="240573" cy="4042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客体</a:t>
              </a:r>
            </a:p>
          </p:txBody>
        </p:sp>
        <p:sp>
          <p:nvSpPr>
            <p:cNvPr id="168" name="矩形: 圆角 167"/>
            <p:cNvSpPr/>
            <p:nvPr/>
          </p:nvSpPr>
          <p:spPr>
            <a:xfrm>
              <a:off x="6564962" y="3081809"/>
              <a:ext cx="240573" cy="4042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时间</a:t>
              </a:r>
            </a:p>
          </p:txBody>
        </p:sp>
        <p:sp>
          <p:nvSpPr>
            <p:cNvPr id="169" name="矩形: 圆角 168"/>
            <p:cNvSpPr/>
            <p:nvPr/>
          </p:nvSpPr>
          <p:spPr>
            <a:xfrm>
              <a:off x="7014468" y="3081809"/>
              <a:ext cx="240573" cy="4042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空间</a:t>
              </a:r>
            </a:p>
          </p:txBody>
        </p:sp>
      </p:grpSp>
      <p:grpSp>
        <p:nvGrpSpPr>
          <p:cNvPr id="170" name="组合 169"/>
          <p:cNvGrpSpPr/>
          <p:nvPr/>
        </p:nvGrpSpPr>
        <p:grpSpPr>
          <a:xfrm>
            <a:off x="3594871" y="3107466"/>
            <a:ext cx="844593" cy="1267257"/>
            <a:chOff x="3594871" y="3107466"/>
            <a:chExt cx="844593" cy="1267257"/>
          </a:xfrm>
        </p:grpSpPr>
        <p:sp>
          <p:nvSpPr>
            <p:cNvPr id="171" name="矩形: 圆角 170"/>
            <p:cNvSpPr/>
            <p:nvPr/>
          </p:nvSpPr>
          <p:spPr>
            <a:xfrm>
              <a:off x="3594871" y="3554226"/>
              <a:ext cx="240573" cy="4042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主体</a:t>
              </a:r>
            </a:p>
          </p:txBody>
        </p:sp>
        <p:sp>
          <p:nvSpPr>
            <p:cNvPr id="172" name="矩形: 圆角 171"/>
            <p:cNvSpPr/>
            <p:nvPr/>
          </p:nvSpPr>
          <p:spPr>
            <a:xfrm>
              <a:off x="3987843" y="3554226"/>
              <a:ext cx="240573" cy="4042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行为</a:t>
              </a:r>
            </a:p>
          </p:txBody>
        </p:sp>
        <p:sp>
          <p:nvSpPr>
            <p:cNvPr id="173" name="矩形: 圆角 172"/>
            <p:cNvSpPr/>
            <p:nvPr/>
          </p:nvSpPr>
          <p:spPr>
            <a:xfrm>
              <a:off x="3987842" y="3970439"/>
              <a:ext cx="240573" cy="4042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客体</a:t>
              </a:r>
            </a:p>
          </p:txBody>
        </p:sp>
        <p:sp>
          <p:nvSpPr>
            <p:cNvPr id="174" name="矩形: 圆角 173"/>
            <p:cNvSpPr/>
            <p:nvPr/>
          </p:nvSpPr>
          <p:spPr>
            <a:xfrm>
              <a:off x="3749385" y="3122967"/>
              <a:ext cx="240573" cy="4042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空间</a:t>
              </a:r>
            </a:p>
          </p:txBody>
        </p:sp>
        <p:sp>
          <p:nvSpPr>
            <p:cNvPr id="175" name="矩形: 圆角 174"/>
            <p:cNvSpPr/>
            <p:nvPr/>
          </p:nvSpPr>
          <p:spPr>
            <a:xfrm>
              <a:off x="4198891" y="3107466"/>
              <a:ext cx="240573" cy="4042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时间</a:t>
              </a:r>
            </a:p>
          </p:txBody>
        </p:sp>
      </p:grpSp>
      <p:grpSp>
        <p:nvGrpSpPr>
          <p:cNvPr id="6" name="组合 5"/>
          <p:cNvGrpSpPr/>
          <p:nvPr/>
        </p:nvGrpSpPr>
        <p:grpSpPr>
          <a:xfrm>
            <a:off x="119063" y="1927824"/>
            <a:ext cx="3596096" cy="1005347"/>
            <a:chOff x="119063" y="1927824"/>
            <a:chExt cx="3596096" cy="1005347"/>
          </a:xfrm>
        </p:grpSpPr>
        <p:sp>
          <p:nvSpPr>
            <p:cNvPr id="30" name="矩形: 圆角 29"/>
            <p:cNvSpPr/>
            <p:nvPr/>
          </p:nvSpPr>
          <p:spPr>
            <a:xfrm>
              <a:off x="119063" y="1927824"/>
              <a:ext cx="2852163" cy="78841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人类的任何任务是由两个系统建立起来的，施行行动、主导行动的一方是主动系统，</a:t>
              </a:r>
            </a:p>
          </p:txBody>
        </p:sp>
        <p:cxnSp>
          <p:nvCxnSpPr>
            <p:cNvPr id="198" name="连接符: 肘形 197"/>
            <p:cNvCxnSpPr>
              <a:stCxn id="2" idx="1"/>
              <a:endCxn id="30" idx="2"/>
            </p:cNvCxnSpPr>
            <p:nvPr/>
          </p:nvCxnSpPr>
          <p:spPr>
            <a:xfrm rot="10800000">
              <a:off x="1545146" y="2716236"/>
              <a:ext cx="2170013" cy="216935"/>
            </a:xfrm>
            <a:prstGeom prst="bentConnector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118100" y="3229278"/>
            <a:ext cx="3476772" cy="1458464"/>
            <a:chOff x="118100" y="3229278"/>
            <a:chExt cx="3476772" cy="1458464"/>
          </a:xfrm>
        </p:grpSpPr>
        <p:sp>
          <p:nvSpPr>
            <p:cNvPr id="178" name="矩形: 圆角 177"/>
            <p:cNvSpPr/>
            <p:nvPr/>
          </p:nvSpPr>
          <p:spPr>
            <a:xfrm>
              <a:off x="118100" y="3229278"/>
              <a:ext cx="2868926" cy="145846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主体在哲学上指对客体有认识和实践能力的人，根据</a:t>
              </a:r>
              <a:r>
                <a:rPr lang="en-US" altLang="zh-CN" sz="1100" dirty="0">
                  <a:latin typeface="微软雅黑" panose="020B0503020204020204" charset="-122"/>
                  <a:ea typeface="微软雅黑" panose="020B0503020204020204" charset="-122"/>
                </a:rPr>
                <a:t>《</a:t>
              </a:r>
              <a:r>
                <a:rPr lang="zh-CN" altLang="en-US" sz="1100" dirty="0">
                  <a:latin typeface="微软雅黑" panose="020B0503020204020204" charset="-122"/>
                  <a:ea typeface="微软雅黑" panose="020B0503020204020204" charset="-122"/>
                </a:rPr>
                <a:t>中国人民共和国民法总则（</a:t>
              </a:r>
              <a:r>
                <a:rPr lang="en-US" altLang="zh-CN" sz="1100" dirty="0">
                  <a:latin typeface="微软雅黑" panose="020B0503020204020204" charset="-122"/>
                  <a:ea typeface="微软雅黑" panose="020B0503020204020204" charset="-122"/>
                </a:rPr>
                <a:t>2017</a:t>
              </a:r>
              <a:r>
                <a:rPr lang="zh-CN" altLang="en-US" sz="1100" dirty="0">
                  <a:latin typeface="微软雅黑" panose="020B0503020204020204" charset="-122"/>
                  <a:ea typeface="微软雅黑" panose="020B0503020204020204" charset="-122"/>
                </a:rPr>
                <a:t>）</a:t>
              </a:r>
              <a:r>
                <a:rPr lang="en-US" altLang="zh-CN" sz="1100" dirty="0">
                  <a:latin typeface="微软雅黑" panose="020B0503020204020204" charset="-122"/>
                  <a:ea typeface="微软雅黑" panose="020B0503020204020204" charset="-122"/>
                </a:rPr>
                <a:t>》</a:t>
              </a:r>
              <a:r>
                <a:rPr lang="zh-CN" altLang="en-US" sz="1100" dirty="0">
                  <a:latin typeface="微软雅黑" panose="020B0503020204020204" charset="-122"/>
                  <a:ea typeface="微软雅黑" panose="020B0503020204020204" charset="-122"/>
                </a:rPr>
                <a:t>将主体划分为自然人、法人和非法人组织，领域知识工程学研究的主体以法人和自然人为主。</a:t>
              </a:r>
            </a:p>
          </p:txBody>
        </p:sp>
        <p:cxnSp>
          <p:nvCxnSpPr>
            <p:cNvPr id="199" name="连接符: 肘形 198"/>
            <p:cNvCxnSpPr>
              <a:stCxn id="171" idx="1"/>
              <a:endCxn id="178" idx="3"/>
            </p:cNvCxnSpPr>
            <p:nvPr/>
          </p:nvCxnSpPr>
          <p:spPr>
            <a:xfrm rot="10800000" flipV="1">
              <a:off x="2987027" y="3756368"/>
              <a:ext cx="607845" cy="202142"/>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7343991" y="1748407"/>
            <a:ext cx="4728946" cy="1184763"/>
            <a:chOff x="7343991" y="1748407"/>
            <a:chExt cx="4728946" cy="1184763"/>
          </a:xfrm>
        </p:grpSpPr>
        <p:sp>
          <p:nvSpPr>
            <p:cNvPr id="35" name="矩形: 圆角 34"/>
            <p:cNvSpPr/>
            <p:nvPr/>
          </p:nvSpPr>
          <p:spPr>
            <a:xfrm flipH="1">
              <a:off x="8920737" y="1748407"/>
              <a:ext cx="3152200" cy="9811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被动接受的一方是被动系统，被动系统呈现为主动系统的工作对象、任务对象、使命对象，它是主动系统的对象系统。</a:t>
              </a:r>
            </a:p>
          </p:txBody>
        </p:sp>
        <p:cxnSp>
          <p:nvCxnSpPr>
            <p:cNvPr id="206" name="连接符: 肘形 205"/>
            <p:cNvCxnSpPr>
              <a:stCxn id="8" idx="3"/>
              <a:endCxn id="35" idx="2"/>
            </p:cNvCxnSpPr>
            <p:nvPr/>
          </p:nvCxnSpPr>
          <p:spPr>
            <a:xfrm flipV="1">
              <a:off x="7343991" y="2729507"/>
              <a:ext cx="3152846" cy="203663"/>
            </a:xfrm>
            <a:prstGeom prst="bentConnector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3" name="组合 52"/>
          <p:cNvGrpSpPr/>
          <p:nvPr/>
        </p:nvGrpSpPr>
        <p:grpSpPr>
          <a:xfrm>
            <a:off x="3305975" y="4374723"/>
            <a:ext cx="4281972" cy="1892622"/>
            <a:chOff x="3305975" y="4374723"/>
            <a:chExt cx="4281972" cy="1892622"/>
          </a:xfrm>
        </p:grpSpPr>
        <p:sp>
          <p:nvSpPr>
            <p:cNvPr id="230" name="矩形: 圆角 229"/>
            <p:cNvSpPr/>
            <p:nvPr/>
          </p:nvSpPr>
          <p:spPr>
            <a:xfrm flipH="1">
              <a:off x="3305975" y="5286245"/>
              <a:ext cx="4281972" cy="9811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客体是主体为了解决特定问题（消除其根源、消解其症结）和达成特定目标（形成其条件），在一定时间、空间范围内利用、产生的物质和非物质资源（制度、政策）。</a:t>
              </a:r>
            </a:p>
          </p:txBody>
        </p:sp>
        <p:cxnSp>
          <p:nvCxnSpPr>
            <p:cNvPr id="232" name="连接符: 肘形 231"/>
            <p:cNvCxnSpPr>
              <a:stCxn id="173" idx="2"/>
              <a:endCxn id="230" idx="0"/>
            </p:cNvCxnSpPr>
            <p:nvPr/>
          </p:nvCxnSpPr>
          <p:spPr>
            <a:xfrm rot="16200000" flipH="1">
              <a:off x="4321784" y="4161068"/>
              <a:ext cx="911522" cy="1338832"/>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a:off x="6685249" y="3486093"/>
            <a:ext cx="5387686" cy="2781252"/>
            <a:chOff x="6685249" y="3486093"/>
            <a:chExt cx="5387686" cy="2781252"/>
          </a:xfrm>
        </p:grpSpPr>
        <p:sp>
          <p:nvSpPr>
            <p:cNvPr id="237" name="矩形: 圆角 236"/>
            <p:cNvSpPr/>
            <p:nvPr/>
          </p:nvSpPr>
          <p:spPr>
            <a:xfrm flipH="1">
              <a:off x="7847923" y="5286245"/>
              <a:ext cx="4225012" cy="9811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在现实世界中，时间是主体客体的存在、行为与运动、变化的持续性、顺序性的表现。时间分时点、时段。</a:t>
              </a:r>
            </a:p>
          </p:txBody>
        </p:sp>
        <p:cxnSp>
          <p:nvCxnSpPr>
            <p:cNvPr id="238" name="连接符: 肘形 237"/>
            <p:cNvCxnSpPr>
              <a:stCxn id="168" idx="2"/>
              <a:endCxn id="237" idx="0"/>
            </p:cNvCxnSpPr>
            <p:nvPr/>
          </p:nvCxnSpPr>
          <p:spPr>
            <a:xfrm rot="16200000" flipH="1">
              <a:off x="7422763" y="2748579"/>
              <a:ext cx="1800152" cy="3275180"/>
            </a:xfrm>
            <a:prstGeom prst="bentConnector3">
              <a:avLst>
                <a:gd name="adj1" fmla="val 6693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a:xfrm>
            <a:off x="7255041" y="3283951"/>
            <a:ext cx="4817893" cy="1245709"/>
            <a:chOff x="7255041" y="3283951"/>
            <a:chExt cx="4817893" cy="1245709"/>
          </a:xfrm>
        </p:grpSpPr>
        <p:sp>
          <p:nvSpPr>
            <p:cNvPr id="242" name="矩形: 圆角 241"/>
            <p:cNvSpPr/>
            <p:nvPr/>
          </p:nvSpPr>
          <p:spPr>
            <a:xfrm flipH="1">
              <a:off x="8920735" y="3374146"/>
              <a:ext cx="3152199" cy="115551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在领域知识工程学中，我们将空间划分为两种，一种是实体空间，即现实社会，人类经济社会活动开展的现实世界；另一种是数字空间、网络空间、赛博空间。</a:t>
              </a:r>
            </a:p>
          </p:txBody>
        </p:sp>
        <p:cxnSp>
          <p:nvCxnSpPr>
            <p:cNvPr id="243" name="连接符: 肘形 242"/>
            <p:cNvCxnSpPr>
              <a:stCxn id="169" idx="3"/>
              <a:endCxn id="242" idx="3"/>
            </p:cNvCxnSpPr>
            <p:nvPr/>
          </p:nvCxnSpPr>
          <p:spPr>
            <a:xfrm>
              <a:off x="7255041" y="3283951"/>
              <a:ext cx="1665694" cy="667952"/>
            </a:xfrm>
            <a:prstGeom prst="bentConnector3">
              <a:avLst>
                <a:gd name="adj1" fmla="val 36276"/>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3" name="组合 62"/>
          <p:cNvGrpSpPr/>
          <p:nvPr/>
        </p:nvGrpSpPr>
        <p:grpSpPr>
          <a:xfrm>
            <a:off x="177073" y="3747970"/>
            <a:ext cx="3810770" cy="2522485"/>
            <a:chOff x="177073" y="3747970"/>
            <a:chExt cx="3810770" cy="2522485"/>
          </a:xfrm>
        </p:grpSpPr>
        <p:cxnSp>
          <p:nvCxnSpPr>
            <p:cNvPr id="20" name="直接连接符 19"/>
            <p:cNvCxnSpPr>
              <a:endCxn id="172" idx="1"/>
            </p:cNvCxnSpPr>
            <p:nvPr/>
          </p:nvCxnSpPr>
          <p:spPr>
            <a:xfrm>
              <a:off x="3892550" y="3756368"/>
              <a:ext cx="95293"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2" name="组合 41"/>
            <p:cNvGrpSpPr/>
            <p:nvPr/>
          </p:nvGrpSpPr>
          <p:grpSpPr>
            <a:xfrm>
              <a:off x="177073" y="3747970"/>
              <a:ext cx="3732429" cy="2522485"/>
              <a:chOff x="177073" y="3747970"/>
              <a:chExt cx="3732429" cy="2522485"/>
            </a:xfrm>
          </p:grpSpPr>
          <p:sp>
            <p:nvSpPr>
              <p:cNvPr id="179" name="矩形: 圆角 178"/>
              <p:cNvSpPr/>
              <p:nvPr/>
            </p:nvSpPr>
            <p:spPr>
              <a:xfrm>
                <a:off x="177073" y="5230421"/>
                <a:ext cx="2868926" cy="104003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行为是指特定主体为解决特定问题、实现特定目标在特定时间、空间利用特定资源、手段，针对特定对象而开展的一系列操作。</a:t>
                </a:r>
              </a:p>
            </p:txBody>
          </p:sp>
          <p:grpSp>
            <p:nvGrpSpPr>
              <p:cNvPr id="41" name="组合 40"/>
              <p:cNvGrpSpPr/>
              <p:nvPr/>
            </p:nvGrpSpPr>
            <p:grpSpPr>
              <a:xfrm>
                <a:off x="1833577" y="3747970"/>
                <a:ext cx="2075925" cy="1482451"/>
                <a:chOff x="1833577" y="3747970"/>
                <a:chExt cx="2075925" cy="1482451"/>
              </a:xfrm>
            </p:grpSpPr>
            <p:cxnSp>
              <p:nvCxnSpPr>
                <p:cNvPr id="84" name="直接连接符 83"/>
                <p:cNvCxnSpPr/>
                <p:nvPr/>
              </p:nvCxnSpPr>
              <p:spPr>
                <a:xfrm flipV="1">
                  <a:off x="3905392" y="3747970"/>
                  <a:ext cx="0" cy="1226429"/>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V="1">
                  <a:off x="1833577" y="4963148"/>
                  <a:ext cx="2075925" cy="10999"/>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1844621" y="4960767"/>
                  <a:ext cx="0" cy="269654"/>
                </a:xfrm>
                <a:prstGeom prst="line">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par>
                                <p:cTn id="28" presetID="22" presetClass="entr" presetSubtype="4"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down)">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down)">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6"/>
                                        </p:tgtEl>
                                        <p:attrNameLst>
                                          <p:attrName>style.visibility</p:attrName>
                                        </p:attrNameLst>
                                      </p:cBhvr>
                                      <p:to>
                                        <p:strVal val="visible"/>
                                      </p:to>
                                    </p:set>
                                    <p:animEffect transition="in" filter="fade">
                                      <p:cBhvr>
                                        <p:cTn id="38" dur="500"/>
                                        <p:tgtEl>
                                          <p:spTgt spid="4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fade">
                                      <p:cBhvr>
                                        <p:cTn id="43" dur="500"/>
                                        <p:tgtEl>
                                          <p:spTgt spid="4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67"/>
                                        </p:tgtEl>
                                        <p:attrNameLst>
                                          <p:attrName>style.visibility</p:attrName>
                                        </p:attrNameLst>
                                      </p:cBhvr>
                                      <p:to>
                                        <p:strVal val="visible"/>
                                      </p:to>
                                    </p:set>
                                    <p:animEffect transition="in" filter="wipe(left)">
                                      <p:cBhvr>
                                        <p:cTn id="48" dur="500"/>
                                        <p:tgtEl>
                                          <p:spTgt spid="6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54"/>
                                        </p:tgtEl>
                                        <p:attrNameLst>
                                          <p:attrName>style.visibility</p:attrName>
                                        </p:attrNameLst>
                                      </p:cBhvr>
                                      <p:to>
                                        <p:strVal val="visible"/>
                                      </p:to>
                                    </p:set>
                                    <p:animEffect transition="in" filter="wipe(down)">
                                      <p:cBhvr>
                                        <p:cTn id="53" dur="500"/>
                                        <p:tgtEl>
                                          <p:spTgt spid="5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xit" presetSubtype="0" fill="hold" nodeType="clickEffect">
                                  <p:stCondLst>
                                    <p:cond delay="0"/>
                                  </p:stCondLst>
                                  <p:childTnLst>
                                    <p:animEffect transition="out" filter="fade">
                                      <p:cBhvr>
                                        <p:cTn id="57" dur="500"/>
                                        <p:tgtEl>
                                          <p:spTgt spid="67"/>
                                        </p:tgtEl>
                                      </p:cBhvr>
                                    </p:animEffect>
                                    <p:set>
                                      <p:cBhvr>
                                        <p:cTn id="58" dur="1" fill="hold">
                                          <p:stCondLst>
                                            <p:cond delay="499"/>
                                          </p:stCondLst>
                                        </p:cTn>
                                        <p:tgtEl>
                                          <p:spTgt spid="67"/>
                                        </p:tgtEl>
                                        <p:attrNameLst>
                                          <p:attrName>style.visibility</p:attrName>
                                        </p:attrNameLst>
                                      </p:cBhvr>
                                      <p:to>
                                        <p:strVal val="hidden"/>
                                      </p:to>
                                    </p:set>
                                  </p:childTnLst>
                                </p:cTn>
                              </p:par>
                              <p:par>
                                <p:cTn id="59" presetID="10" presetClass="exit" presetSubtype="0" fill="hold" grpId="1" nodeType="withEffect">
                                  <p:stCondLst>
                                    <p:cond delay="0"/>
                                  </p:stCondLst>
                                  <p:childTnLst>
                                    <p:animEffect transition="out" filter="fade">
                                      <p:cBhvr>
                                        <p:cTn id="60" dur="500"/>
                                        <p:tgtEl>
                                          <p:spTgt spid="54"/>
                                        </p:tgtEl>
                                      </p:cBhvr>
                                    </p:animEffect>
                                    <p:set>
                                      <p:cBhvr>
                                        <p:cTn id="61" dur="1" fill="hold">
                                          <p:stCondLst>
                                            <p:cond delay="499"/>
                                          </p:stCondLst>
                                        </p:cTn>
                                        <p:tgtEl>
                                          <p:spTgt spid="54"/>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fade">
                                      <p:cBhvr>
                                        <p:cTn id="66" dur="500"/>
                                        <p:tgtEl>
                                          <p:spTgt spid="48"/>
                                        </p:tgtEl>
                                      </p:cBhvr>
                                    </p:animEffect>
                                  </p:childTnLst>
                                </p:cTn>
                              </p:par>
                            </p:childTnLst>
                          </p:cTn>
                        </p:par>
                      </p:childTnLst>
                    </p:cTn>
                  </p:par>
                  <p:par>
                    <p:cTn id="67" fill="hold">
                      <p:stCondLst>
                        <p:cond delay="indefinite"/>
                      </p:stCondLst>
                      <p:childTnLst>
                        <p:par>
                          <p:cTn id="68" fill="hold">
                            <p:stCondLst>
                              <p:cond delay="0"/>
                            </p:stCondLst>
                            <p:childTnLst>
                              <p:par>
                                <p:cTn id="69" presetID="21" presetClass="entr" presetSubtype="4" fill="hold" grpId="0" nodeType="clickEffect">
                                  <p:stCondLst>
                                    <p:cond delay="0"/>
                                  </p:stCondLst>
                                  <p:childTnLst>
                                    <p:set>
                                      <p:cBhvr>
                                        <p:cTn id="70" dur="1" fill="hold">
                                          <p:stCondLst>
                                            <p:cond delay="0"/>
                                          </p:stCondLst>
                                        </p:cTn>
                                        <p:tgtEl>
                                          <p:spTgt spid="83"/>
                                        </p:tgtEl>
                                        <p:attrNameLst>
                                          <p:attrName>style.visibility</p:attrName>
                                        </p:attrNameLst>
                                      </p:cBhvr>
                                      <p:to>
                                        <p:strVal val="visible"/>
                                      </p:to>
                                    </p:set>
                                    <p:animEffect transition="in" filter="wheel(4)">
                                      <p:cBhvr>
                                        <p:cTn id="71" dur="1000"/>
                                        <p:tgtEl>
                                          <p:spTgt spid="83"/>
                                        </p:tgtEl>
                                      </p:cBhvr>
                                    </p:animEffect>
                                  </p:childTnLst>
                                </p:cTn>
                              </p:par>
                            </p:childTnLst>
                          </p:cTn>
                        </p:par>
                      </p:childTnLst>
                    </p:cTn>
                  </p:par>
                  <p:par>
                    <p:cTn id="72" fill="hold">
                      <p:stCondLst>
                        <p:cond delay="indefinite"/>
                      </p:stCondLst>
                      <p:childTnLst>
                        <p:par>
                          <p:cTn id="73" fill="hold">
                            <p:stCondLst>
                              <p:cond delay="0"/>
                            </p:stCondLst>
                            <p:childTnLst>
                              <p:par>
                                <p:cTn id="74" presetID="16" presetClass="entr" presetSubtype="21" fill="hold" nodeType="clickEffect">
                                  <p:stCondLst>
                                    <p:cond delay="0"/>
                                  </p:stCondLst>
                                  <p:childTnLst>
                                    <p:set>
                                      <p:cBhvr>
                                        <p:cTn id="75" dur="1" fill="hold">
                                          <p:stCondLst>
                                            <p:cond delay="0"/>
                                          </p:stCondLst>
                                        </p:cTn>
                                        <p:tgtEl>
                                          <p:spTgt spid="9"/>
                                        </p:tgtEl>
                                        <p:attrNameLst>
                                          <p:attrName>style.visibility</p:attrName>
                                        </p:attrNameLst>
                                      </p:cBhvr>
                                      <p:to>
                                        <p:strVal val="visible"/>
                                      </p:to>
                                    </p:set>
                                    <p:animEffect transition="in" filter="barn(inVertical)">
                                      <p:cBhvr>
                                        <p:cTn id="76" dur="500"/>
                                        <p:tgtEl>
                                          <p:spTgt spid="9"/>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xit" presetSubtype="0" fill="hold" grpId="1" nodeType="clickEffect">
                                  <p:stCondLst>
                                    <p:cond delay="0"/>
                                  </p:stCondLst>
                                  <p:childTnLst>
                                    <p:animEffect transition="out" filter="fade">
                                      <p:cBhvr>
                                        <p:cTn id="80" dur="500"/>
                                        <p:tgtEl>
                                          <p:spTgt spid="83"/>
                                        </p:tgtEl>
                                      </p:cBhvr>
                                    </p:animEffect>
                                    <p:set>
                                      <p:cBhvr>
                                        <p:cTn id="81" dur="1" fill="hold">
                                          <p:stCondLst>
                                            <p:cond delay="499"/>
                                          </p:stCondLst>
                                        </p:cTn>
                                        <p:tgtEl>
                                          <p:spTgt spid="83"/>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500"/>
                                        <p:tgtEl>
                                          <p:spTgt spid="9"/>
                                        </p:tgtEl>
                                      </p:cBhvr>
                                    </p:animEffect>
                                    <p:set>
                                      <p:cBhvr>
                                        <p:cTn id="84" dur="1" fill="hold">
                                          <p:stCondLst>
                                            <p:cond delay="499"/>
                                          </p:stCondLst>
                                        </p:cTn>
                                        <p:tgtEl>
                                          <p:spTgt spid="9"/>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170"/>
                                        </p:tgtEl>
                                        <p:attrNameLst>
                                          <p:attrName>style.visibility</p:attrName>
                                        </p:attrNameLst>
                                      </p:cBhvr>
                                      <p:to>
                                        <p:strVal val="visible"/>
                                      </p:to>
                                    </p:set>
                                    <p:animEffect transition="in" filter="fade">
                                      <p:cBhvr>
                                        <p:cTn id="89" dur="500"/>
                                        <p:tgtEl>
                                          <p:spTgt spid="170"/>
                                        </p:tgtEl>
                                      </p:cBhvr>
                                    </p:animEffect>
                                  </p:childTnLst>
                                </p:cTn>
                              </p:par>
                              <p:par>
                                <p:cTn id="90" presetID="10" presetClass="entr" presetSubtype="0" fill="hold" nodeType="withEffect">
                                  <p:stCondLst>
                                    <p:cond delay="0"/>
                                  </p:stCondLst>
                                  <p:childTnLst>
                                    <p:set>
                                      <p:cBhvr>
                                        <p:cTn id="91" dur="1" fill="hold">
                                          <p:stCondLst>
                                            <p:cond delay="0"/>
                                          </p:stCondLst>
                                        </p:cTn>
                                        <p:tgtEl>
                                          <p:spTgt spid="164"/>
                                        </p:tgtEl>
                                        <p:attrNameLst>
                                          <p:attrName>style.visibility</p:attrName>
                                        </p:attrNameLst>
                                      </p:cBhvr>
                                      <p:to>
                                        <p:strVal val="visible"/>
                                      </p:to>
                                    </p:set>
                                    <p:animEffect transition="in" filter="fade">
                                      <p:cBhvr>
                                        <p:cTn id="92" dur="500"/>
                                        <p:tgtEl>
                                          <p:spTgt spid="164"/>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2" fill="hold" nodeType="clickEffect">
                                  <p:stCondLst>
                                    <p:cond delay="0"/>
                                  </p:stCondLst>
                                  <p:childTnLst>
                                    <p:set>
                                      <p:cBhvr>
                                        <p:cTn id="96" dur="1" fill="hold">
                                          <p:stCondLst>
                                            <p:cond delay="0"/>
                                          </p:stCondLst>
                                        </p:cTn>
                                        <p:tgtEl>
                                          <p:spTgt spid="10"/>
                                        </p:tgtEl>
                                        <p:attrNameLst>
                                          <p:attrName>style.visibility</p:attrName>
                                        </p:attrNameLst>
                                      </p:cBhvr>
                                      <p:to>
                                        <p:strVal val="visible"/>
                                      </p:to>
                                    </p:set>
                                    <p:animEffect transition="in" filter="wipe(right)">
                                      <p:cBhvr>
                                        <p:cTn id="97" dur="500"/>
                                        <p:tgtEl>
                                          <p:spTgt spid="10"/>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nodeType="clickEffect">
                                  <p:stCondLst>
                                    <p:cond delay="0"/>
                                  </p:stCondLst>
                                  <p:childTnLst>
                                    <p:set>
                                      <p:cBhvr>
                                        <p:cTn id="101" dur="1" fill="hold">
                                          <p:stCondLst>
                                            <p:cond delay="0"/>
                                          </p:stCondLst>
                                        </p:cTn>
                                        <p:tgtEl>
                                          <p:spTgt spid="63"/>
                                        </p:tgtEl>
                                        <p:attrNameLst>
                                          <p:attrName>style.visibility</p:attrName>
                                        </p:attrNameLst>
                                      </p:cBhvr>
                                      <p:to>
                                        <p:strVal val="visible"/>
                                      </p:to>
                                    </p:set>
                                    <p:animEffect transition="in" filter="wipe(up)">
                                      <p:cBhvr>
                                        <p:cTn id="102" dur="500"/>
                                        <p:tgtEl>
                                          <p:spTgt spid="63"/>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nodeType="click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wipe(up)">
                                      <p:cBhvr>
                                        <p:cTn id="107" dur="500"/>
                                        <p:tgtEl>
                                          <p:spTgt spid="53"/>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1" fill="hold" nodeType="clickEffect">
                                  <p:stCondLst>
                                    <p:cond delay="0"/>
                                  </p:stCondLst>
                                  <p:childTnLst>
                                    <p:set>
                                      <p:cBhvr>
                                        <p:cTn id="111" dur="1" fill="hold">
                                          <p:stCondLst>
                                            <p:cond delay="0"/>
                                          </p:stCondLst>
                                        </p:cTn>
                                        <p:tgtEl>
                                          <p:spTgt spid="58"/>
                                        </p:tgtEl>
                                        <p:attrNameLst>
                                          <p:attrName>style.visibility</p:attrName>
                                        </p:attrNameLst>
                                      </p:cBhvr>
                                      <p:to>
                                        <p:strVal val="visible"/>
                                      </p:to>
                                    </p:set>
                                    <p:animEffect transition="in" filter="wipe(up)">
                                      <p:cBhvr>
                                        <p:cTn id="112" dur="500"/>
                                        <p:tgtEl>
                                          <p:spTgt spid="5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60"/>
                                        </p:tgtEl>
                                        <p:attrNameLst>
                                          <p:attrName>style.visibility</p:attrName>
                                        </p:attrNameLst>
                                      </p:cBhvr>
                                      <p:to>
                                        <p:strVal val="visible"/>
                                      </p:to>
                                    </p:set>
                                    <p:animEffect transition="in" filter="wipe(left)">
                                      <p:cBhvr>
                                        <p:cTn id="11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P spid="46" grpId="0" animBg="1"/>
      <p:bldP spid="44" grpId="0" animBg="1"/>
      <p:bldP spid="83" grpId="0" animBg="1"/>
      <p:bldP spid="83" grpId="1" animBg="1"/>
      <p:bldP spid="48" grpId="0" animBg="1"/>
      <p:bldP spid="54" grpId="0" animBg="1"/>
      <p:bldP spid="54"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Arial" panose="020B0604020202020204" pitchFamily="34" charset="0"/>
                <a:ea typeface="微软雅黑" panose="020B0503020204020204" charset="-122"/>
                <a:sym typeface="Arial" panose="020B0604020202020204" pitchFamily="34" charset="0"/>
              </a:rPr>
              <a:t>（一）任务范式</a:t>
            </a:r>
            <a:r>
              <a:rPr lang="en-US" altLang="zh-CN" sz="2000" dirty="0">
                <a:latin typeface="Arial" panose="020B0604020202020204" pitchFamily="34" charset="0"/>
                <a:ea typeface="微软雅黑" panose="020B0503020204020204" charset="-122"/>
                <a:sym typeface="Arial" panose="020B0604020202020204" pitchFamily="34" charset="0"/>
              </a:rPr>
              <a:t>——</a:t>
            </a:r>
            <a:r>
              <a:rPr lang="zh-CN" altLang="en-US" sz="2000" dirty="0">
                <a:latin typeface="Arial" panose="020B0604020202020204" pitchFamily="34" charset="0"/>
                <a:ea typeface="微软雅黑" panose="020B0503020204020204" charset="-122"/>
                <a:sym typeface="Arial" panose="020B0604020202020204" pitchFamily="34" charset="0"/>
              </a:rPr>
              <a:t>问题驱动</a:t>
            </a:r>
          </a:p>
        </p:txBody>
      </p:sp>
      <p:grpSp>
        <p:nvGrpSpPr>
          <p:cNvPr id="3" name="组合 2"/>
          <p:cNvGrpSpPr/>
          <p:nvPr/>
        </p:nvGrpSpPr>
        <p:grpSpPr>
          <a:xfrm>
            <a:off x="81957" y="1835503"/>
            <a:ext cx="5517354" cy="3137701"/>
            <a:chOff x="81957" y="1835503"/>
            <a:chExt cx="5517354" cy="3137701"/>
          </a:xfrm>
        </p:grpSpPr>
        <p:pic>
          <p:nvPicPr>
            <p:cNvPr id="5" name="图片 4"/>
            <p:cNvPicPr>
              <a:picLocks noChangeAspect="1"/>
            </p:cNvPicPr>
            <p:nvPr/>
          </p:nvPicPr>
          <p:blipFill rotWithShape="1">
            <a:blip r:embed="rId3"/>
            <a:srcRect b="660"/>
            <a:stretch>
              <a:fillRect/>
            </a:stretch>
          </p:blipFill>
          <p:spPr>
            <a:xfrm>
              <a:off x="81957" y="1835503"/>
              <a:ext cx="5517354" cy="3137701"/>
            </a:xfrm>
            <a:prstGeom prst="rect">
              <a:avLst/>
            </a:prstGeom>
            <a:effectLst>
              <a:outerShdw blurRad="50800" dist="38100" dir="5400000" algn="t" rotWithShape="0">
                <a:prstClr val="black">
                  <a:alpha val="40000"/>
                </a:prstClr>
              </a:outerShdw>
            </a:effectLst>
          </p:spPr>
        </p:pic>
        <p:sp>
          <p:nvSpPr>
            <p:cNvPr id="27" name="矩形 26"/>
            <p:cNvSpPr/>
            <p:nvPr/>
          </p:nvSpPr>
          <p:spPr>
            <a:xfrm>
              <a:off x="81957" y="1927824"/>
              <a:ext cx="5498414" cy="304538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9" name="矩形: 圆角 18"/>
          <p:cNvSpPr/>
          <p:nvPr/>
        </p:nvSpPr>
        <p:spPr>
          <a:xfrm>
            <a:off x="2948333" y="3479798"/>
            <a:ext cx="518377" cy="4042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问题驱动</a:t>
            </a:r>
          </a:p>
        </p:txBody>
      </p:sp>
      <p:sp>
        <p:nvSpPr>
          <p:cNvPr id="28" name="文本框 27"/>
          <p:cNvSpPr txBox="1"/>
          <p:nvPr/>
        </p:nvSpPr>
        <p:spPr>
          <a:xfrm>
            <a:off x="119063" y="823242"/>
            <a:ext cx="11772899" cy="874407"/>
          </a:xfrm>
          <a:prstGeom prst="rect">
            <a:avLst/>
          </a:prstGeom>
          <a:noFill/>
        </p:spPr>
        <p:txBody>
          <a:bodyPr wrap="square" rtlCol="0">
            <a:spAutoFit/>
          </a:bodyPr>
          <a:lstStyle/>
          <a:p>
            <a:pPr>
              <a:lnSpc>
                <a:spcPct val="150000"/>
              </a:lnSpc>
            </a:pPr>
            <a:r>
              <a:rPr lang="en-US" altLang="zh-CN" sz="1800" kern="100" dirty="0">
                <a:effectLst/>
                <a:latin typeface="微软雅黑" panose="020B0503020204020204" charset="-122"/>
                <a:ea typeface="微软雅黑" panose="020B0503020204020204" charset="-122"/>
                <a:cs typeface="Times New Roman" panose="02020603050405020304" pitchFamily="18" charset="0"/>
              </a:rPr>
              <a:t>       </a:t>
            </a:r>
            <a:r>
              <a:rPr lang="zh-CN" altLang="zh-CN" sz="1800" kern="100" dirty="0">
                <a:effectLst/>
                <a:latin typeface="微软雅黑" panose="020B0503020204020204" charset="-122"/>
                <a:ea typeface="微软雅黑" panose="020B0503020204020204" charset="-122"/>
                <a:cs typeface="Times New Roman" panose="02020603050405020304" pitchFamily="18" charset="0"/>
              </a:rPr>
              <a:t>人类经济社会活动中涉及的两系统（主动系统、对象系统）以及两系统中的主体、行为、客体、时间、空间等五要素、问题、目标、事实、知识、任务共同构成人类经济社会活动的基本模式</a:t>
            </a:r>
            <a:r>
              <a:rPr lang="zh-CN" altLang="en-US" kern="100" dirty="0">
                <a:latin typeface="微软雅黑" panose="020B0503020204020204" charset="-122"/>
                <a:ea typeface="微软雅黑" panose="020B0503020204020204" charset="-122"/>
                <a:cs typeface="Times New Roman" panose="02020603050405020304" pitchFamily="18" charset="0"/>
              </a:rPr>
              <a:t>，</a:t>
            </a:r>
            <a:r>
              <a:rPr lang="zh-CN" altLang="zh-CN" sz="1800" kern="100" dirty="0">
                <a:effectLst/>
                <a:latin typeface="微软雅黑" panose="020B0503020204020204" charset="-122"/>
                <a:ea typeface="微软雅黑" panose="020B0503020204020204" charset="-122"/>
                <a:cs typeface="Times New Roman" panose="02020603050405020304" pitchFamily="18" charset="0"/>
              </a:rPr>
              <a:t>即任务范式的基本要素。</a:t>
            </a:r>
            <a:endParaRPr lang="zh-CN" altLang="en-US" dirty="0">
              <a:latin typeface="微软雅黑" panose="020B0503020204020204" charset="-122"/>
              <a:ea typeface="微软雅黑" panose="020B0503020204020204" charset="-122"/>
            </a:endParaRPr>
          </a:p>
        </p:txBody>
      </p:sp>
      <p:grpSp>
        <p:nvGrpSpPr>
          <p:cNvPr id="7" name="组合 6"/>
          <p:cNvGrpSpPr/>
          <p:nvPr/>
        </p:nvGrpSpPr>
        <p:grpSpPr>
          <a:xfrm>
            <a:off x="3466710" y="1697649"/>
            <a:ext cx="8425251" cy="1984291"/>
            <a:chOff x="3466710" y="1697649"/>
            <a:chExt cx="8425251" cy="1984291"/>
          </a:xfrm>
        </p:grpSpPr>
        <p:sp>
          <p:nvSpPr>
            <p:cNvPr id="29" name="矩形: 圆角 28"/>
            <p:cNvSpPr/>
            <p:nvPr/>
          </p:nvSpPr>
          <p:spPr>
            <a:xfrm flipH="1">
              <a:off x="5126663" y="1697649"/>
              <a:ext cx="6765298" cy="138179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人类社会发展动力来自于每个微观个体对自身问题的解决的冲动和诉求，个体的诉求汇总的总和就变成社会历史发展潮流。问题本身隐含着内驱力，内驱力产生于理想与现状之间的差距，客观的差距会唤醒对象系统内在的诉求，形成主观的精神动力，即驱动力。这种对象系统主体发起的诉求，对两系统运行起到驱动作用，我们就称之为问题驱动。</a:t>
              </a:r>
            </a:p>
          </p:txBody>
        </p:sp>
        <p:cxnSp>
          <p:nvCxnSpPr>
            <p:cNvPr id="6" name="连接符: 肘形 5"/>
            <p:cNvCxnSpPr>
              <a:stCxn id="19" idx="3"/>
              <a:endCxn id="29" idx="3"/>
            </p:cNvCxnSpPr>
            <p:nvPr/>
          </p:nvCxnSpPr>
          <p:spPr>
            <a:xfrm flipV="1">
              <a:off x="3466710" y="2388548"/>
              <a:ext cx="1659953" cy="1293392"/>
            </a:xfrm>
            <a:prstGeom prst="bentConnector3">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3207522" y="3884081"/>
            <a:ext cx="1476551" cy="1366786"/>
            <a:chOff x="3207522" y="3884081"/>
            <a:chExt cx="1476551" cy="1366786"/>
          </a:xfrm>
        </p:grpSpPr>
        <p:cxnSp>
          <p:nvCxnSpPr>
            <p:cNvPr id="43" name="连接符: 肘形 42"/>
            <p:cNvCxnSpPr>
              <a:stCxn id="19" idx="2"/>
              <a:endCxn id="38" idx="2"/>
            </p:cNvCxnSpPr>
            <p:nvPr/>
          </p:nvCxnSpPr>
          <p:spPr>
            <a:xfrm rot="16200000" flipH="1">
              <a:off x="3068712" y="4022891"/>
              <a:ext cx="979399" cy="701779"/>
            </a:xfrm>
            <a:prstGeom prst="bentConnector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8" name="椭圆 37"/>
            <p:cNvSpPr/>
            <p:nvPr/>
          </p:nvSpPr>
          <p:spPr>
            <a:xfrm>
              <a:off x="3909301" y="4476095"/>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问题</a:t>
              </a:r>
            </a:p>
          </p:txBody>
        </p:sp>
      </p:grpSp>
      <p:grpSp>
        <p:nvGrpSpPr>
          <p:cNvPr id="10" name="组合 9"/>
          <p:cNvGrpSpPr/>
          <p:nvPr/>
        </p:nvGrpSpPr>
        <p:grpSpPr>
          <a:xfrm>
            <a:off x="4684073" y="3526391"/>
            <a:ext cx="1213507" cy="2674180"/>
            <a:chOff x="4684073" y="3526391"/>
            <a:chExt cx="1213507" cy="2674180"/>
          </a:xfrm>
        </p:grpSpPr>
        <p:sp>
          <p:nvSpPr>
            <p:cNvPr id="46" name="椭圆 45"/>
            <p:cNvSpPr/>
            <p:nvPr/>
          </p:nvSpPr>
          <p:spPr>
            <a:xfrm>
              <a:off x="5122808" y="3526391"/>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现象</a:t>
              </a:r>
            </a:p>
          </p:txBody>
        </p:sp>
        <p:sp>
          <p:nvSpPr>
            <p:cNvPr id="47" name="椭圆 46"/>
            <p:cNvSpPr/>
            <p:nvPr/>
          </p:nvSpPr>
          <p:spPr>
            <a:xfrm>
              <a:off x="5120467" y="4476095"/>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根源</a:t>
              </a:r>
            </a:p>
          </p:txBody>
        </p:sp>
        <p:sp>
          <p:nvSpPr>
            <p:cNvPr id="48" name="椭圆 47"/>
            <p:cNvSpPr/>
            <p:nvPr/>
          </p:nvSpPr>
          <p:spPr>
            <a:xfrm>
              <a:off x="5118126" y="5425799"/>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症结</a:t>
              </a:r>
            </a:p>
          </p:txBody>
        </p:sp>
        <p:cxnSp>
          <p:nvCxnSpPr>
            <p:cNvPr id="50" name="连接符: 肘形 49"/>
            <p:cNvCxnSpPr>
              <a:stCxn id="38" idx="6"/>
              <a:endCxn id="46" idx="2"/>
            </p:cNvCxnSpPr>
            <p:nvPr/>
          </p:nvCxnSpPr>
          <p:spPr>
            <a:xfrm flipV="1">
              <a:off x="4684073" y="3913777"/>
              <a:ext cx="438735" cy="949704"/>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连接符: 肘形 53"/>
            <p:cNvCxnSpPr>
              <a:stCxn id="38" idx="6"/>
              <a:endCxn id="48" idx="2"/>
            </p:cNvCxnSpPr>
            <p:nvPr/>
          </p:nvCxnSpPr>
          <p:spPr>
            <a:xfrm>
              <a:off x="4684073" y="4863481"/>
              <a:ext cx="434053" cy="949704"/>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a:stCxn id="38" idx="6"/>
              <a:endCxn id="47" idx="2"/>
            </p:cNvCxnSpPr>
            <p:nvPr/>
          </p:nvCxnSpPr>
          <p:spPr>
            <a:xfrm>
              <a:off x="4684073" y="4863481"/>
              <a:ext cx="436394"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171631" y="5250868"/>
            <a:ext cx="4125056" cy="971139"/>
            <a:chOff x="171631" y="5250868"/>
            <a:chExt cx="4125056" cy="971139"/>
          </a:xfrm>
        </p:grpSpPr>
        <p:sp>
          <p:nvSpPr>
            <p:cNvPr id="59" name="矩形: 圆角 58"/>
            <p:cNvSpPr/>
            <p:nvPr/>
          </p:nvSpPr>
          <p:spPr>
            <a:xfrm flipH="1">
              <a:off x="171631" y="5404363"/>
              <a:ext cx="3152199" cy="81764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问题是对象系统的客观状态与社会普适的价值取向相反的负价值的状态。</a:t>
              </a:r>
            </a:p>
          </p:txBody>
        </p:sp>
        <p:cxnSp>
          <p:nvCxnSpPr>
            <p:cNvPr id="62" name="连接符: 肘形 61"/>
            <p:cNvCxnSpPr>
              <a:stCxn id="38" idx="4"/>
              <a:endCxn id="59" idx="1"/>
            </p:cNvCxnSpPr>
            <p:nvPr/>
          </p:nvCxnSpPr>
          <p:spPr>
            <a:xfrm rot="5400000">
              <a:off x="3529100" y="5045598"/>
              <a:ext cx="562318" cy="972857"/>
            </a:xfrm>
            <a:prstGeom prst="bentConnector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0" name="组合 69"/>
          <p:cNvGrpSpPr/>
          <p:nvPr/>
        </p:nvGrpSpPr>
        <p:grpSpPr>
          <a:xfrm>
            <a:off x="5892898" y="3483519"/>
            <a:ext cx="4451251" cy="817644"/>
            <a:chOff x="5892898" y="3483519"/>
            <a:chExt cx="4451251" cy="817644"/>
          </a:xfrm>
        </p:grpSpPr>
        <p:sp>
          <p:nvSpPr>
            <p:cNvPr id="65" name="矩形: 圆角 64"/>
            <p:cNvSpPr/>
            <p:nvPr/>
          </p:nvSpPr>
          <p:spPr>
            <a:xfrm flipH="1">
              <a:off x="6329291" y="3483519"/>
              <a:ext cx="4014858" cy="81764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问题的存在的表象是现象，现象是事物表现出来的，能被人感觉到的一切情况，事物在发生、发展、变化过程中所表现的外在联系性和客观形式。</a:t>
              </a:r>
            </a:p>
          </p:txBody>
        </p:sp>
        <p:cxnSp>
          <p:nvCxnSpPr>
            <p:cNvPr id="69" name="直接箭头连接符 68"/>
            <p:cNvCxnSpPr/>
            <p:nvPr/>
          </p:nvCxnSpPr>
          <p:spPr>
            <a:xfrm>
              <a:off x="5892898" y="3895645"/>
              <a:ext cx="436394"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1" name="组合 70"/>
          <p:cNvGrpSpPr/>
          <p:nvPr/>
        </p:nvGrpSpPr>
        <p:grpSpPr>
          <a:xfrm>
            <a:off x="5892898" y="4453563"/>
            <a:ext cx="4451250" cy="817644"/>
            <a:chOff x="5892898" y="3483519"/>
            <a:chExt cx="4451250" cy="817644"/>
          </a:xfrm>
        </p:grpSpPr>
        <p:sp>
          <p:nvSpPr>
            <p:cNvPr id="72" name="矩形: 圆角 71"/>
            <p:cNvSpPr/>
            <p:nvPr/>
          </p:nvSpPr>
          <p:spPr>
            <a:xfrm flipH="1">
              <a:off x="6329291" y="3483519"/>
              <a:ext cx="4014857" cy="81764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根源是问题产生的直接原因，问题的根源和现象是因果性关系，问题的根源是导致问题现象产生的原因，问题的现象是因为问题的根源所引发的结果。</a:t>
              </a:r>
            </a:p>
          </p:txBody>
        </p:sp>
        <p:cxnSp>
          <p:nvCxnSpPr>
            <p:cNvPr id="73" name="直接箭头连接符 72"/>
            <p:cNvCxnSpPr/>
            <p:nvPr/>
          </p:nvCxnSpPr>
          <p:spPr>
            <a:xfrm>
              <a:off x="5892898" y="3895645"/>
              <a:ext cx="436394"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4" name="组合 73"/>
          <p:cNvGrpSpPr/>
          <p:nvPr/>
        </p:nvGrpSpPr>
        <p:grpSpPr>
          <a:xfrm>
            <a:off x="5892898" y="5423607"/>
            <a:ext cx="4451248" cy="817644"/>
            <a:chOff x="5892898" y="3483519"/>
            <a:chExt cx="4451248" cy="817644"/>
          </a:xfrm>
        </p:grpSpPr>
        <p:sp>
          <p:nvSpPr>
            <p:cNvPr id="75" name="矩形: 圆角 74"/>
            <p:cNvSpPr/>
            <p:nvPr/>
          </p:nvSpPr>
          <p:spPr>
            <a:xfrm flipH="1">
              <a:off x="6329291" y="3483519"/>
              <a:ext cx="4014855" cy="81764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症结是根源问题中最关键、起最重要作用的因素。，症结问题都是和关键要素的内生动力有关。而内生动力是与内禀价值相关联的，与原有的利益机制、利益关系相关。</a:t>
              </a:r>
            </a:p>
          </p:txBody>
        </p:sp>
        <p:cxnSp>
          <p:nvCxnSpPr>
            <p:cNvPr id="76" name="直接箭头连接符 75"/>
            <p:cNvCxnSpPr/>
            <p:nvPr/>
          </p:nvCxnSpPr>
          <p:spPr>
            <a:xfrm>
              <a:off x="5892898" y="3895645"/>
              <a:ext cx="436394"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4" name="组合 93"/>
          <p:cNvGrpSpPr/>
          <p:nvPr/>
        </p:nvGrpSpPr>
        <p:grpSpPr>
          <a:xfrm>
            <a:off x="10344149" y="3483519"/>
            <a:ext cx="1547812" cy="774772"/>
            <a:chOff x="10344149" y="3483519"/>
            <a:chExt cx="1547812" cy="774772"/>
          </a:xfrm>
        </p:grpSpPr>
        <p:sp>
          <p:nvSpPr>
            <p:cNvPr id="82" name="矩形: 圆角 81"/>
            <p:cNvSpPr/>
            <p:nvPr/>
          </p:nvSpPr>
          <p:spPr>
            <a:xfrm flipH="1">
              <a:off x="11029205" y="3483519"/>
              <a:ext cx="862756" cy="28545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100" dirty="0">
                  <a:latin typeface="微软雅黑" panose="020B0503020204020204" charset="-122"/>
                  <a:ea typeface="微软雅黑" panose="020B0503020204020204" charset="-122"/>
                </a:rPr>
                <a:t>可感知的</a:t>
              </a:r>
            </a:p>
          </p:txBody>
        </p:sp>
        <p:sp>
          <p:nvSpPr>
            <p:cNvPr id="83" name="矩形: 圆角 82"/>
            <p:cNvSpPr/>
            <p:nvPr/>
          </p:nvSpPr>
          <p:spPr>
            <a:xfrm flipH="1">
              <a:off x="11029205" y="3972835"/>
              <a:ext cx="862756" cy="28545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100" dirty="0">
                  <a:latin typeface="微软雅黑" panose="020B0503020204020204" charset="-122"/>
                  <a:ea typeface="微软雅黑" panose="020B0503020204020204" charset="-122"/>
                </a:rPr>
                <a:t>可量化的</a:t>
              </a:r>
            </a:p>
          </p:txBody>
        </p:sp>
        <p:cxnSp>
          <p:nvCxnSpPr>
            <p:cNvPr id="86" name="连接符: 肘形 85"/>
            <p:cNvCxnSpPr>
              <a:stCxn id="65" idx="1"/>
              <a:endCxn id="82" idx="3"/>
            </p:cNvCxnSpPr>
            <p:nvPr/>
          </p:nvCxnSpPr>
          <p:spPr>
            <a:xfrm flipV="1">
              <a:off x="10344149" y="3626247"/>
              <a:ext cx="685056" cy="266094"/>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9" name="连接符: 肘形 88"/>
            <p:cNvCxnSpPr>
              <a:stCxn id="65" idx="1"/>
              <a:endCxn id="83" idx="3"/>
            </p:cNvCxnSpPr>
            <p:nvPr/>
          </p:nvCxnSpPr>
          <p:spPr>
            <a:xfrm>
              <a:off x="10344149" y="3892341"/>
              <a:ext cx="685056" cy="223222"/>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5" name="组合 94"/>
          <p:cNvGrpSpPr/>
          <p:nvPr/>
        </p:nvGrpSpPr>
        <p:grpSpPr>
          <a:xfrm>
            <a:off x="10321055" y="4447218"/>
            <a:ext cx="1547812" cy="774772"/>
            <a:chOff x="10344149" y="3483519"/>
            <a:chExt cx="1547812" cy="774772"/>
          </a:xfrm>
        </p:grpSpPr>
        <p:sp>
          <p:nvSpPr>
            <p:cNvPr id="96" name="矩形: 圆角 95"/>
            <p:cNvSpPr/>
            <p:nvPr/>
          </p:nvSpPr>
          <p:spPr>
            <a:xfrm flipH="1">
              <a:off x="11029205" y="3483519"/>
              <a:ext cx="862756" cy="28545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100" dirty="0">
                  <a:latin typeface="微软雅黑" panose="020B0503020204020204" charset="-122"/>
                  <a:ea typeface="微软雅黑" panose="020B0503020204020204" charset="-122"/>
                </a:rPr>
                <a:t>物质原因</a:t>
              </a:r>
            </a:p>
          </p:txBody>
        </p:sp>
        <p:sp>
          <p:nvSpPr>
            <p:cNvPr id="97" name="矩形: 圆角 96"/>
            <p:cNvSpPr/>
            <p:nvPr/>
          </p:nvSpPr>
          <p:spPr>
            <a:xfrm flipH="1">
              <a:off x="11029205" y="3972835"/>
              <a:ext cx="862756" cy="28545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100" dirty="0">
                  <a:latin typeface="微软雅黑" panose="020B0503020204020204" charset="-122"/>
                  <a:ea typeface="微软雅黑" panose="020B0503020204020204" charset="-122"/>
                </a:rPr>
                <a:t>社会规则</a:t>
              </a:r>
            </a:p>
          </p:txBody>
        </p:sp>
        <p:cxnSp>
          <p:nvCxnSpPr>
            <p:cNvPr id="98" name="连接符: 肘形 97"/>
            <p:cNvCxnSpPr>
              <a:endCxn id="96" idx="3"/>
            </p:cNvCxnSpPr>
            <p:nvPr/>
          </p:nvCxnSpPr>
          <p:spPr>
            <a:xfrm flipV="1">
              <a:off x="10344149" y="3626247"/>
              <a:ext cx="685056" cy="266094"/>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9" name="连接符: 肘形 98"/>
            <p:cNvCxnSpPr>
              <a:endCxn id="97" idx="3"/>
            </p:cNvCxnSpPr>
            <p:nvPr/>
          </p:nvCxnSpPr>
          <p:spPr>
            <a:xfrm>
              <a:off x="10344149" y="3892341"/>
              <a:ext cx="685056" cy="223222"/>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0" name="组合 99"/>
          <p:cNvGrpSpPr/>
          <p:nvPr/>
        </p:nvGrpSpPr>
        <p:grpSpPr>
          <a:xfrm>
            <a:off x="10344146" y="5423607"/>
            <a:ext cx="1547812" cy="774772"/>
            <a:chOff x="10344149" y="3483519"/>
            <a:chExt cx="1547812" cy="774772"/>
          </a:xfrm>
        </p:grpSpPr>
        <p:sp>
          <p:nvSpPr>
            <p:cNvPr id="101" name="矩形: 圆角 100"/>
            <p:cNvSpPr/>
            <p:nvPr/>
          </p:nvSpPr>
          <p:spPr>
            <a:xfrm flipH="1">
              <a:off x="11029205" y="3483519"/>
              <a:ext cx="862756" cy="28545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100" dirty="0">
                  <a:latin typeface="微软雅黑" panose="020B0503020204020204" charset="-122"/>
                  <a:ea typeface="微软雅黑" panose="020B0503020204020204" charset="-122"/>
                </a:rPr>
                <a:t>最为关键</a:t>
              </a:r>
            </a:p>
          </p:txBody>
        </p:sp>
        <p:sp>
          <p:nvSpPr>
            <p:cNvPr id="102" name="矩形: 圆角 101"/>
            <p:cNvSpPr/>
            <p:nvPr/>
          </p:nvSpPr>
          <p:spPr>
            <a:xfrm flipH="1">
              <a:off x="11029205" y="3972835"/>
              <a:ext cx="862756" cy="28545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100" dirty="0">
                  <a:latin typeface="微软雅黑" panose="020B0503020204020204" charset="-122"/>
                  <a:ea typeface="微软雅黑" panose="020B0503020204020204" charset="-122"/>
                </a:rPr>
                <a:t>内生动力</a:t>
              </a:r>
            </a:p>
          </p:txBody>
        </p:sp>
        <p:cxnSp>
          <p:nvCxnSpPr>
            <p:cNvPr id="103" name="连接符: 肘形 102"/>
            <p:cNvCxnSpPr>
              <a:endCxn id="101" idx="3"/>
            </p:cNvCxnSpPr>
            <p:nvPr/>
          </p:nvCxnSpPr>
          <p:spPr>
            <a:xfrm flipV="1">
              <a:off x="10344149" y="3626247"/>
              <a:ext cx="685056" cy="266094"/>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连接符: 肘形 103"/>
            <p:cNvCxnSpPr>
              <a:endCxn id="102" idx="3"/>
            </p:cNvCxnSpPr>
            <p:nvPr/>
          </p:nvCxnSpPr>
          <p:spPr>
            <a:xfrm>
              <a:off x="10344149" y="3892341"/>
              <a:ext cx="685056" cy="223222"/>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righ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0"/>
                                        </p:tgtEl>
                                        <p:attrNameLst>
                                          <p:attrName>style.visibility</p:attrName>
                                        </p:attrNameLst>
                                      </p:cBhvr>
                                      <p:to>
                                        <p:strVal val="visible"/>
                                      </p:to>
                                    </p:set>
                                    <p:animEffect transition="in" filter="wipe(left)">
                                      <p:cBhvr>
                                        <p:cTn id="32" dur="500"/>
                                        <p:tgtEl>
                                          <p:spTgt spid="7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4"/>
                                        </p:tgtEl>
                                        <p:attrNameLst>
                                          <p:attrName>style.visibility</p:attrName>
                                        </p:attrNameLst>
                                      </p:cBhvr>
                                      <p:to>
                                        <p:strVal val="visible"/>
                                      </p:to>
                                    </p:set>
                                    <p:animEffect transition="in" filter="wipe(left)">
                                      <p:cBhvr>
                                        <p:cTn id="37" dur="500"/>
                                        <p:tgtEl>
                                          <p:spTgt spid="9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1"/>
                                        </p:tgtEl>
                                        <p:attrNameLst>
                                          <p:attrName>style.visibility</p:attrName>
                                        </p:attrNameLst>
                                      </p:cBhvr>
                                      <p:to>
                                        <p:strVal val="visible"/>
                                      </p:to>
                                    </p:set>
                                    <p:animEffect transition="in" filter="wipe(left)">
                                      <p:cBhvr>
                                        <p:cTn id="42" dur="500"/>
                                        <p:tgtEl>
                                          <p:spTgt spid="7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5"/>
                                        </p:tgtEl>
                                        <p:attrNameLst>
                                          <p:attrName>style.visibility</p:attrName>
                                        </p:attrNameLst>
                                      </p:cBhvr>
                                      <p:to>
                                        <p:strVal val="visible"/>
                                      </p:to>
                                    </p:set>
                                    <p:animEffect transition="in" filter="wipe(left)">
                                      <p:cBhvr>
                                        <p:cTn id="47" dur="500"/>
                                        <p:tgtEl>
                                          <p:spTgt spid="9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74"/>
                                        </p:tgtEl>
                                        <p:attrNameLst>
                                          <p:attrName>style.visibility</p:attrName>
                                        </p:attrNameLst>
                                      </p:cBhvr>
                                      <p:to>
                                        <p:strVal val="visible"/>
                                      </p:to>
                                    </p:set>
                                    <p:animEffect transition="in" filter="wipe(left)">
                                      <p:cBhvr>
                                        <p:cTn id="52" dur="500"/>
                                        <p:tgtEl>
                                          <p:spTgt spid="7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00"/>
                                        </p:tgtEl>
                                        <p:attrNameLst>
                                          <p:attrName>style.visibility</p:attrName>
                                        </p:attrNameLst>
                                      </p:cBhvr>
                                      <p:to>
                                        <p:strVal val="visible"/>
                                      </p:to>
                                    </p:set>
                                    <p:animEffect transition="in" filter="wipe(left)">
                                      <p:cBhvr>
                                        <p:cTn id="57"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标题 3"/>
          <p:cNvSpPr>
            <a:spLocks noGrp="1"/>
          </p:cNvSpPr>
          <p:nvPr>
            <p:ph type="title"/>
          </p:nvPr>
        </p:nvSpPr>
        <p:spPr>
          <a:xfrm>
            <a:off x="425450" y="169122"/>
            <a:ext cx="6296626" cy="480131"/>
          </a:xfrm>
        </p:spPr>
        <p:txBody>
          <a:bodyPr/>
          <a:lstStyle/>
          <a:p>
            <a:r>
              <a:rPr lang="zh-CN" altLang="en-US" dirty="0">
                <a:latin typeface="Arial" panose="020B0604020202020204" pitchFamily="34" charset="0"/>
                <a:ea typeface="微软雅黑" panose="020B0503020204020204" charset="-122"/>
                <a:sym typeface="Arial" panose="020B0604020202020204" pitchFamily="34" charset="0"/>
              </a:rPr>
              <a:t>（一）任务范式</a:t>
            </a:r>
            <a:r>
              <a:rPr lang="en-US" altLang="zh-CN" sz="2000" dirty="0">
                <a:latin typeface="Arial" panose="020B0604020202020204" pitchFamily="34" charset="0"/>
                <a:ea typeface="微软雅黑" panose="020B0503020204020204" charset="-122"/>
                <a:sym typeface="Arial" panose="020B0604020202020204" pitchFamily="34" charset="0"/>
              </a:rPr>
              <a:t>——</a:t>
            </a:r>
            <a:r>
              <a:rPr lang="zh-CN" altLang="en-US" sz="2000" dirty="0">
                <a:latin typeface="Arial" panose="020B0604020202020204" pitchFamily="34" charset="0"/>
                <a:ea typeface="微软雅黑" panose="020B0503020204020204" charset="-122"/>
                <a:sym typeface="Arial" panose="020B0604020202020204" pitchFamily="34" charset="0"/>
              </a:rPr>
              <a:t>目标约束</a:t>
            </a:r>
          </a:p>
        </p:txBody>
      </p:sp>
      <p:grpSp>
        <p:nvGrpSpPr>
          <p:cNvPr id="2" name="组合 1"/>
          <p:cNvGrpSpPr/>
          <p:nvPr/>
        </p:nvGrpSpPr>
        <p:grpSpPr>
          <a:xfrm>
            <a:off x="6374608" y="1697649"/>
            <a:ext cx="5517355" cy="3137701"/>
            <a:chOff x="6374608" y="1697649"/>
            <a:chExt cx="5517355" cy="3137701"/>
          </a:xfrm>
        </p:grpSpPr>
        <p:pic>
          <p:nvPicPr>
            <p:cNvPr id="61" name="图片 60"/>
            <p:cNvPicPr>
              <a:picLocks noChangeAspect="1"/>
            </p:cNvPicPr>
            <p:nvPr/>
          </p:nvPicPr>
          <p:blipFill rotWithShape="1">
            <a:blip r:embed="rId3"/>
            <a:srcRect b="660"/>
            <a:stretch>
              <a:fillRect/>
            </a:stretch>
          </p:blipFill>
          <p:spPr>
            <a:xfrm>
              <a:off x="6374609" y="1697649"/>
              <a:ext cx="5517354" cy="3137701"/>
            </a:xfrm>
            <a:prstGeom prst="rect">
              <a:avLst/>
            </a:prstGeom>
            <a:effectLst>
              <a:outerShdw blurRad="50800" dist="38100" dir="5400000" algn="t" rotWithShape="0">
                <a:prstClr val="black">
                  <a:alpha val="40000"/>
                </a:prstClr>
              </a:outerShdw>
            </a:effectLst>
          </p:spPr>
        </p:pic>
        <p:sp>
          <p:nvSpPr>
            <p:cNvPr id="63" name="矩形 62"/>
            <p:cNvSpPr/>
            <p:nvPr/>
          </p:nvSpPr>
          <p:spPr>
            <a:xfrm>
              <a:off x="6374608" y="1789970"/>
              <a:ext cx="5517353" cy="304538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65" name="矩形: 圆角 64"/>
          <p:cNvSpPr/>
          <p:nvPr/>
        </p:nvSpPr>
        <p:spPr>
          <a:xfrm>
            <a:off x="7674648" y="3341944"/>
            <a:ext cx="518377" cy="4042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目标约束</a:t>
            </a:r>
          </a:p>
        </p:txBody>
      </p:sp>
      <p:sp>
        <p:nvSpPr>
          <p:cNvPr id="69" name="文本框 68"/>
          <p:cNvSpPr txBox="1"/>
          <p:nvPr/>
        </p:nvSpPr>
        <p:spPr>
          <a:xfrm>
            <a:off x="119063" y="823242"/>
            <a:ext cx="11772899" cy="874407"/>
          </a:xfrm>
          <a:prstGeom prst="rect">
            <a:avLst/>
          </a:prstGeom>
          <a:noFill/>
        </p:spPr>
        <p:txBody>
          <a:bodyPr wrap="square" rtlCol="0">
            <a:spAutoFit/>
          </a:bodyPr>
          <a:lstStyle/>
          <a:p>
            <a:pPr>
              <a:lnSpc>
                <a:spcPct val="150000"/>
              </a:lnSpc>
            </a:pPr>
            <a:r>
              <a:rPr lang="en-US" altLang="zh-CN" sz="1800" kern="100" dirty="0">
                <a:effectLst/>
                <a:latin typeface="微软雅黑" panose="020B0503020204020204" charset="-122"/>
                <a:ea typeface="微软雅黑" panose="020B0503020204020204" charset="-122"/>
                <a:cs typeface="Times New Roman" panose="02020603050405020304" pitchFamily="18" charset="0"/>
              </a:rPr>
              <a:t>       </a:t>
            </a:r>
            <a:r>
              <a:rPr lang="zh-CN" altLang="zh-CN" sz="1800" kern="100" dirty="0">
                <a:effectLst/>
                <a:latin typeface="微软雅黑" panose="020B0503020204020204" charset="-122"/>
                <a:ea typeface="微软雅黑" panose="020B0503020204020204" charset="-122"/>
                <a:cs typeface="Times New Roman" panose="02020603050405020304" pitchFamily="18" charset="0"/>
              </a:rPr>
              <a:t>人类经济社会活动中涉及的两系统（主动系统、对象系统）以及两系统中的主体、行为、客体、时间、空间等五要素、问题、目标、事实、知识、任务共同构成人类经济社会活动的基本模式</a:t>
            </a:r>
            <a:r>
              <a:rPr lang="zh-CN" altLang="en-US" kern="100" dirty="0">
                <a:latin typeface="微软雅黑" panose="020B0503020204020204" charset="-122"/>
                <a:ea typeface="微软雅黑" panose="020B0503020204020204" charset="-122"/>
                <a:cs typeface="Times New Roman" panose="02020603050405020304" pitchFamily="18" charset="0"/>
              </a:rPr>
              <a:t>，</a:t>
            </a:r>
            <a:r>
              <a:rPr lang="zh-CN" altLang="zh-CN" sz="1800" kern="100" dirty="0">
                <a:effectLst/>
                <a:latin typeface="微软雅黑" panose="020B0503020204020204" charset="-122"/>
                <a:ea typeface="微软雅黑" panose="020B0503020204020204" charset="-122"/>
                <a:cs typeface="Times New Roman" panose="02020603050405020304" pitchFamily="18" charset="0"/>
              </a:rPr>
              <a:t>即任务范式的基本要素。</a:t>
            </a:r>
            <a:endParaRPr lang="zh-CN" altLang="en-US" dirty="0">
              <a:latin typeface="微软雅黑" panose="020B0503020204020204" charset="-122"/>
              <a:ea typeface="微软雅黑" panose="020B0503020204020204" charset="-122"/>
            </a:endParaRPr>
          </a:p>
        </p:txBody>
      </p:sp>
      <p:grpSp>
        <p:nvGrpSpPr>
          <p:cNvPr id="3" name="组合 2"/>
          <p:cNvGrpSpPr/>
          <p:nvPr/>
        </p:nvGrpSpPr>
        <p:grpSpPr>
          <a:xfrm>
            <a:off x="119063" y="1825533"/>
            <a:ext cx="7555586" cy="1718553"/>
            <a:chOff x="119063" y="1825533"/>
            <a:chExt cx="7555586" cy="1718553"/>
          </a:xfrm>
        </p:grpSpPr>
        <p:sp>
          <p:nvSpPr>
            <p:cNvPr id="107" name="矩形: 圆角 106"/>
            <p:cNvSpPr/>
            <p:nvPr/>
          </p:nvSpPr>
          <p:spPr>
            <a:xfrm flipH="1">
              <a:off x="119063" y="1825533"/>
              <a:ext cx="6255546" cy="138179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在确定了要解决的问题及解决问题的程度之后，主动系统会针对要解决的问题和解决问题的程度设定要实现的目标，主动系统依据设定的目标进行资源配置和行动计划，以解决问题、实现目标。目标是有限的、确定的。首先，不是一切问题都要解决，要选定特定问题。其次，受各种主观和客观条件限制，问题的解决也有一定程度限制。这种对问题的范围和程度的有限锁定即为目标。目标是一种设定的、要去实现的未来预期的状态。</a:t>
              </a:r>
            </a:p>
          </p:txBody>
        </p:sp>
        <p:cxnSp>
          <p:nvCxnSpPr>
            <p:cNvPr id="108" name="连接符: 肘形 107"/>
            <p:cNvCxnSpPr>
              <a:stCxn id="65" idx="1"/>
              <a:endCxn id="107" idx="1"/>
            </p:cNvCxnSpPr>
            <p:nvPr/>
          </p:nvCxnSpPr>
          <p:spPr>
            <a:xfrm rot="10800000">
              <a:off x="6374610" y="2516432"/>
              <a:ext cx="1300039" cy="1027654"/>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6637243" y="3746228"/>
            <a:ext cx="1296594" cy="1201466"/>
            <a:chOff x="6637243" y="3746228"/>
            <a:chExt cx="1296594" cy="1201466"/>
          </a:xfrm>
        </p:grpSpPr>
        <p:sp>
          <p:nvSpPr>
            <p:cNvPr id="113" name="椭圆 112"/>
            <p:cNvSpPr/>
            <p:nvPr/>
          </p:nvSpPr>
          <p:spPr>
            <a:xfrm>
              <a:off x="6637243" y="4172922"/>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目标</a:t>
              </a:r>
            </a:p>
          </p:txBody>
        </p:sp>
        <p:cxnSp>
          <p:nvCxnSpPr>
            <p:cNvPr id="114" name="连接符: 肘形 113"/>
            <p:cNvCxnSpPr>
              <a:stCxn id="65" idx="2"/>
              <a:endCxn id="113" idx="6"/>
            </p:cNvCxnSpPr>
            <p:nvPr/>
          </p:nvCxnSpPr>
          <p:spPr>
            <a:xfrm rot="5400000">
              <a:off x="7265886" y="3892357"/>
              <a:ext cx="814080" cy="521822"/>
            </a:xfrm>
            <a:prstGeom prst="bentConnector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7024628" y="4947694"/>
            <a:ext cx="4848392" cy="1439629"/>
            <a:chOff x="7024628" y="4947694"/>
            <a:chExt cx="4848392" cy="1439629"/>
          </a:xfrm>
        </p:grpSpPr>
        <p:sp>
          <p:nvSpPr>
            <p:cNvPr id="117" name="矩形: 圆角 116"/>
            <p:cNvSpPr/>
            <p:nvPr/>
          </p:nvSpPr>
          <p:spPr>
            <a:xfrm flipH="1">
              <a:off x="7797800" y="5037492"/>
              <a:ext cx="4075220" cy="134983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目标是对未来要实现、改变的状态的一种设定，同时也是一种对未来状态的量化描述，这种量化涉及相应任务的指标。总的来说，在确定的任务的前提下，目标包括两个方面，一是要确定解决的问题的范围，二是界定范围内的问题的解决程度。</a:t>
              </a:r>
            </a:p>
          </p:txBody>
        </p:sp>
        <p:cxnSp>
          <p:nvCxnSpPr>
            <p:cNvPr id="118" name="连接符: 肘形 117"/>
            <p:cNvCxnSpPr>
              <a:stCxn id="113" idx="4"/>
              <a:endCxn id="117" idx="3"/>
            </p:cNvCxnSpPr>
            <p:nvPr/>
          </p:nvCxnSpPr>
          <p:spPr>
            <a:xfrm rot="16200000" flipH="1">
              <a:off x="7028857" y="4943465"/>
              <a:ext cx="764714" cy="773171"/>
            </a:xfrm>
            <a:prstGeom prst="bentConnector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2" name="组合 131"/>
          <p:cNvGrpSpPr/>
          <p:nvPr/>
        </p:nvGrpSpPr>
        <p:grpSpPr>
          <a:xfrm>
            <a:off x="1599275" y="3549777"/>
            <a:ext cx="3680947" cy="1010532"/>
            <a:chOff x="7133567" y="3552240"/>
            <a:chExt cx="3680947" cy="1010532"/>
          </a:xfrm>
        </p:grpSpPr>
        <p:sp>
          <p:nvSpPr>
            <p:cNvPr id="133" name="矩形: 圆角 132"/>
            <p:cNvSpPr/>
            <p:nvPr/>
          </p:nvSpPr>
          <p:spPr>
            <a:xfrm flipH="1">
              <a:off x="7133567" y="3552240"/>
              <a:ext cx="3261304" cy="101053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目标是有限的、确定的。首先，不是一切问题都要解决，要选定特定问题。其次，受各种主观和客观条件限制，问题的解决也有一定程度限制。这种对问题的范围和程度的有限锁定即为目标。</a:t>
              </a:r>
            </a:p>
          </p:txBody>
        </p:sp>
        <p:cxnSp>
          <p:nvCxnSpPr>
            <p:cNvPr id="134" name="直接箭头连接符 133"/>
            <p:cNvCxnSpPr/>
            <p:nvPr/>
          </p:nvCxnSpPr>
          <p:spPr>
            <a:xfrm flipH="1">
              <a:off x="10378120" y="4045837"/>
              <a:ext cx="436394"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5" name="组合 134"/>
          <p:cNvGrpSpPr/>
          <p:nvPr/>
        </p:nvGrpSpPr>
        <p:grpSpPr>
          <a:xfrm>
            <a:off x="1599272" y="4956389"/>
            <a:ext cx="3680950" cy="1010521"/>
            <a:chOff x="7133564" y="3540576"/>
            <a:chExt cx="3680950" cy="1010521"/>
          </a:xfrm>
        </p:grpSpPr>
        <p:sp>
          <p:nvSpPr>
            <p:cNvPr id="136" name="矩形: 圆角 135"/>
            <p:cNvSpPr/>
            <p:nvPr/>
          </p:nvSpPr>
          <p:spPr>
            <a:xfrm flipH="1">
              <a:off x="7133564" y="3540576"/>
              <a:ext cx="3261306" cy="101052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目标实现的条件全等于问题解决的方案。</a:t>
              </a:r>
            </a:p>
          </p:txBody>
        </p:sp>
        <p:cxnSp>
          <p:nvCxnSpPr>
            <p:cNvPr id="137" name="直接箭头连接符 136"/>
            <p:cNvCxnSpPr/>
            <p:nvPr/>
          </p:nvCxnSpPr>
          <p:spPr>
            <a:xfrm flipH="1">
              <a:off x="10378120" y="4045837"/>
              <a:ext cx="436394"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5277881" y="3655988"/>
            <a:ext cx="1359363" cy="2156276"/>
            <a:chOff x="5277881" y="3655988"/>
            <a:chExt cx="1359363" cy="2156276"/>
          </a:xfrm>
        </p:grpSpPr>
        <p:sp>
          <p:nvSpPr>
            <p:cNvPr id="129" name="椭圆 128"/>
            <p:cNvSpPr/>
            <p:nvPr/>
          </p:nvSpPr>
          <p:spPr>
            <a:xfrm>
              <a:off x="5280222" y="3655988"/>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约束</a:t>
              </a:r>
            </a:p>
          </p:txBody>
        </p:sp>
        <p:sp>
          <p:nvSpPr>
            <p:cNvPr id="131" name="椭圆 130"/>
            <p:cNvSpPr/>
            <p:nvPr/>
          </p:nvSpPr>
          <p:spPr>
            <a:xfrm>
              <a:off x="5277881" y="5037492"/>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条件</a:t>
              </a:r>
            </a:p>
          </p:txBody>
        </p:sp>
        <p:cxnSp>
          <p:nvCxnSpPr>
            <p:cNvPr id="138" name="连接符: 肘形 137"/>
            <p:cNvCxnSpPr>
              <a:stCxn id="113" idx="2"/>
              <a:endCxn id="131" idx="6"/>
            </p:cNvCxnSpPr>
            <p:nvPr/>
          </p:nvCxnSpPr>
          <p:spPr>
            <a:xfrm rot="10800000" flipV="1">
              <a:off x="6052653" y="4560308"/>
              <a:ext cx="584590" cy="864570"/>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连接符: 肘形 141"/>
            <p:cNvCxnSpPr>
              <a:endCxn id="129" idx="6"/>
            </p:cNvCxnSpPr>
            <p:nvPr/>
          </p:nvCxnSpPr>
          <p:spPr>
            <a:xfrm rot="10800000">
              <a:off x="6054995" y="4043374"/>
              <a:ext cx="582249" cy="516934"/>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6" name="组合 145"/>
          <p:cNvGrpSpPr/>
          <p:nvPr/>
        </p:nvGrpSpPr>
        <p:grpSpPr>
          <a:xfrm flipH="1">
            <a:off x="119062" y="3650671"/>
            <a:ext cx="1497103" cy="774772"/>
            <a:chOff x="10344149" y="3483519"/>
            <a:chExt cx="1547812" cy="774772"/>
          </a:xfrm>
        </p:grpSpPr>
        <p:sp>
          <p:nvSpPr>
            <p:cNvPr id="147" name="矩形: 圆角 146"/>
            <p:cNvSpPr/>
            <p:nvPr/>
          </p:nvSpPr>
          <p:spPr>
            <a:xfrm flipH="1">
              <a:off x="11029205" y="3483519"/>
              <a:ext cx="862756" cy="28545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100" dirty="0">
                  <a:latin typeface="微软雅黑" panose="020B0503020204020204" charset="-122"/>
                  <a:ea typeface="微软雅黑" panose="020B0503020204020204" charset="-122"/>
                </a:rPr>
                <a:t>实体空间</a:t>
              </a:r>
            </a:p>
          </p:txBody>
        </p:sp>
        <p:sp>
          <p:nvSpPr>
            <p:cNvPr id="148" name="矩形: 圆角 147"/>
            <p:cNvSpPr/>
            <p:nvPr/>
          </p:nvSpPr>
          <p:spPr>
            <a:xfrm flipH="1">
              <a:off x="11029205" y="3972835"/>
              <a:ext cx="862756" cy="28545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100" dirty="0">
                  <a:latin typeface="微软雅黑" panose="020B0503020204020204" charset="-122"/>
                  <a:ea typeface="微软雅黑" panose="020B0503020204020204" charset="-122"/>
                </a:rPr>
                <a:t>数字空间</a:t>
              </a:r>
            </a:p>
          </p:txBody>
        </p:sp>
        <p:cxnSp>
          <p:nvCxnSpPr>
            <p:cNvPr id="149" name="连接符: 肘形 148"/>
            <p:cNvCxnSpPr>
              <a:endCxn id="147" idx="3"/>
            </p:cNvCxnSpPr>
            <p:nvPr/>
          </p:nvCxnSpPr>
          <p:spPr>
            <a:xfrm flipV="1">
              <a:off x="10344149" y="3626247"/>
              <a:ext cx="685056" cy="266094"/>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连接符: 肘形 149"/>
            <p:cNvCxnSpPr>
              <a:endCxn id="148" idx="3"/>
            </p:cNvCxnSpPr>
            <p:nvPr/>
          </p:nvCxnSpPr>
          <p:spPr>
            <a:xfrm>
              <a:off x="10344149" y="3892341"/>
              <a:ext cx="685056" cy="223222"/>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1" name="组合 150"/>
          <p:cNvGrpSpPr/>
          <p:nvPr/>
        </p:nvGrpSpPr>
        <p:grpSpPr>
          <a:xfrm flipH="1">
            <a:off x="119063" y="5065401"/>
            <a:ext cx="1497103" cy="774772"/>
            <a:chOff x="10344149" y="3483519"/>
            <a:chExt cx="1547812" cy="774772"/>
          </a:xfrm>
        </p:grpSpPr>
        <p:sp>
          <p:nvSpPr>
            <p:cNvPr id="152" name="矩形: 圆角 151"/>
            <p:cNvSpPr/>
            <p:nvPr/>
          </p:nvSpPr>
          <p:spPr>
            <a:xfrm flipH="1">
              <a:off x="11029205" y="3483519"/>
              <a:ext cx="862756" cy="28545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100" dirty="0">
                  <a:latin typeface="微软雅黑" panose="020B0503020204020204" charset="-122"/>
                  <a:ea typeface="微软雅黑" panose="020B0503020204020204" charset="-122"/>
                </a:rPr>
                <a:t>解决程度</a:t>
              </a:r>
            </a:p>
          </p:txBody>
        </p:sp>
        <p:sp>
          <p:nvSpPr>
            <p:cNvPr id="153" name="矩形: 圆角 152"/>
            <p:cNvSpPr/>
            <p:nvPr/>
          </p:nvSpPr>
          <p:spPr>
            <a:xfrm flipH="1">
              <a:off x="11029205" y="3972835"/>
              <a:ext cx="862756" cy="28545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100" dirty="0">
                  <a:latin typeface="微软雅黑" panose="020B0503020204020204" charset="-122"/>
                  <a:ea typeface="微软雅黑" panose="020B0503020204020204" charset="-122"/>
                </a:rPr>
                <a:t>解决范围</a:t>
              </a:r>
            </a:p>
          </p:txBody>
        </p:sp>
        <p:cxnSp>
          <p:nvCxnSpPr>
            <p:cNvPr id="154" name="连接符: 肘形 153"/>
            <p:cNvCxnSpPr>
              <a:endCxn id="152" idx="3"/>
            </p:cNvCxnSpPr>
            <p:nvPr/>
          </p:nvCxnSpPr>
          <p:spPr>
            <a:xfrm flipV="1">
              <a:off x="10344149" y="3626247"/>
              <a:ext cx="685056" cy="266094"/>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连接符: 肘形 154"/>
            <p:cNvCxnSpPr>
              <a:endCxn id="153" idx="3"/>
            </p:cNvCxnSpPr>
            <p:nvPr/>
          </p:nvCxnSpPr>
          <p:spPr>
            <a:xfrm>
              <a:off x="10344149" y="3892341"/>
              <a:ext cx="685056" cy="223222"/>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500"/>
                                        <p:tgtEl>
                                          <p:spTgt spid="6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righ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righ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righ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132"/>
                                        </p:tgtEl>
                                        <p:attrNameLst>
                                          <p:attrName>style.visibility</p:attrName>
                                        </p:attrNameLst>
                                      </p:cBhvr>
                                      <p:to>
                                        <p:strVal val="visible"/>
                                      </p:to>
                                    </p:set>
                                    <p:animEffect transition="in" filter="wipe(right)">
                                      <p:cBhvr>
                                        <p:cTn id="32" dur="500"/>
                                        <p:tgtEl>
                                          <p:spTgt spid="13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146"/>
                                        </p:tgtEl>
                                        <p:attrNameLst>
                                          <p:attrName>style.visibility</p:attrName>
                                        </p:attrNameLst>
                                      </p:cBhvr>
                                      <p:to>
                                        <p:strVal val="visible"/>
                                      </p:to>
                                    </p:set>
                                    <p:animEffect transition="in" filter="wipe(right)">
                                      <p:cBhvr>
                                        <p:cTn id="37" dur="500"/>
                                        <p:tgtEl>
                                          <p:spTgt spid="14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135"/>
                                        </p:tgtEl>
                                        <p:attrNameLst>
                                          <p:attrName>style.visibility</p:attrName>
                                        </p:attrNameLst>
                                      </p:cBhvr>
                                      <p:to>
                                        <p:strVal val="visible"/>
                                      </p:to>
                                    </p:set>
                                    <p:animEffect transition="in" filter="wipe(right)">
                                      <p:cBhvr>
                                        <p:cTn id="42" dur="500"/>
                                        <p:tgtEl>
                                          <p:spTgt spid="13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151"/>
                                        </p:tgtEl>
                                        <p:attrNameLst>
                                          <p:attrName>style.visibility</p:attrName>
                                        </p:attrNameLst>
                                      </p:cBhvr>
                                      <p:to>
                                        <p:strVal val="visible"/>
                                      </p:to>
                                    </p:set>
                                    <p:animEffect transition="in" filter="wipe(right)">
                                      <p:cBhvr>
                                        <p:cTn id="47"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标题 3"/>
          <p:cNvSpPr>
            <a:spLocks noGrp="1"/>
          </p:cNvSpPr>
          <p:nvPr>
            <p:ph type="title"/>
          </p:nvPr>
        </p:nvSpPr>
        <p:spPr>
          <a:xfrm>
            <a:off x="425450" y="169122"/>
            <a:ext cx="6296626" cy="480131"/>
          </a:xfrm>
        </p:spPr>
        <p:txBody>
          <a:bodyPr/>
          <a:lstStyle/>
          <a:p>
            <a:r>
              <a:rPr lang="zh-CN" altLang="en-US" dirty="0">
                <a:latin typeface="Arial" panose="020B0604020202020204" pitchFamily="34" charset="0"/>
                <a:ea typeface="微软雅黑" panose="020B0503020204020204" charset="-122"/>
                <a:sym typeface="Arial" panose="020B0604020202020204" pitchFamily="34" charset="0"/>
              </a:rPr>
              <a:t>（一）任务范式</a:t>
            </a:r>
            <a:r>
              <a:rPr lang="en-US" altLang="zh-CN" sz="2000" dirty="0">
                <a:latin typeface="Arial" panose="020B0604020202020204" pitchFamily="34" charset="0"/>
                <a:ea typeface="微软雅黑" panose="020B0503020204020204" charset="-122"/>
                <a:sym typeface="Arial" panose="020B0604020202020204" pitchFamily="34" charset="0"/>
              </a:rPr>
              <a:t>——</a:t>
            </a:r>
            <a:r>
              <a:rPr lang="zh-CN" altLang="en-US" sz="2000" dirty="0">
                <a:latin typeface="Arial" panose="020B0604020202020204" pitchFamily="34" charset="0"/>
                <a:ea typeface="微软雅黑" panose="020B0503020204020204" charset="-122"/>
                <a:sym typeface="Arial" panose="020B0604020202020204" pitchFamily="34" charset="0"/>
              </a:rPr>
              <a:t>知识制导</a:t>
            </a:r>
          </a:p>
        </p:txBody>
      </p:sp>
      <p:sp>
        <p:nvSpPr>
          <p:cNvPr id="69" name="文本框 68"/>
          <p:cNvSpPr txBox="1"/>
          <p:nvPr/>
        </p:nvSpPr>
        <p:spPr>
          <a:xfrm>
            <a:off x="119063" y="823242"/>
            <a:ext cx="11772899" cy="874407"/>
          </a:xfrm>
          <a:prstGeom prst="rect">
            <a:avLst/>
          </a:prstGeom>
          <a:noFill/>
        </p:spPr>
        <p:txBody>
          <a:bodyPr wrap="square" rtlCol="0">
            <a:spAutoFit/>
          </a:bodyPr>
          <a:lstStyle/>
          <a:p>
            <a:pPr>
              <a:lnSpc>
                <a:spcPct val="150000"/>
              </a:lnSpc>
            </a:pPr>
            <a:r>
              <a:rPr lang="en-US" altLang="zh-CN" sz="1800" kern="100" dirty="0">
                <a:effectLst/>
                <a:latin typeface="微软雅黑" panose="020B0503020204020204" charset="-122"/>
                <a:ea typeface="微软雅黑" panose="020B0503020204020204" charset="-122"/>
                <a:cs typeface="Times New Roman" panose="02020603050405020304" pitchFamily="18" charset="0"/>
              </a:rPr>
              <a:t>       </a:t>
            </a:r>
            <a:r>
              <a:rPr lang="zh-CN" altLang="zh-CN" sz="1800" kern="100" dirty="0">
                <a:effectLst/>
                <a:latin typeface="微软雅黑" panose="020B0503020204020204" charset="-122"/>
                <a:ea typeface="微软雅黑" panose="020B0503020204020204" charset="-122"/>
                <a:cs typeface="Times New Roman" panose="02020603050405020304" pitchFamily="18" charset="0"/>
              </a:rPr>
              <a:t>人类经济社会活动中涉及的两系统（主动系统、对象系统）以及两系统中的主体、行为、客体、时间、空间等五要素、问题、目标、事实、知识、任务共同构成人类经济社会活动的基本模式</a:t>
            </a:r>
            <a:r>
              <a:rPr lang="zh-CN" altLang="en-US" kern="100" dirty="0">
                <a:latin typeface="微软雅黑" panose="020B0503020204020204" charset="-122"/>
                <a:ea typeface="微软雅黑" panose="020B0503020204020204" charset="-122"/>
                <a:cs typeface="Times New Roman" panose="02020603050405020304" pitchFamily="18" charset="0"/>
              </a:rPr>
              <a:t>，</a:t>
            </a:r>
            <a:r>
              <a:rPr lang="zh-CN" altLang="zh-CN" sz="1800" kern="100" dirty="0">
                <a:effectLst/>
                <a:latin typeface="微软雅黑" panose="020B0503020204020204" charset="-122"/>
                <a:ea typeface="微软雅黑" panose="020B0503020204020204" charset="-122"/>
                <a:cs typeface="Times New Roman" panose="02020603050405020304" pitchFamily="18" charset="0"/>
              </a:rPr>
              <a:t>即任务范式的基本要素。</a:t>
            </a:r>
            <a:endParaRPr lang="zh-CN" altLang="en-US" dirty="0">
              <a:latin typeface="微软雅黑" panose="020B0503020204020204" charset="-122"/>
              <a:ea typeface="微软雅黑" panose="020B0503020204020204" charset="-122"/>
            </a:endParaRPr>
          </a:p>
        </p:txBody>
      </p:sp>
      <p:grpSp>
        <p:nvGrpSpPr>
          <p:cNvPr id="3" name="组合 2"/>
          <p:cNvGrpSpPr/>
          <p:nvPr/>
        </p:nvGrpSpPr>
        <p:grpSpPr>
          <a:xfrm>
            <a:off x="3019264" y="1881092"/>
            <a:ext cx="5517354" cy="3290012"/>
            <a:chOff x="3019264" y="1881092"/>
            <a:chExt cx="5517354" cy="3290012"/>
          </a:xfrm>
        </p:grpSpPr>
        <p:pic>
          <p:nvPicPr>
            <p:cNvPr id="34" name="图片 33"/>
            <p:cNvPicPr>
              <a:picLocks noChangeAspect="1"/>
            </p:cNvPicPr>
            <p:nvPr/>
          </p:nvPicPr>
          <p:blipFill rotWithShape="1">
            <a:blip r:embed="rId3"/>
            <a:srcRect b="660"/>
            <a:stretch>
              <a:fillRect/>
            </a:stretch>
          </p:blipFill>
          <p:spPr>
            <a:xfrm>
              <a:off x="3019264" y="1881092"/>
              <a:ext cx="5517354" cy="3137701"/>
            </a:xfrm>
            <a:prstGeom prst="rect">
              <a:avLst/>
            </a:prstGeom>
            <a:effectLst>
              <a:outerShdw blurRad="50800" dist="38100" dir="5400000" algn="t" rotWithShape="0">
                <a:prstClr val="black">
                  <a:alpha val="40000"/>
                </a:prstClr>
              </a:outerShdw>
            </a:effectLst>
          </p:spPr>
        </p:pic>
        <p:sp>
          <p:nvSpPr>
            <p:cNvPr id="35" name="矩形 34"/>
            <p:cNvSpPr/>
            <p:nvPr/>
          </p:nvSpPr>
          <p:spPr>
            <a:xfrm>
              <a:off x="3038204" y="2033403"/>
              <a:ext cx="5498414" cy="3137701"/>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37" name="矩形: 圆角 36"/>
          <p:cNvSpPr/>
          <p:nvPr/>
        </p:nvSpPr>
        <p:spPr>
          <a:xfrm flipH="1">
            <a:off x="3733407" y="5323415"/>
            <a:ext cx="3613236" cy="101388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知识制导就是用既成的描述性知识和程序性知识来主导、引导、制约、规范、强制行为的方式、方向、结果。</a:t>
            </a:r>
          </a:p>
        </p:txBody>
      </p:sp>
      <p:grpSp>
        <p:nvGrpSpPr>
          <p:cNvPr id="6" name="组合 5"/>
          <p:cNvGrpSpPr/>
          <p:nvPr/>
        </p:nvGrpSpPr>
        <p:grpSpPr>
          <a:xfrm>
            <a:off x="5303200" y="2783608"/>
            <a:ext cx="484211" cy="2539807"/>
            <a:chOff x="5303200" y="2783608"/>
            <a:chExt cx="484211" cy="2539807"/>
          </a:xfrm>
        </p:grpSpPr>
        <p:sp>
          <p:nvSpPr>
            <p:cNvPr id="36" name="矩形: 圆角 35"/>
            <p:cNvSpPr/>
            <p:nvPr/>
          </p:nvSpPr>
          <p:spPr>
            <a:xfrm>
              <a:off x="5303200" y="2783608"/>
              <a:ext cx="484211" cy="35454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rPr>
                <a:t>知识制导</a:t>
              </a:r>
            </a:p>
          </p:txBody>
        </p:sp>
        <p:cxnSp>
          <p:nvCxnSpPr>
            <p:cNvPr id="38" name="连接符: 肘形 37"/>
            <p:cNvCxnSpPr>
              <a:stCxn id="36" idx="2"/>
              <a:endCxn id="37" idx="0"/>
            </p:cNvCxnSpPr>
            <p:nvPr/>
          </p:nvCxnSpPr>
          <p:spPr>
            <a:xfrm rot="5400000">
              <a:off x="4450034" y="4228142"/>
              <a:ext cx="2185265" cy="5281"/>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
        <p:nvSpPr>
          <p:cNvPr id="39" name="椭圆 38"/>
          <p:cNvSpPr/>
          <p:nvPr/>
        </p:nvSpPr>
        <p:spPr>
          <a:xfrm>
            <a:off x="3064886" y="5442971"/>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知识信息</a:t>
            </a:r>
          </a:p>
        </p:txBody>
      </p:sp>
      <p:sp>
        <p:nvSpPr>
          <p:cNvPr id="40" name="椭圆 39"/>
          <p:cNvSpPr/>
          <p:nvPr/>
        </p:nvSpPr>
        <p:spPr>
          <a:xfrm>
            <a:off x="7074138" y="5442971"/>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精准制导</a:t>
            </a:r>
          </a:p>
        </p:txBody>
      </p:sp>
      <p:grpSp>
        <p:nvGrpSpPr>
          <p:cNvPr id="15" name="组合 14"/>
          <p:cNvGrpSpPr/>
          <p:nvPr/>
        </p:nvGrpSpPr>
        <p:grpSpPr>
          <a:xfrm>
            <a:off x="319916" y="4548643"/>
            <a:ext cx="2750251" cy="1281715"/>
            <a:chOff x="314635" y="4548643"/>
            <a:chExt cx="2750251" cy="1281715"/>
          </a:xfrm>
        </p:grpSpPr>
        <p:cxnSp>
          <p:nvCxnSpPr>
            <p:cNvPr id="43" name="连接符: 肘形 42"/>
            <p:cNvCxnSpPr>
              <a:stCxn id="52" idx="4"/>
              <a:endCxn id="51" idx="4"/>
            </p:cNvCxnSpPr>
            <p:nvPr/>
          </p:nvCxnSpPr>
          <p:spPr>
            <a:xfrm rot="5400000">
              <a:off x="1335773" y="4689663"/>
              <a:ext cx="12700" cy="1267504"/>
            </a:xfrm>
            <a:prstGeom prst="bentConnector3">
              <a:avLst>
                <a:gd name="adj1" fmla="val 1800000"/>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 name="椭圆 50"/>
            <p:cNvSpPr/>
            <p:nvPr/>
          </p:nvSpPr>
          <p:spPr>
            <a:xfrm>
              <a:off x="314635" y="4548643"/>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描述性知识</a:t>
              </a:r>
            </a:p>
          </p:txBody>
        </p:sp>
        <p:sp>
          <p:nvSpPr>
            <p:cNvPr id="52" name="椭圆 51"/>
            <p:cNvSpPr/>
            <p:nvPr/>
          </p:nvSpPr>
          <p:spPr>
            <a:xfrm>
              <a:off x="1582139" y="4548643"/>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程序性知识</a:t>
              </a:r>
            </a:p>
          </p:txBody>
        </p:sp>
        <p:cxnSp>
          <p:nvCxnSpPr>
            <p:cNvPr id="56" name="连接符: 肘形 55"/>
            <p:cNvCxnSpPr>
              <a:stCxn id="39" idx="2"/>
            </p:cNvCxnSpPr>
            <p:nvPr/>
          </p:nvCxnSpPr>
          <p:spPr>
            <a:xfrm rot="10800000">
              <a:off x="1371664" y="5558491"/>
              <a:ext cx="1693222" cy="271867"/>
            </a:xfrm>
            <a:prstGeom prst="bentConnector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3" name="组合 72"/>
          <p:cNvGrpSpPr/>
          <p:nvPr/>
        </p:nvGrpSpPr>
        <p:grpSpPr>
          <a:xfrm flipH="1">
            <a:off x="7848910" y="4548642"/>
            <a:ext cx="3476109" cy="1281715"/>
            <a:chOff x="-405804" y="4548643"/>
            <a:chExt cx="3476109" cy="1281715"/>
          </a:xfrm>
        </p:grpSpPr>
        <p:cxnSp>
          <p:nvCxnSpPr>
            <p:cNvPr id="74" name="连接符: 肘形 73"/>
            <p:cNvCxnSpPr>
              <a:stCxn id="76" idx="4"/>
              <a:endCxn id="75" idx="4"/>
            </p:cNvCxnSpPr>
            <p:nvPr/>
          </p:nvCxnSpPr>
          <p:spPr>
            <a:xfrm rot="5400000">
              <a:off x="602634" y="4689663"/>
              <a:ext cx="12700" cy="1267504"/>
            </a:xfrm>
            <a:prstGeom prst="bentConnector3">
              <a:avLst>
                <a:gd name="adj1" fmla="val 1800000"/>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5" name="椭圆 74"/>
            <p:cNvSpPr/>
            <p:nvPr/>
          </p:nvSpPr>
          <p:spPr>
            <a:xfrm>
              <a:off x="861700" y="4548643"/>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方式</a:t>
              </a:r>
            </a:p>
          </p:txBody>
        </p:sp>
        <p:sp>
          <p:nvSpPr>
            <p:cNvPr id="76" name="椭圆 75"/>
            <p:cNvSpPr/>
            <p:nvPr/>
          </p:nvSpPr>
          <p:spPr>
            <a:xfrm>
              <a:off x="-405804" y="4548643"/>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作用</a:t>
              </a:r>
            </a:p>
          </p:txBody>
        </p:sp>
        <p:cxnSp>
          <p:nvCxnSpPr>
            <p:cNvPr id="77" name="连接符: 肘形 76"/>
            <p:cNvCxnSpPr>
              <a:stCxn id="40" idx="6"/>
            </p:cNvCxnSpPr>
            <p:nvPr/>
          </p:nvCxnSpPr>
          <p:spPr>
            <a:xfrm flipH="1" flipV="1">
              <a:off x="630346" y="5558492"/>
              <a:ext cx="2439959" cy="271866"/>
            </a:xfrm>
            <a:prstGeom prst="bentConnector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a:off x="166308" y="3336673"/>
            <a:ext cx="1094688" cy="1211971"/>
            <a:chOff x="166308" y="3336673"/>
            <a:chExt cx="1094688" cy="1211971"/>
          </a:xfrm>
        </p:grpSpPr>
        <p:sp>
          <p:nvSpPr>
            <p:cNvPr id="4" name="矩形: 圆角 3"/>
            <p:cNvSpPr/>
            <p:nvPr/>
          </p:nvSpPr>
          <p:spPr>
            <a:xfrm flipH="1">
              <a:off x="166308" y="3336673"/>
              <a:ext cx="1094688" cy="87440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100" dirty="0">
                  <a:latin typeface="微软雅黑" panose="020B0503020204020204" charset="-122"/>
                  <a:ea typeface="微软雅黑" panose="020B0503020204020204" charset="-122"/>
                </a:rPr>
                <a:t>描述客观事物的特点及关系的知识</a:t>
              </a:r>
            </a:p>
          </p:txBody>
        </p:sp>
        <p:cxnSp>
          <p:nvCxnSpPr>
            <p:cNvPr id="7" name="直接箭头连接符 6"/>
            <p:cNvCxnSpPr>
              <a:endCxn id="4" idx="2"/>
            </p:cNvCxnSpPr>
            <p:nvPr/>
          </p:nvCxnSpPr>
          <p:spPr>
            <a:xfrm flipV="1">
              <a:off x="710477" y="4211080"/>
              <a:ext cx="3175" cy="337564"/>
            </a:xfrm>
            <a:prstGeom prst="straightConnector1">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1" name="组合 40"/>
          <p:cNvGrpSpPr/>
          <p:nvPr/>
        </p:nvGrpSpPr>
        <p:grpSpPr>
          <a:xfrm>
            <a:off x="1433812" y="3321050"/>
            <a:ext cx="1094688" cy="1227594"/>
            <a:chOff x="166308" y="3336673"/>
            <a:chExt cx="1094688" cy="1211971"/>
          </a:xfrm>
        </p:grpSpPr>
        <p:sp>
          <p:nvSpPr>
            <p:cNvPr id="42" name="矩形: 圆角 41"/>
            <p:cNvSpPr/>
            <p:nvPr/>
          </p:nvSpPr>
          <p:spPr>
            <a:xfrm flipH="1">
              <a:off x="166308" y="3336673"/>
              <a:ext cx="1094688" cy="87440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100" dirty="0">
                  <a:latin typeface="微软雅黑" panose="020B0503020204020204" charset="-122"/>
                  <a:ea typeface="微软雅黑" panose="020B0503020204020204" charset="-122"/>
                </a:rPr>
                <a:t>一套关于办事的操作步骤的知识</a:t>
              </a:r>
            </a:p>
          </p:txBody>
        </p:sp>
        <p:cxnSp>
          <p:nvCxnSpPr>
            <p:cNvPr id="44" name="直接箭头连接符 43"/>
            <p:cNvCxnSpPr>
              <a:endCxn id="42" idx="2"/>
            </p:cNvCxnSpPr>
            <p:nvPr/>
          </p:nvCxnSpPr>
          <p:spPr>
            <a:xfrm flipV="1">
              <a:off x="710477" y="4211080"/>
              <a:ext cx="3175" cy="337564"/>
            </a:xfrm>
            <a:prstGeom prst="straightConnector1">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151461" y="2268823"/>
            <a:ext cx="2406604" cy="1067850"/>
            <a:chOff x="151461" y="2268823"/>
            <a:chExt cx="2406604" cy="1067850"/>
          </a:xfrm>
        </p:grpSpPr>
        <p:cxnSp>
          <p:nvCxnSpPr>
            <p:cNvPr id="18" name="连接符: 曲线 17"/>
            <p:cNvCxnSpPr>
              <a:stCxn id="4" idx="0"/>
              <a:endCxn id="42" idx="0"/>
            </p:cNvCxnSpPr>
            <p:nvPr/>
          </p:nvCxnSpPr>
          <p:spPr>
            <a:xfrm rot="5400000" flipH="1" flipV="1">
              <a:off x="1339593" y="2695110"/>
              <a:ext cx="15623" cy="1267504"/>
            </a:xfrm>
            <a:prstGeom prst="curvedConnector3">
              <a:avLst>
                <a:gd name="adj1" fmla="val 2980247"/>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矩形: 圆角 20"/>
            <p:cNvSpPr/>
            <p:nvPr/>
          </p:nvSpPr>
          <p:spPr>
            <a:xfrm flipH="1">
              <a:off x="151461" y="2268823"/>
              <a:ext cx="2406604" cy="53754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100" dirty="0">
                  <a:latin typeface="微软雅黑" panose="020B0503020204020204" charset="-122"/>
                  <a:ea typeface="微软雅黑" panose="020B0503020204020204" charset="-122"/>
                </a:rPr>
                <a:t>描述性的知识转化为程序性知识，指导解决实践中的问题。</a:t>
              </a:r>
            </a:p>
          </p:txBody>
        </p:sp>
      </p:grpSp>
      <p:grpSp>
        <p:nvGrpSpPr>
          <p:cNvPr id="23" name="组合 22"/>
          <p:cNvGrpSpPr/>
          <p:nvPr/>
        </p:nvGrpSpPr>
        <p:grpSpPr>
          <a:xfrm>
            <a:off x="1341226" y="2866283"/>
            <a:ext cx="1904622" cy="2576687"/>
            <a:chOff x="1341226" y="2866283"/>
            <a:chExt cx="1904622" cy="2576687"/>
          </a:xfrm>
        </p:grpSpPr>
        <p:sp>
          <p:nvSpPr>
            <p:cNvPr id="55" name="矩形: 圆角 54"/>
            <p:cNvSpPr/>
            <p:nvPr/>
          </p:nvSpPr>
          <p:spPr>
            <a:xfrm flipH="1">
              <a:off x="1341226" y="3160227"/>
              <a:ext cx="1354375" cy="2282743"/>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100" dirty="0">
                <a:latin typeface="微软雅黑" panose="020B0503020204020204" charset="-122"/>
                <a:ea typeface="微软雅黑" panose="020B0503020204020204" charset="-122"/>
              </a:endParaRPr>
            </a:p>
          </p:txBody>
        </p:sp>
        <p:sp>
          <p:nvSpPr>
            <p:cNvPr id="22" name="对话气泡: 圆角矩形 21"/>
            <p:cNvSpPr/>
            <p:nvPr/>
          </p:nvSpPr>
          <p:spPr>
            <a:xfrm>
              <a:off x="2649564" y="2866283"/>
              <a:ext cx="596284" cy="271867"/>
            </a:xfrm>
            <a:prstGeom prst="wedgeRoundRectCallout">
              <a:avLst>
                <a:gd name="adj1" fmla="val -48275"/>
                <a:gd name="adj2" fmla="val 76827"/>
                <a:gd name="adj3" fmla="val 16667"/>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tx1">
                      <a:lumMod val="65000"/>
                      <a:lumOff val="35000"/>
                    </a:schemeClr>
                  </a:solidFill>
                  <a:latin typeface="微软雅黑" panose="020B0503020204020204" charset="-122"/>
                  <a:ea typeface="微软雅黑" panose="020B0503020204020204" charset="-122"/>
                </a:rPr>
                <a:t>制导</a:t>
              </a:r>
            </a:p>
          </p:txBody>
        </p:sp>
      </p:grpSp>
      <p:pic>
        <p:nvPicPr>
          <p:cNvPr id="2" name="图片 1"/>
          <p:cNvPicPr>
            <a:picLocks noChangeAspect="1"/>
          </p:cNvPicPr>
          <p:nvPr/>
        </p:nvPicPr>
        <p:blipFill rotWithShape="1">
          <a:blip r:embed="rId4"/>
          <a:srcRect l="46601" r="1"/>
          <a:stretch>
            <a:fillRect/>
          </a:stretch>
        </p:blipFill>
        <p:spPr>
          <a:xfrm>
            <a:off x="422910" y="6250940"/>
            <a:ext cx="3103880" cy="1301115"/>
          </a:xfrm>
          <a:prstGeom prst="roundRect">
            <a:avLst/>
          </a:prstGeom>
          <a:solidFill>
            <a:schemeClr val="bg1"/>
          </a:solidFill>
          <a:effectLst>
            <a:outerShdw blurRad="50800" dist="38100" dir="5400000" algn="t" rotWithShape="0">
              <a:prstClr val="black">
                <a:alpha val="40000"/>
              </a:prstClr>
            </a:outerShdw>
          </a:effectLst>
        </p:spPr>
      </p:pic>
      <p:grpSp>
        <p:nvGrpSpPr>
          <p:cNvPr id="9" name="组合 8"/>
          <p:cNvGrpSpPr/>
          <p:nvPr/>
        </p:nvGrpSpPr>
        <p:grpSpPr>
          <a:xfrm>
            <a:off x="8715987" y="3192791"/>
            <a:ext cx="1875440" cy="1355851"/>
            <a:chOff x="8715987" y="3192791"/>
            <a:chExt cx="1875440" cy="1355851"/>
          </a:xfrm>
        </p:grpSpPr>
        <p:sp>
          <p:nvSpPr>
            <p:cNvPr id="78" name="椭圆 77"/>
            <p:cNvSpPr/>
            <p:nvPr/>
          </p:nvSpPr>
          <p:spPr>
            <a:xfrm flipH="1">
              <a:off x="8715987" y="3207139"/>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规则</a:t>
              </a:r>
            </a:p>
          </p:txBody>
        </p:sp>
        <p:sp>
          <p:nvSpPr>
            <p:cNvPr id="79" name="椭圆 78"/>
            <p:cNvSpPr/>
            <p:nvPr/>
          </p:nvSpPr>
          <p:spPr>
            <a:xfrm flipH="1">
              <a:off x="9816655" y="3192791"/>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监测对策</a:t>
              </a:r>
            </a:p>
          </p:txBody>
        </p:sp>
        <p:cxnSp>
          <p:nvCxnSpPr>
            <p:cNvPr id="82" name="连接符: 肘形 81"/>
            <p:cNvCxnSpPr>
              <a:stCxn id="75" idx="0"/>
              <a:endCxn id="78" idx="4"/>
            </p:cNvCxnSpPr>
            <p:nvPr/>
          </p:nvCxnSpPr>
          <p:spPr>
            <a:xfrm rot="16200000" flipV="1">
              <a:off x="9103386" y="3981899"/>
              <a:ext cx="566731" cy="566756"/>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3" name="连接符: 肘形 82"/>
            <p:cNvCxnSpPr>
              <a:stCxn id="75" idx="0"/>
              <a:endCxn id="79" idx="4"/>
            </p:cNvCxnSpPr>
            <p:nvPr/>
          </p:nvCxnSpPr>
          <p:spPr>
            <a:xfrm rot="5400000" flipH="1" flipV="1">
              <a:off x="9646546" y="3991147"/>
              <a:ext cx="581079" cy="533912"/>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8715987" y="2182943"/>
            <a:ext cx="1834260" cy="1024196"/>
            <a:chOff x="8715987" y="2182943"/>
            <a:chExt cx="1834260" cy="1024196"/>
          </a:xfrm>
        </p:grpSpPr>
        <p:cxnSp>
          <p:nvCxnSpPr>
            <p:cNvPr id="84" name="连接符: 曲线 83"/>
            <p:cNvCxnSpPr>
              <a:stCxn id="78" idx="0"/>
              <a:endCxn id="79" idx="0"/>
            </p:cNvCxnSpPr>
            <p:nvPr/>
          </p:nvCxnSpPr>
          <p:spPr>
            <a:xfrm rot="5400000" flipH="1" flipV="1">
              <a:off x="9646533" y="2649631"/>
              <a:ext cx="14348" cy="1100668"/>
            </a:xfrm>
            <a:prstGeom prst="curvedConnector3">
              <a:avLst>
                <a:gd name="adj1" fmla="val 3017515"/>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7" name="矩形: 圆角 86"/>
            <p:cNvSpPr/>
            <p:nvPr/>
          </p:nvSpPr>
          <p:spPr>
            <a:xfrm flipH="1">
              <a:off x="8715987" y="2182943"/>
              <a:ext cx="1834260" cy="53754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100" dirty="0">
                  <a:latin typeface="微软雅黑" panose="020B0503020204020204" charset="-122"/>
                  <a:ea typeface="微软雅黑" panose="020B0503020204020204" charset="-122"/>
                </a:rPr>
                <a:t>自动化、知识化、协同化</a:t>
              </a:r>
            </a:p>
          </p:txBody>
        </p:sp>
      </p:grpSp>
      <p:cxnSp>
        <p:nvCxnSpPr>
          <p:cNvPr id="89" name="连接符: 曲线 88"/>
          <p:cNvCxnSpPr>
            <a:stCxn id="55" idx="0"/>
            <a:endCxn id="78" idx="7"/>
          </p:cNvCxnSpPr>
          <p:nvPr/>
        </p:nvCxnSpPr>
        <p:spPr>
          <a:xfrm rot="16200000" flipH="1">
            <a:off x="5343743" y="-165104"/>
            <a:ext cx="160375" cy="6811037"/>
          </a:xfrm>
          <a:prstGeom prst="curvedConnector3">
            <a:avLst>
              <a:gd name="adj1" fmla="val -460944"/>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10550247" y="2451715"/>
            <a:ext cx="1264029" cy="2484313"/>
            <a:chOff x="10550247" y="2451715"/>
            <a:chExt cx="1264029" cy="2484313"/>
          </a:xfrm>
        </p:grpSpPr>
        <p:cxnSp>
          <p:nvCxnSpPr>
            <p:cNvPr id="111" name="连接符: 曲线 110"/>
            <p:cNvCxnSpPr>
              <a:stCxn id="76" idx="2"/>
              <a:endCxn id="87" idx="1"/>
            </p:cNvCxnSpPr>
            <p:nvPr/>
          </p:nvCxnSpPr>
          <p:spPr>
            <a:xfrm flipH="1" flipV="1">
              <a:off x="10550247" y="2451715"/>
              <a:ext cx="774772" cy="2484313"/>
            </a:xfrm>
            <a:prstGeom prst="curvedConnector3">
              <a:avLst>
                <a:gd name="adj1" fmla="val -29505"/>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5" name="椭圆 104"/>
            <p:cNvSpPr/>
            <p:nvPr/>
          </p:nvSpPr>
          <p:spPr>
            <a:xfrm flipH="1">
              <a:off x="11233447" y="4026275"/>
              <a:ext cx="531978" cy="505089"/>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精准</a:t>
              </a:r>
            </a:p>
          </p:txBody>
        </p:sp>
        <p:sp>
          <p:nvSpPr>
            <p:cNvPr id="106" name="椭圆 105"/>
            <p:cNvSpPr/>
            <p:nvPr/>
          </p:nvSpPr>
          <p:spPr>
            <a:xfrm flipH="1">
              <a:off x="11282298" y="3302728"/>
              <a:ext cx="531978" cy="505089"/>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高效</a:t>
              </a:r>
            </a:p>
          </p:txBody>
        </p:sp>
        <p:sp>
          <p:nvSpPr>
            <p:cNvPr id="107" name="椭圆 106"/>
            <p:cNvSpPr/>
            <p:nvPr/>
          </p:nvSpPr>
          <p:spPr>
            <a:xfrm flipH="1">
              <a:off x="10943983" y="2579180"/>
              <a:ext cx="531978" cy="505089"/>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持续</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up)">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fade">
                                      <p:cBhvr>
                                        <p:cTn id="20" dur="500"/>
                                        <p:tgtEl>
                                          <p:spTgt spid="4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down)">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down)">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wipe(down)">
                                      <p:cBhvr>
                                        <p:cTn id="35" dur="500"/>
                                        <p:tgtEl>
                                          <p:spTgt spid="4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up)">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fade">
                                      <p:cBhvr>
                                        <p:cTn id="45" dur="500"/>
                                        <p:tgtEl>
                                          <p:spTgt spid="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73"/>
                                        </p:tgtEl>
                                        <p:attrNameLst>
                                          <p:attrName>style.visibility</p:attrName>
                                        </p:attrNameLst>
                                      </p:cBhvr>
                                      <p:to>
                                        <p:strVal val="visible"/>
                                      </p:to>
                                    </p:set>
                                    <p:animEffect transition="in" filter="wipe(down)">
                                      <p:cBhvr>
                                        <p:cTn id="50" dur="500"/>
                                        <p:tgtEl>
                                          <p:spTgt spid="7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wipe(down)">
                                      <p:cBhvr>
                                        <p:cTn id="55" dur="500"/>
                                        <p:tgtEl>
                                          <p:spTgt spid="9"/>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down)">
                                      <p:cBhvr>
                                        <p:cTn id="60" dur="500"/>
                                        <p:tgtEl>
                                          <p:spTgt spid="1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wipe(down)">
                                      <p:cBhvr>
                                        <p:cTn id="65" dur="500"/>
                                        <p:tgtEl>
                                          <p:spTgt spid="11"/>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89"/>
                                        </p:tgtEl>
                                        <p:attrNameLst>
                                          <p:attrName>style.visibility</p:attrName>
                                        </p:attrNameLst>
                                      </p:cBhvr>
                                      <p:to>
                                        <p:strVal val="visible"/>
                                      </p:to>
                                    </p:set>
                                    <p:animEffect transition="in" filter="wipe(left)">
                                      <p:cBhvr>
                                        <p:cTn id="75"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9" grpId="0" animBg="1"/>
      <p:bldP spid="4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标题 3"/>
          <p:cNvSpPr>
            <a:spLocks noGrp="1"/>
          </p:cNvSpPr>
          <p:nvPr>
            <p:ph type="title"/>
          </p:nvPr>
        </p:nvSpPr>
        <p:spPr>
          <a:xfrm>
            <a:off x="425450" y="169122"/>
            <a:ext cx="6296626" cy="480131"/>
          </a:xfrm>
        </p:spPr>
        <p:txBody>
          <a:bodyPr/>
          <a:lstStyle/>
          <a:p>
            <a:r>
              <a:rPr lang="zh-CN" altLang="en-US" dirty="0">
                <a:latin typeface="Arial" panose="020B0604020202020204" pitchFamily="34" charset="0"/>
                <a:ea typeface="微软雅黑" panose="020B0503020204020204" charset="-122"/>
                <a:sym typeface="Arial" panose="020B0604020202020204" pitchFamily="34" charset="0"/>
              </a:rPr>
              <a:t>（一）任务范式</a:t>
            </a:r>
            <a:r>
              <a:rPr lang="en-US" altLang="zh-CN" sz="2000" dirty="0">
                <a:latin typeface="Arial" panose="020B0604020202020204" pitchFamily="34" charset="0"/>
                <a:ea typeface="微软雅黑" panose="020B0503020204020204" charset="-122"/>
                <a:sym typeface="Arial" panose="020B0604020202020204" pitchFamily="34" charset="0"/>
              </a:rPr>
              <a:t>——</a:t>
            </a:r>
            <a:r>
              <a:rPr lang="zh-CN" altLang="en-US" sz="2000" dirty="0">
                <a:latin typeface="Arial" panose="020B0604020202020204" pitchFamily="34" charset="0"/>
                <a:ea typeface="微软雅黑" panose="020B0503020204020204" charset="-122"/>
                <a:sym typeface="Arial" panose="020B0604020202020204" pitchFamily="34" charset="0"/>
              </a:rPr>
              <a:t>事实激活</a:t>
            </a:r>
          </a:p>
        </p:txBody>
      </p:sp>
      <p:pic>
        <p:nvPicPr>
          <p:cNvPr id="61" name="图片 60"/>
          <p:cNvPicPr>
            <a:picLocks noChangeAspect="1"/>
          </p:cNvPicPr>
          <p:nvPr/>
        </p:nvPicPr>
        <p:blipFill rotWithShape="1">
          <a:blip r:embed="rId3"/>
          <a:srcRect b="660"/>
          <a:stretch>
            <a:fillRect/>
          </a:stretch>
        </p:blipFill>
        <p:spPr>
          <a:xfrm>
            <a:off x="3019264" y="1881092"/>
            <a:ext cx="5517354" cy="3137701"/>
          </a:xfrm>
          <a:prstGeom prst="rect">
            <a:avLst/>
          </a:prstGeom>
          <a:effectLst>
            <a:outerShdw blurRad="50800" dist="38100" dir="5400000" algn="t" rotWithShape="0">
              <a:prstClr val="black">
                <a:alpha val="40000"/>
              </a:prstClr>
            </a:outerShdw>
          </a:effectLst>
        </p:spPr>
      </p:pic>
      <p:sp>
        <p:nvSpPr>
          <p:cNvPr id="63" name="矩形 62"/>
          <p:cNvSpPr/>
          <p:nvPr/>
        </p:nvSpPr>
        <p:spPr>
          <a:xfrm>
            <a:off x="3038204" y="2033403"/>
            <a:ext cx="5498414" cy="3137701"/>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文本框 68"/>
          <p:cNvSpPr txBox="1"/>
          <p:nvPr/>
        </p:nvSpPr>
        <p:spPr>
          <a:xfrm>
            <a:off x="119063" y="823242"/>
            <a:ext cx="11772899" cy="874407"/>
          </a:xfrm>
          <a:prstGeom prst="rect">
            <a:avLst/>
          </a:prstGeom>
          <a:noFill/>
        </p:spPr>
        <p:txBody>
          <a:bodyPr wrap="square" rtlCol="0">
            <a:spAutoFit/>
          </a:bodyPr>
          <a:lstStyle/>
          <a:p>
            <a:pPr>
              <a:lnSpc>
                <a:spcPct val="150000"/>
              </a:lnSpc>
            </a:pPr>
            <a:r>
              <a:rPr lang="en-US" altLang="zh-CN" sz="1800" kern="100" dirty="0">
                <a:effectLst/>
                <a:latin typeface="微软雅黑" panose="020B0503020204020204" charset="-122"/>
                <a:ea typeface="微软雅黑" panose="020B0503020204020204" charset="-122"/>
                <a:cs typeface="Times New Roman" panose="02020603050405020304" pitchFamily="18" charset="0"/>
              </a:rPr>
              <a:t>       </a:t>
            </a:r>
            <a:r>
              <a:rPr lang="zh-CN" altLang="zh-CN" sz="1800" kern="100" dirty="0">
                <a:effectLst/>
                <a:latin typeface="微软雅黑" panose="020B0503020204020204" charset="-122"/>
                <a:ea typeface="微软雅黑" panose="020B0503020204020204" charset="-122"/>
                <a:cs typeface="Times New Roman" panose="02020603050405020304" pitchFamily="18" charset="0"/>
              </a:rPr>
              <a:t>人类经济社会活动中涉及的两系统（主动系统、对象系统）以及两系统中的主体、行为、客体、时间、空间等五要素、问题、目标、事实、知识、任务共同构成人类经济社会活动的基本模式</a:t>
            </a:r>
            <a:r>
              <a:rPr lang="zh-CN" altLang="en-US" kern="100" dirty="0">
                <a:latin typeface="微软雅黑" panose="020B0503020204020204" charset="-122"/>
                <a:ea typeface="微软雅黑" panose="020B0503020204020204" charset="-122"/>
                <a:cs typeface="Times New Roman" panose="02020603050405020304" pitchFamily="18" charset="0"/>
              </a:rPr>
              <a:t>，</a:t>
            </a:r>
            <a:r>
              <a:rPr lang="zh-CN" altLang="zh-CN" sz="1800" kern="100" dirty="0">
                <a:effectLst/>
                <a:latin typeface="微软雅黑" panose="020B0503020204020204" charset="-122"/>
                <a:ea typeface="微软雅黑" panose="020B0503020204020204" charset="-122"/>
                <a:cs typeface="Times New Roman" panose="02020603050405020304" pitchFamily="18" charset="0"/>
              </a:rPr>
              <a:t>即任务范式的基本要素。</a:t>
            </a:r>
            <a:endParaRPr lang="zh-CN" altLang="en-US" dirty="0">
              <a:latin typeface="微软雅黑" panose="020B0503020204020204" charset="-122"/>
              <a:ea typeface="微软雅黑" panose="020B0503020204020204" charset="-122"/>
            </a:endParaRPr>
          </a:p>
        </p:txBody>
      </p:sp>
      <p:grpSp>
        <p:nvGrpSpPr>
          <p:cNvPr id="4" name="组合 3"/>
          <p:cNvGrpSpPr/>
          <p:nvPr/>
        </p:nvGrpSpPr>
        <p:grpSpPr>
          <a:xfrm>
            <a:off x="3038204" y="2812484"/>
            <a:ext cx="5498414" cy="3677215"/>
            <a:chOff x="3038204" y="2812484"/>
            <a:chExt cx="5498414" cy="3677215"/>
          </a:xfrm>
        </p:grpSpPr>
        <p:sp>
          <p:nvSpPr>
            <p:cNvPr id="2" name="矩形: 圆角 1"/>
            <p:cNvSpPr/>
            <p:nvPr/>
          </p:nvSpPr>
          <p:spPr>
            <a:xfrm>
              <a:off x="4876872" y="2812484"/>
              <a:ext cx="484211" cy="35454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rPr>
                <a:t>事实激活</a:t>
              </a:r>
            </a:p>
          </p:txBody>
        </p:sp>
        <p:sp>
          <p:nvSpPr>
            <p:cNvPr id="3" name="矩形: 圆角 2"/>
            <p:cNvSpPr/>
            <p:nvPr/>
          </p:nvSpPr>
          <p:spPr>
            <a:xfrm flipH="1">
              <a:off x="3038204" y="5018792"/>
              <a:ext cx="5498414" cy="147090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100" dirty="0">
                  <a:latin typeface="微软雅黑" panose="020B0503020204020204" charset="-122"/>
                  <a:ea typeface="微软雅黑" panose="020B0503020204020204" charset="-122"/>
                </a:rPr>
                <a:t>在人类经济社会活动的基本模式中，具体行为模式的展开，也都是由特定的客观事实信息引发、 激活。在信息社会，实体空间的相关主体、 行为、 客体、 关系等映 射数字系统，结合预置知识，由被编码化了的事实信息，输入数字系统，激发了数字系 统的运转。数字系统的激活不是泛化的激活，需要在特定任务语境、用特定的事实信息，结合了特定的预置知识，实现特定数字系统的运转，解决特定问题，达到预期目标，完成特定任务。</a:t>
              </a:r>
            </a:p>
          </p:txBody>
        </p:sp>
        <p:cxnSp>
          <p:nvCxnSpPr>
            <p:cNvPr id="5" name="连接符: 肘形 4"/>
            <p:cNvCxnSpPr>
              <a:stCxn id="2" idx="2"/>
              <a:endCxn id="3" idx="0"/>
            </p:cNvCxnSpPr>
            <p:nvPr/>
          </p:nvCxnSpPr>
          <p:spPr>
            <a:xfrm rot="16200000" flipH="1">
              <a:off x="4527311" y="3758692"/>
              <a:ext cx="1851766" cy="668433"/>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
        <p:nvSpPr>
          <p:cNvPr id="49" name="椭圆 48"/>
          <p:cNvSpPr/>
          <p:nvPr/>
        </p:nvSpPr>
        <p:spPr>
          <a:xfrm>
            <a:off x="8393901" y="5366859"/>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数字系统激活</a:t>
            </a:r>
          </a:p>
        </p:txBody>
      </p:sp>
      <p:sp>
        <p:nvSpPr>
          <p:cNvPr id="19" name="椭圆 18"/>
          <p:cNvSpPr/>
          <p:nvPr/>
        </p:nvSpPr>
        <p:spPr>
          <a:xfrm>
            <a:off x="997721" y="5429067"/>
            <a:ext cx="690598" cy="650355"/>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rPr>
              <a:t>工控系统</a:t>
            </a:r>
          </a:p>
        </p:txBody>
      </p:sp>
      <p:sp>
        <p:nvSpPr>
          <p:cNvPr id="43" name="椭圆 42"/>
          <p:cNvSpPr/>
          <p:nvPr/>
        </p:nvSpPr>
        <p:spPr>
          <a:xfrm>
            <a:off x="2448738" y="5366859"/>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社会体系激活</a:t>
            </a:r>
          </a:p>
        </p:txBody>
      </p:sp>
      <p:grpSp>
        <p:nvGrpSpPr>
          <p:cNvPr id="8" name="组合 7"/>
          <p:cNvGrpSpPr/>
          <p:nvPr/>
        </p:nvGrpSpPr>
        <p:grpSpPr>
          <a:xfrm>
            <a:off x="968513" y="4267876"/>
            <a:ext cx="1480226" cy="1486369"/>
            <a:chOff x="968513" y="4267876"/>
            <a:chExt cx="1480226" cy="1486369"/>
          </a:xfrm>
        </p:grpSpPr>
        <p:cxnSp>
          <p:nvCxnSpPr>
            <p:cNvPr id="66" name="连接符: 肘形 65"/>
            <p:cNvCxnSpPr>
              <a:stCxn id="43" idx="2"/>
            </p:cNvCxnSpPr>
            <p:nvPr/>
          </p:nvCxnSpPr>
          <p:spPr>
            <a:xfrm rot="10800000">
              <a:off x="1343020" y="5018793"/>
              <a:ext cx="1105719" cy="735452"/>
            </a:xfrm>
            <a:prstGeom prst="bentConnector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968513" y="4267876"/>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社控系统</a:t>
              </a:r>
            </a:p>
          </p:txBody>
        </p:sp>
      </p:grpSp>
      <p:grpSp>
        <p:nvGrpSpPr>
          <p:cNvPr id="9" name="组合 8"/>
          <p:cNvGrpSpPr/>
          <p:nvPr/>
        </p:nvGrpSpPr>
        <p:grpSpPr>
          <a:xfrm>
            <a:off x="282618" y="3041614"/>
            <a:ext cx="2186340" cy="1226263"/>
            <a:chOff x="282618" y="3041614"/>
            <a:chExt cx="2186340" cy="1226263"/>
          </a:xfrm>
        </p:grpSpPr>
        <p:sp>
          <p:nvSpPr>
            <p:cNvPr id="22" name="椭圆 21"/>
            <p:cNvSpPr/>
            <p:nvPr/>
          </p:nvSpPr>
          <p:spPr>
            <a:xfrm>
              <a:off x="282618" y="3041614"/>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系统模式</a:t>
              </a:r>
            </a:p>
          </p:txBody>
        </p:sp>
        <p:sp>
          <p:nvSpPr>
            <p:cNvPr id="24" name="椭圆 23"/>
            <p:cNvSpPr/>
            <p:nvPr/>
          </p:nvSpPr>
          <p:spPr>
            <a:xfrm>
              <a:off x="1694186" y="3041614"/>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激活条件</a:t>
              </a:r>
            </a:p>
          </p:txBody>
        </p:sp>
        <p:cxnSp>
          <p:nvCxnSpPr>
            <p:cNvPr id="25" name="连接符: 肘形 24"/>
            <p:cNvCxnSpPr>
              <a:stCxn id="21" idx="0"/>
              <a:endCxn id="22" idx="4"/>
            </p:cNvCxnSpPr>
            <p:nvPr/>
          </p:nvCxnSpPr>
          <p:spPr>
            <a:xfrm rot="16200000" flipV="1">
              <a:off x="787207" y="3699183"/>
              <a:ext cx="451490" cy="685895"/>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8" name="连接符: 肘形 27"/>
            <p:cNvCxnSpPr>
              <a:stCxn id="21" idx="0"/>
              <a:endCxn id="24" idx="4"/>
            </p:cNvCxnSpPr>
            <p:nvPr/>
          </p:nvCxnSpPr>
          <p:spPr>
            <a:xfrm rot="5400000" flipH="1" flipV="1">
              <a:off x="1492990" y="3679295"/>
              <a:ext cx="451490" cy="725673"/>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1313938" y="2280158"/>
            <a:ext cx="1633814" cy="761457"/>
            <a:chOff x="1313938" y="2280158"/>
            <a:chExt cx="1633814" cy="761457"/>
          </a:xfrm>
        </p:grpSpPr>
        <p:sp>
          <p:nvSpPr>
            <p:cNvPr id="40" name="椭圆 39"/>
            <p:cNvSpPr/>
            <p:nvPr/>
          </p:nvSpPr>
          <p:spPr>
            <a:xfrm>
              <a:off x="1313938" y="2280158"/>
              <a:ext cx="531978" cy="505089"/>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发展</a:t>
              </a:r>
            </a:p>
          </p:txBody>
        </p:sp>
        <p:sp>
          <p:nvSpPr>
            <p:cNvPr id="41" name="椭圆 40"/>
            <p:cNvSpPr/>
            <p:nvPr/>
          </p:nvSpPr>
          <p:spPr>
            <a:xfrm>
              <a:off x="1864856" y="2280158"/>
              <a:ext cx="531978" cy="505089"/>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秩序</a:t>
              </a:r>
            </a:p>
          </p:txBody>
        </p:sp>
        <p:sp>
          <p:nvSpPr>
            <p:cNvPr id="42" name="椭圆 41"/>
            <p:cNvSpPr/>
            <p:nvPr/>
          </p:nvSpPr>
          <p:spPr>
            <a:xfrm>
              <a:off x="2415774" y="2280158"/>
              <a:ext cx="531978" cy="505089"/>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突发</a:t>
              </a:r>
            </a:p>
          </p:txBody>
        </p:sp>
        <p:cxnSp>
          <p:nvCxnSpPr>
            <p:cNvPr id="44" name="连接符: 肘形 43"/>
            <p:cNvCxnSpPr>
              <a:stCxn id="24" idx="0"/>
              <a:endCxn id="42" idx="4"/>
            </p:cNvCxnSpPr>
            <p:nvPr/>
          </p:nvCxnSpPr>
          <p:spPr>
            <a:xfrm rot="5400000" flipH="1" flipV="1">
              <a:off x="2253484" y="2613336"/>
              <a:ext cx="256367" cy="600191"/>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连接符: 肘形 46"/>
            <p:cNvCxnSpPr>
              <a:stCxn id="24" idx="0"/>
              <a:endCxn id="40" idx="4"/>
            </p:cNvCxnSpPr>
            <p:nvPr/>
          </p:nvCxnSpPr>
          <p:spPr>
            <a:xfrm rot="16200000" flipV="1">
              <a:off x="1702567" y="2662608"/>
              <a:ext cx="256367" cy="501645"/>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18846" y="2280159"/>
            <a:ext cx="1261144" cy="761456"/>
            <a:chOff x="18846" y="2280159"/>
            <a:chExt cx="1261144" cy="761456"/>
          </a:xfrm>
        </p:grpSpPr>
        <p:sp>
          <p:nvSpPr>
            <p:cNvPr id="50" name="椭圆 49"/>
            <p:cNvSpPr/>
            <p:nvPr/>
          </p:nvSpPr>
          <p:spPr>
            <a:xfrm>
              <a:off x="18846" y="2299677"/>
              <a:ext cx="531978" cy="505089"/>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监测</a:t>
              </a:r>
            </a:p>
          </p:txBody>
        </p:sp>
        <p:sp>
          <p:nvSpPr>
            <p:cNvPr id="51" name="椭圆 50"/>
            <p:cNvSpPr/>
            <p:nvPr/>
          </p:nvSpPr>
          <p:spPr>
            <a:xfrm>
              <a:off x="748012" y="2280159"/>
              <a:ext cx="531978" cy="505089"/>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对策</a:t>
              </a:r>
            </a:p>
          </p:txBody>
        </p:sp>
        <p:cxnSp>
          <p:nvCxnSpPr>
            <p:cNvPr id="52" name="连接符: 肘形 51"/>
            <p:cNvCxnSpPr>
              <a:stCxn id="22" idx="0"/>
              <a:endCxn id="50" idx="4"/>
            </p:cNvCxnSpPr>
            <p:nvPr/>
          </p:nvCxnSpPr>
          <p:spPr>
            <a:xfrm rot="16200000" flipV="1">
              <a:off x="358996" y="2730605"/>
              <a:ext cx="236848" cy="385169"/>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5" name="连接符: 肘形 54"/>
            <p:cNvCxnSpPr>
              <a:stCxn id="22" idx="0"/>
              <a:endCxn id="51" idx="4"/>
            </p:cNvCxnSpPr>
            <p:nvPr/>
          </p:nvCxnSpPr>
          <p:spPr>
            <a:xfrm rot="5400000" flipH="1" flipV="1">
              <a:off x="713819" y="2741433"/>
              <a:ext cx="256366" cy="343997"/>
            </a:xfrm>
            <a:prstGeom prst="bentConnector3">
              <a:avLst>
                <a:gd name="adj1" fmla="val 45045"/>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a:off x="9168673" y="4257218"/>
            <a:ext cx="1951604" cy="1497027"/>
            <a:chOff x="9168673" y="4257218"/>
            <a:chExt cx="1951604" cy="1497027"/>
          </a:xfrm>
        </p:grpSpPr>
        <p:cxnSp>
          <p:nvCxnSpPr>
            <p:cNvPr id="67" name="连接符: 肘形 66"/>
            <p:cNvCxnSpPr>
              <a:stCxn id="49" idx="6"/>
            </p:cNvCxnSpPr>
            <p:nvPr/>
          </p:nvCxnSpPr>
          <p:spPr>
            <a:xfrm flipV="1">
              <a:off x="9168673" y="5012331"/>
              <a:ext cx="1564218" cy="741914"/>
            </a:xfrm>
            <a:prstGeom prst="bentConnector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5" name="椭圆 64"/>
            <p:cNvSpPr/>
            <p:nvPr/>
          </p:nvSpPr>
          <p:spPr>
            <a:xfrm>
              <a:off x="10345505" y="4257218"/>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信息系统</a:t>
              </a:r>
            </a:p>
          </p:txBody>
        </p:sp>
      </p:grpSp>
      <p:grpSp>
        <p:nvGrpSpPr>
          <p:cNvPr id="13" name="组合 12"/>
          <p:cNvGrpSpPr/>
          <p:nvPr/>
        </p:nvGrpSpPr>
        <p:grpSpPr>
          <a:xfrm>
            <a:off x="9659611" y="3041613"/>
            <a:ext cx="2186340" cy="1226263"/>
            <a:chOff x="9659611" y="3041613"/>
            <a:chExt cx="2186340" cy="1226263"/>
          </a:xfrm>
        </p:grpSpPr>
        <p:sp>
          <p:nvSpPr>
            <p:cNvPr id="72" name="椭圆 71"/>
            <p:cNvSpPr/>
            <p:nvPr/>
          </p:nvSpPr>
          <p:spPr>
            <a:xfrm>
              <a:off x="9659611" y="3041613"/>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预置</a:t>
              </a:r>
              <a:endParaRPr lang="en-US" altLang="zh-CN" sz="1100" dirty="0">
                <a:latin typeface="微软雅黑" panose="020B0503020204020204" charset="-122"/>
                <a:ea typeface="微软雅黑" panose="020B0503020204020204" charset="-122"/>
              </a:endParaRPr>
            </a:p>
            <a:p>
              <a:pPr algn="ctr"/>
              <a:r>
                <a:rPr lang="zh-CN" altLang="en-US" sz="1100" dirty="0">
                  <a:latin typeface="微软雅黑" panose="020B0503020204020204" charset="-122"/>
                  <a:ea typeface="微软雅黑" panose="020B0503020204020204" charset="-122"/>
                </a:rPr>
                <a:t>知识信息</a:t>
              </a:r>
            </a:p>
          </p:txBody>
        </p:sp>
        <p:sp>
          <p:nvSpPr>
            <p:cNvPr id="73" name="椭圆 72"/>
            <p:cNvSpPr/>
            <p:nvPr/>
          </p:nvSpPr>
          <p:spPr>
            <a:xfrm>
              <a:off x="11071179" y="3041613"/>
              <a:ext cx="774772" cy="77477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编码</a:t>
              </a:r>
              <a:endParaRPr lang="en-US" altLang="zh-CN" sz="1100" dirty="0">
                <a:latin typeface="微软雅黑" panose="020B0503020204020204" charset="-122"/>
                <a:ea typeface="微软雅黑" panose="020B0503020204020204" charset="-122"/>
              </a:endParaRPr>
            </a:p>
            <a:p>
              <a:pPr algn="ctr"/>
              <a:r>
                <a:rPr lang="zh-CN" altLang="en-US" sz="1100" dirty="0">
                  <a:latin typeface="微软雅黑" panose="020B0503020204020204" charset="-122"/>
                  <a:ea typeface="微软雅黑" panose="020B0503020204020204" charset="-122"/>
                </a:rPr>
                <a:t>事实信息</a:t>
              </a:r>
            </a:p>
          </p:txBody>
        </p:sp>
        <p:cxnSp>
          <p:nvCxnSpPr>
            <p:cNvPr id="74" name="连接符: 肘形 73"/>
            <p:cNvCxnSpPr>
              <a:endCxn id="72" idx="4"/>
            </p:cNvCxnSpPr>
            <p:nvPr/>
          </p:nvCxnSpPr>
          <p:spPr>
            <a:xfrm rot="16200000" flipV="1">
              <a:off x="10164200" y="3699182"/>
              <a:ext cx="451490" cy="685895"/>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连接符: 肘形 74"/>
            <p:cNvCxnSpPr>
              <a:endCxn id="73" idx="4"/>
            </p:cNvCxnSpPr>
            <p:nvPr/>
          </p:nvCxnSpPr>
          <p:spPr>
            <a:xfrm rot="5400000" flipH="1" flipV="1">
              <a:off x="10869983" y="3679294"/>
              <a:ext cx="451490" cy="725673"/>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10320920" y="2418627"/>
            <a:ext cx="863722" cy="736449"/>
            <a:chOff x="10320920" y="2418627"/>
            <a:chExt cx="863722" cy="736449"/>
          </a:xfrm>
        </p:grpSpPr>
        <p:sp>
          <p:nvSpPr>
            <p:cNvPr id="89" name="椭圆 88"/>
            <p:cNvSpPr/>
            <p:nvPr/>
          </p:nvSpPr>
          <p:spPr>
            <a:xfrm>
              <a:off x="10421860" y="2418627"/>
              <a:ext cx="531978" cy="505089"/>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任务</a:t>
              </a:r>
            </a:p>
          </p:txBody>
        </p:sp>
        <p:cxnSp>
          <p:nvCxnSpPr>
            <p:cNvPr id="46" name="直接箭头连接符 45"/>
            <p:cNvCxnSpPr>
              <a:stCxn id="72" idx="7"/>
              <a:endCxn id="89" idx="3"/>
            </p:cNvCxnSpPr>
            <p:nvPr/>
          </p:nvCxnSpPr>
          <p:spPr>
            <a:xfrm flipV="1">
              <a:off x="10320920" y="2849747"/>
              <a:ext cx="178846" cy="30532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a:stCxn id="73" idx="1"/>
              <a:endCxn id="89" idx="5"/>
            </p:cNvCxnSpPr>
            <p:nvPr/>
          </p:nvCxnSpPr>
          <p:spPr>
            <a:xfrm flipH="1" flipV="1">
              <a:off x="10875932" y="2849747"/>
              <a:ext cx="308710" cy="30532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9590802" y="1674171"/>
            <a:ext cx="2130264" cy="997001"/>
            <a:chOff x="9590802" y="1674171"/>
            <a:chExt cx="2130264" cy="997001"/>
          </a:xfrm>
        </p:grpSpPr>
        <p:sp>
          <p:nvSpPr>
            <p:cNvPr id="90" name="椭圆 89"/>
            <p:cNvSpPr/>
            <p:nvPr/>
          </p:nvSpPr>
          <p:spPr>
            <a:xfrm>
              <a:off x="9590802" y="1674171"/>
              <a:ext cx="531978" cy="505089"/>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互联</a:t>
              </a:r>
            </a:p>
          </p:txBody>
        </p:sp>
        <p:sp>
          <p:nvSpPr>
            <p:cNvPr id="91" name="椭圆 90"/>
            <p:cNvSpPr/>
            <p:nvPr/>
          </p:nvSpPr>
          <p:spPr>
            <a:xfrm>
              <a:off x="10421860" y="1682178"/>
              <a:ext cx="531978" cy="505089"/>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互通</a:t>
              </a:r>
            </a:p>
          </p:txBody>
        </p:sp>
        <p:sp>
          <p:nvSpPr>
            <p:cNvPr id="92" name="椭圆 91"/>
            <p:cNvSpPr/>
            <p:nvPr/>
          </p:nvSpPr>
          <p:spPr>
            <a:xfrm>
              <a:off x="11189088" y="1674171"/>
              <a:ext cx="531978" cy="505089"/>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互操作</a:t>
              </a:r>
            </a:p>
          </p:txBody>
        </p:sp>
        <p:cxnSp>
          <p:nvCxnSpPr>
            <p:cNvPr id="95" name="连接符: 肘形 94"/>
            <p:cNvCxnSpPr>
              <a:stCxn id="89" idx="2"/>
              <a:endCxn id="90" idx="4"/>
            </p:cNvCxnSpPr>
            <p:nvPr/>
          </p:nvCxnSpPr>
          <p:spPr>
            <a:xfrm rot="10800000">
              <a:off x="9856792" y="2179260"/>
              <a:ext cx="565069" cy="491912"/>
            </a:xfrm>
            <a:prstGeom prst="bentConnector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6" name="连接符: 肘形 95"/>
            <p:cNvCxnSpPr>
              <a:stCxn id="89" idx="6"/>
              <a:endCxn id="92" idx="4"/>
            </p:cNvCxnSpPr>
            <p:nvPr/>
          </p:nvCxnSpPr>
          <p:spPr>
            <a:xfrm flipV="1">
              <a:off x="10953838" y="2179260"/>
              <a:ext cx="501239" cy="491912"/>
            </a:xfrm>
            <a:prstGeom prst="bentConnector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a:stCxn id="89" idx="0"/>
              <a:endCxn id="91" idx="4"/>
            </p:cNvCxnSpPr>
            <p:nvPr/>
          </p:nvCxnSpPr>
          <p:spPr>
            <a:xfrm flipV="1">
              <a:off x="10687849" y="2187267"/>
              <a:ext cx="0" cy="23136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06" name="连接符: 曲线 105"/>
          <p:cNvCxnSpPr>
            <a:stCxn id="43" idx="0"/>
            <a:endCxn id="49" idx="0"/>
          </p:cNvCxnSpPr>
          <p:nvPr/>
        </p:nvCxnSpPr>
        <p:spPr>
          <a:xfrm rot="5400000" flipH="1" flipV="1">
            <a:off x="5808705" y="2394278"/>
            <a:ext cx="12700" cy="5945163"/>
          </a:xfrm>
          <a:prstGeom prst="curvedConnector3">
            <a:avLst>
              <a:gd name="adj1" fmla="val 27327276"/>
            </a:avLst>
          </a:prstGeom>
          <a:ln w="28575">
            <a:headEnd type="triangle"/>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fade">
                                      <p:cBhvr>
                                        <p:cTn id="15" dur="500"/>
                                        <p:tgtEl>
                                          <p:spTgt spid="4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down)">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down)">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down)">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wipe(down)">
                                      <p:cBhvr>
                                        <p:cTn id="50" dur="5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wipe(down)">
                                      <p:cBhvr>
                                        <p:cTn id="55" dur="500"/>
                                        <p:tgtEl>
                                          <p:spTgt spid="14"/>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wipe(down)">
                                      <p:cBhvr>
                                        <p:cTn id="60" dur="500"/>
                                        <p:tgtEl>
                                          <p:spTgt spid="1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nodeType="clickEffect">
                                  <p:stCondLst>
                                    <p:cond delay="0"/>
                                  </p:stCondLst>
                                  <p:childTnLst>
                                    <p:set>
                                      <p:cBhvr>
                                        <p:cTn id="64" dur="1" fill="hold">
                                          <p:stCondLst>
                                            <p:cond delay="0"/>
                                          </p:stCondLst>
                                        </p:cTn>
                                        <p:tgtEl>
                                          <p:spTgt spid="106"/>
                                        </p:tgtEl>
                                        <p:attrNameLst>
                                          <p:attrName>style.visibility</p:attrName>
                                        </p:attrNameLst>
                                      </p:cBhvr>
                                      <p:to>
                                        <p:strVal val="visible"/>
                                      </p:to>
                                    </p:set>
                                    <p:animEffect transition="in" filter="wipe(up)">
                                      <p:cBhvr>
                                        <p:cTn id="65"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19" grpId="0" animBg="1"/>
      <p:bldP spid="4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弧 7"/>
          <p:cNvSpPr/>
          <p:nvPr/>
        </p:nvSpPr>
        <p:spPr>
          <a:xfrm>
            <a:off x="-3447416" y="-452205"/>
            <a:ext cx="8437418" cy="7730836"/>
          </a:xfrm>
          <a:prstGeom prst="arc">
            <a:avLst>
              <a:gd name="adj1" fmla="val 17919618"/>
              <a:gd name="adj2" fmla="val 3665690"/>
            </a:avLst>
          </a:prstGeom>
          <a:ln w="508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0" name="椭圆 9"/>
          <p:cNvSpPr/>
          <p:nvPr/>
        </p:nvSpPr>
        <p:spPr>
          <a:xfrm>
            <a:off x="3940477" y="2544275"/>
            <a:ext cx="1809455" cy="1763273"/>
          </a:xfrm>
          <a:prstGeom prst="ellipse">
            <a:avLst/>
          </a:prstGeom>
          <a:solidFill>
            <a:srgbClr val="12CAD6">
              <a:alpha val="6862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5400" dirty="0">
              <a:latin typeface="微软雅黑" panose="020B0503020204020204" charset="-122"/>
              <a:ea typeface="微软雅黑" panose="020B0503020204020204" charset="-122"/>
              <a:cs typeface="微软雅黑" panose="020B0503020204020204" charset="-122"/>
            </a:endParaRPr>
          </a:p>
        </p:txBody>
      </p:sp>
      <p:sp>
        <p:nvSpPr>
          <p:cNvPr id="11" name="椭圆 10"/>
          <p:cNvSpPr/>
          <p:nvPr/>
        </p:nvSpPr>
        <p:spPr>
          <a:xfrm>
            <a:off x="4070195" y="2653990"/>
            <a:ext cx="1550020" cy="1550020"/>
          </a:xfrm>
          <a:prstGeom prst="ellipse">
            <a:avLst/>
          </a:prstGeom>
          <a:solidFill>
            <a:srgbClr val="12C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5400" dirty="0">
                <a:latin typeface="微软雅黑" panose="020B0503020204020204" charset="-122"/>
                <a:ea typeface="微软雅黑" panose="020B0503020204020204" charset="-122"/>
                <a:cs typeface="微软雅黑" panose="020B0503020204020204" charset="-122"/>
              </a:rPr>
              <a:t>二</a:t>
            </a:r>
          </a:p>
        </p:txBody>
      </p:sp>
      <p:sp>
        <p:nvSpPr>
          <p:cNvPr id="12" name="文本框 11"/>
          <p:cNvSpPr txBox="1"/>
          <p:nvPr/>
        </p:nvSpPr>
        <p:spPr>
          <a:xfrm>
            <a:off x="5982629" y="3059269"/>
            <a:ext cx="6395266" cy="707886"/>
          </a:xfrm>
          <a:prstGeom prst="rect">
            <a:avLst/>
          </a:prstGeom>
          <a:noFill/>
        </p:spPr>
        <p:txBody>
          <a:bodyPr wrap="square" rtlCol="0">
            <a:spAutoFit/>
          </a:bodyPr>
          <a:lstStyle/>
          <a:p>
            <a:r>
              <a:rPr kumimoji="1" lang="zh-CN" altLang="en-US" sz="40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工程实践</a:t>
            </a:r>
          </a:p>
        </p:txBody>
      </p:sp>
      <p:sp>
        <p:nvSpPr>
          <p:cNvPr id="13" name="椭圆 12"/>
          <p:cNvSpPr/>
          <p:nvPr/>
        </p:nvSpPr>
        <p:spPr>
          <a:xfrm>
            <a:off x="4516244" y="1762599"/>
            <a:ext cx="320560" cy="306179"/>
          </a:xfrm>
          <a:prstGeom prst="ellipse">
            <a:avLst/>
          </a:prstGeom>
          <a:solidFill>
            <a:srgbClr val="12C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5400" dirty="0">
              <a:latin typeface="微软雅黑" panose="020B0503020204020204" charset="-122"/>
              <a:ea typeface="微软雅黑" panose="020B0503020204020204" charset="-122"/>
              <a:cs typeface="微软雅黑" panose="020B0503020204020204" charset="-122"/>
            </a:endParaRPr>
          </a:p>
        </p:txBody>
      </p:sp>
      <p:sp>
        <p:nvSpPr>
          <p:cNvPr id="14" name="椭圆 13"/>
          <p:cNvSpPr/>
          <p:nvPr/>
        </p:nvSpPr>
        <p:spPr>
          <a:xfrm>
            <a:off x="4513419" y="4783045"/>
            <a:ext cx="320560" cy="306179"/>
          </a:xfrm>
          <a:prstGeom prst="ellipse">
            <a:avLst/>
          </a:prstGeom>
          <a:solidFill>
            <a:srgbClr val="12C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5400" dirty="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2141034" y="3090047"/>
            <a:ext cx="1839952" cy="646331"/>
          </a:xfrm>
          <a:prstGeom prst="rect">
            <a:avLst/>
          </a:prstGeom>
          <a:noFill/>
        </p:spPr>
        <p:txBody>
          <a:bodyPr wrap="square" rtlCol="0">
            <a:spAutoFit/>
          </a:bodyPr>
          <a:lstStyle/>
          <a:p>
            <a:pPr algn="ctr"/>
            <a:r>
              <a:rPr kumimoji="1" lang="en-US" altLang="zh-CN" sz="3600" b="1" dirty="0">
                <a:solidFill>
                  <a:schemeClr val="tx1">
                    <a:lumMod val="65000"/>
                    <a:lumOff val="35000"/>
                  </a:schemeClr>
                </a:solidFill>
              </a:rPr>
              <a:t>PART</a:t>
            </a:r>
            <a:endParaRPr kumimoji="1" lang="zh-CN" altLang="en-US" sz="3600" b="1" dirty="0">
              <a:solidFill>
                <a:schemeClr val="tx1">
                  <a:lumMod val="65000"/>
                  <a:lumOff val="35000"/>
                </a:schemeClr>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5450" y="170111"/>
            <a:ext cx="4971768" cy="478155"/>
          </a:xfrm>
        </p:spPr>
        <p:txBody>
          <a:bodyPr/>
          <a:lstStyle/>
          <a:p>
            <a:r>
              <a:rPr lang="zh-CN" altLang="en-US" dirty="0"/>
              <a:t>工程实践内容</a:t>
            </a:r>
          </a:p>
        </p:txBody>
      </p:sp>
      <p:pic>
        <p:nvPicPr>
          <p:cNvPr id="5" name="图片 4"/>
          <p:cNvPicPr>
            <a:picLocks noChangeAspect="1"/>
          </p:cNvPicPr>
          <p:nvPr/>
        </p:nvPicPr>
        <p:blipFill rotWithShape="1">
          <a:blip r:embed="rId3"/>
          <a:srcRect b="660"/>
          <a:stretch>
            <a:fillRect/>
          </a:stretch>
        </p:blipFill>
        <p:spPr>
          <a:xfrm>
            <a:off x="23730" y="3135492"/>
            <a:ext cx="4340764" cy="2468578"/>
          </a:xfrm>
          <a:prstGeom prst="rect">
            <a:avLst/>
          </a:prstGeom>
          <a:effectLst>
            <a:outerShdw blurRad="50800" dist="38100" dir="5400000" algn="t" rotWithShape="0">
              <a:prstClr val="black">
                <a:alpha val="40000"/>
              </a:prstClr>
            </a:outerShdw>
          </a:effectLst>
        </p:spPr>
      </p:pic>
      <p:sp>
        <p:nvSpPr>
          <p:cNvPr id="12" name="矩形: 圆角 11"/>
          <p:cNvSpPr/>
          <p:nvPr/>
        </p:nvSpPr>
        <p:spPr>
          <a:xfrm>
            <a:off x="4959350" y="4100830"/>
            <a:ext cx="900000" cy="54000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领域</a:t>
            </a:r>
          </a:p>
          <a:p>
            <a:pPr algn="ctr"/>
            <a:r>
              <a:rPr lang="zh-CN" altLang="en-US" sz="1400" dirty="0">
                <a:latin typeface="微软雅黑" panose="020B0503020204020204" charset="-122"/>
                <a:ea typeface="微软雅黑" panose="020B0503020204020204" charset="-122"/>
              </a:rPr>
              <a:t>划分</a:t>
            </a:r>
          </a:p>
        </p:txBody>
      </p:sp>
      <p:sp>
        <p:nvSpPr>
          <p:cNvPr id="106" name="矩形: 圆角 105"/>
          <p:cNvSpPr/>
          <p:nvPr/>
        </p:nvSpPr>
        <p:spPr>
          <a:xfrm>
            <a:off x="6409055" y="4100195"/>
            <a:ext cx="900000" cy="540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预置</a:t>
            </a:r>
          </a:p>
          <a:p>
            <a:pPr algn="ctr"/>
            <a:r>
              <a:rPr lang="zh-CN" altLang="en-US" sz="1400" dirty="0">
                <a:latin typeface="微软雅黑" panose="020B0503020204020204" charset="-122"/>
                <a:ea typeface="微软雅黑" panose="020B0503020204020204" charset="-122"/>
              </a:rPr>
              <a:t>信息</a:t>
            </a:r>
          </a:p>
        </p:txBody>
      </p:sp>
      <p:sp>
        <p:nvSpPr>
          <p:cNvPr id="80" name="矩形: 圆角 79"/>
          <p:cNvSpPr/>
          <p:nvPr/>
        </p:nvSpPr>
        <p:spPr>
          <a:xfrm>
            <a:off x="6379845" y="3124835"/>
            <a:ext cx="958215" cy="54000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预置信息资源库</a:t>
            </a:r>
          </a:p>
        </p:txBody>
      </p:sp>
      <p:sp>
        <p:nvSpPr>
          <p:cNvPr id="82" name="矩形: 圆角 81"/>
          <p:cNvSpPr/>
          <p:nvPr/>
        </p:nvSpPr>
        <p:spPr>
          <a:xfrm>
            <a:off x="6927215" y="2047875"/>
            <a:ext cx="958215" cy="3162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知识信息</a:t>
            </a:r>
          </a:p>
        </p:txBody>
      </p:sp>
      <p:cxnSp>
        <p:nvCxnSpPr>
          <p:cNvPr id="4" name="直接箭头连接符 3"/>
          <p:cNvCxnSpPr>
            <a:stCxn id="5" idx="3"/>
            <a:endCxn id="12" idx="1"/>
          </p:cNvCxnSpPr>
          <p:nvPr/>
        </p:nvCxnSpPr>
        <p:spPr>
          <a:xfrm>
            <a:off x="4357370" y="4370070"/>
            <a:ext cx="594995" cy="635"/>
          </a:xfrm>
          <a:prstGeom prst="straightConnector1">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15" name="直接箭头连接符 14"/>
          <p:cNvCxnSpPr>
            <a:stCxn id="12" idx="3"/>
            <a:endCxn id="106" idx="1"/>
          </p:cNvCxnSpPr>
          <p:nvPr/>
        </p:nvCxnSpPr>
        <p:spPr>
          <a:xfrm flipV="1">
            <a:off x="5852160" y="4370070"/>
            <a:ext cx="549910" cy="635"/>
          </a:xfrm>
          <a:prstGeom prst="straightConnector1">
            <a:avLst/>
          </a:prstGeom>
          <a:solidFill>
            <a:schemeClr val="accent2"/>
          </a:solidFill>
          <a:ln w="28575">
            <a:tailEnd type="arrow" w="med" len="med"/>
          </a:ln>
        </p:spPr>
        <p:style>
          <a:lnRef idx="1">
            <a:schemeClr val="accent2"/>
          </a:lnRef>
          <a:fillRef idx="0">
            <a:schemeClr val="accent2"/>
          </a:fillRef>
          <a:effectRef idx="0">
            <a:schemeClr val="accent2"/>
          </a:effectRef>
          <a:fontRef idx="minor">
            <a:schemeClr val="tx1"/>
          </a:fontRef>
        </p:style>
      </p:cxnSp>
      <p:sp>
        <p:nvSpPr>
          <p:cNvPr id="6" name="矩形: 圆角 79"/>
          <p:cNvSpPr/>
          <p:nvPr/>
        </p:nvSpPr>
        <p:spPr>
          <a:xfrm>
            <a:off x="4607560" y="1705610"/>
            <a:ext cx="828000" cy="3162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charset="-122"/>
                <a:ea typeface="微软雅黑" panose="020B0503020204020204" charset="-122"/>
              </a:rPr>
              <a:t>典型事件</a:t>
            </a:r>
          </a:p>
        </p:txBody>
      </p:sp>
      <p:sp>
        <p:nvSpPr>
          <p:cNvPr id="7" name="矩形: 圆角 79"/>
          <p:cNvSpPr/>
          <p:nvPr/>
        </p:nvSpPr>
        <p:spPr>
          <a:xfrm>
            <a:off x="4607560" y="2054225"/>
            <a:ext cx="828000" cy="3162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charset="-122"/>
                <a:ea typeface="微软雅黑" panose="020B0503020204020204" charset="-122"/>
              </a:rPr>
              <a:t>司法执法</a:t>
            </a:r>
          </a:p>
        </p:txBody>
      </p:sp>
      <p:sp>
        <p:nvSpPr>
          <p:cNvPr id="8" name="矩形: 圆角 79"/>
          <p:cNvSpPr/>
          <p:nvPr/>
        </p:nvSpPr>
        <p:spPr>
          <a:xfrm>
            <a:off x="4607560" y="2393950"/>
            <a:ext cx="828000" cy="3162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charset="-122"/>
                <a:ea typeface="微软雅黑" panose="020B0503020204020204" charset="-122"/>
              </a:rPr>
              <a:t>综合动态</a:t>
            </a:r>
          </a:p>
        </p:txBody>
      </p:sp>
      <p:sp>
        <p:nvSpPr>
          <p:cNvPr id="11" name="矩形: 圆角 79"/>
          <p:cNvSpPr/>
          <p:nvPr/>
        </p:nvSpPr>
        <p:spPr>
          <a:xfrm>
            <a:off x="8206105" y="1682750"/>
            <a:ext cx="828000" cy="3162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charset="-122"/>
                <a:ea typeface="微软雅黑" panose="020B0503020204020204" charset="-122"/>
              </a:rPr>
              <a:t>党的文献</a:t>
            </a:r>
          </a:p>
        </p:txBody>
      </p:sp>
      <p:sp>
        <p:nvSpPr>
          <p:cNvPr id="16" name="矩形: 圆角 79"/>
          <p:cNvSpPr/>
          <p:nvPr/>
        </p:nvSpPr>
        <p:spPr>
          <a:xfrm>
            <a:off x="9050655" y="1688465"/>
            <a:ext cx="828000" cy="3162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charset="-122"/>
                <a:ea typeface="微软雅黑" panose="020B0503020204020204" charset="-122"/>
              </a:rPr>
              <a:t>两会文件</a:t>
            </a:r>
          </a:p>
        </p:txBody>
      </p:sp>
      <p:sp>
        <p:nvSpPr>
          <p:cNvPr id="17" name="矩形: 圆角 79"/>
          <p:cNvSpPr/>
          <p:nvPr/>
        </p:nvSpPr>
        <p:spPr>
          <a:xfrm>
            <a:off x="8206105" y="2041525"/>
            <a:ext cx="828000" cy="3162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charset="-122"/>
                <a:ea typeface="微软雅黑" panose="020B0503020204020204" charset="-122"/>
              </a:rPr>
              <a:t>法律法规</a:t>
            </a:r>
          </a:p>
        </p:txBody>
      </p:sp>
      <p:sp>
        <p:nvSpPr>
          <p:cNvPr id="18" name="矩形: 圆角 79"/>
          <p:cNvSpPr/>
          <p:nvPr/>
        </p:nvSpPr>
        <p:spPr>
          <a:xfrm>
            <a:off x="9050655" y="2036445"/>
            <a:ext cx="828000" cy="3162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charset="-122"/>
                <a:ea typeface="微软雅黑" panose="020B0503020204020204" charset="-122"/>
              </a:rPr>
              <a:t>专项政策</a:t>
            </a:r>
          </a:p>
        </p:txBody>
      </p:sp>
      <p:sp>
        <p:nvSpPr>
          <p:cNvPr id="24" name="矩形: 圆角 79"/>
          <p:cNvSpPr/>
          <p:nvPr/>
        </p:nvSpPr>
        <p:spPr>
          <a:xfrm>
            <a:off x="8206105" y="2393950"/>
            <a:ext cx="828000" cy="3162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charset="-122"/>
                <a:ea typeface="微软雅黑" panose="020B0503020204020204" charset="-122"/>
              </a:rPr>
              <a:t>领导指示</a:t>
            </a:r>
          </a:p>
        </p:txBody>
      </p:sp>
      <p:sp>
        <p:nvSpPr>
          <p:cNvPr id="25" name="矩形: 圆角 79"/>
          <p:cNvSpPr/>
          <p:nvPr/>
        </p:nvSpPr>
        <p:spPr>
          <a:xfrm>
            <a:off x="9050655" y="2384425"/>
            <a:ext cx="828000" cy="3162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charset="-122"/>
                <a:ea typeface="微软雅黑" panose="020B0503020204020204" charset="-122"/>
              </a:rPr>
              <a:t>标准规范</a:t>
            </a:r>
          </a:p>
        </p:txBody>
      </p:sp>
      <p:cxnSp>
        <p:nvCxnSpPr>
          <p:cNvPr id="27" name="直接箭头连接符 26"/>
          <p:cNvCxnSpPr>
            <a:stCxn id="106" idx="0"/>
            <a:endCxn id="80" idx="2"/>
          </p:cNvCxnSpPr>
          <p:nvPr/>
        </p:nvCxnSpPr>
        <p:spPr>
          <a:xfrm flipV="1">
            <a:off x="6852285" y="3664585"/>
            <a:ext cx="0" cy="435610"/>
          </a:xfrm>
          <a:prstGeom prst="straightConnector1">
            <a:avLst/>
          </a:prstGeom>
          <a:solidFill>
            <a:schemeClr val="accent2"/>
          </a:solidFill>
          <a:ln>
            <a:tailEnd type="arrow" w="med" len="med"/>
          </a:ln>
        </p:spPr>
        <p:style>
          <a:lnRef idx="1">
            <a:schemeClr val="accent2"/>
          </a:lnRef>
          <a:fillRef idx="0">
            <a:schemeClr val="accent2"/>
          </a:fillRef>
          <a:effectRef idx="0">
            <a:schemeClr val="accent2"/>
          </a:effectRef>
          <a:fontRef idx="minor">
            <a:schemeClr val="tx1"/>
          </a:fontRef>
        </p:style>
      </p:cxnSp>
      <p:sp>
        <p:nvSpPr>
          <p:cNvPr id="42" name="矩形: 圆角 105"/>
          <p:cNvSpPr/>
          <p:nvPr/>
        </p:nvSpPr>
        <p:spPr>
          <a:xfrm>
            <a:off x="6409055" y="5093970"/>
            <a:ext cx="900000" cy="540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预置知识本体</a:t>
            </a:r>
          </a:p>
        </p:txBody>
      </p:sp>
      <p:sp>
        <p:nvSpPr>
          <p:cNvPr id="48" name="矩形: 圆角 81"/>
          <p:cNvSpPr/>
          <p:nvPr/>
        </p:nvSpPr>
        <p:spPr>
          <a:xfrm>
            <a:off x="5737860" y="2048510"/>
            <a:ext cx="958215" cy="3162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事实信息</a:t>
            </a:r>
          </a:p>
        </p:txBody>
      </p:sp>
      <p:cxnSp>
        <p:nvCxnSpPr>
          <p:cNvPr id="51" name="直接箭头连接符 50"/>
          <p:cNvCxnSpPr>
            <a:stCxn id="106" idx="2"/>
            <a:endCxn id="42" idx="0"/>
          </p:cNvCxnSpPr>
          <p:nvPr/>
        </p:nvCxnSpPr>
        <p:spPr>
          <a:xfrm>
            <a:off x="6852285" y="4639945"/>
            <a:ext cx="0" cy="454025"/>
          </a:xfrm>
          <a:prstGeom prst="straightConnector1">
            <a:avLst/>
          </a:prstGeom>
          <a:solidFill>
            <a:schemeClr val="accent2"/>
          </a:solidFill>
          <a:ln>
            <a:tailEnd type="arrow" w="med" len="med"/>
          </a:ln>
        </p:spPr>
        <p:style>
          <a:lnRef idx="1">
            <a:schemeClr val="accent2"/>
          </a:lnRef>
          <a:fillRef idx="0">
            <a:schemeClr val="accent2"/>
          </a:fillRef>
          <a:effectRef idx="0">
            <a:schemeClr val="accent2"/>
          </a:effectRef>
          <a:fontRef idx="minor">
            <a:schemeClr val="tx1"/>
          </a:fontRef>
        </p:style>
      </p:cxnSp>
      <p:sp>
        <p:nvSpPr>
          <p:cNvPr id="52" name="矩形: 圆角 105"/>
          <p:cNvSpPr/>
          <p:nvPr/>
        </p:nvSpPr>
        <p:spPr>
          <a:xfrm>
            <a:off x="8276590" y="4100830"/>
            <a:ext cx="900000" cy="540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提炼知识能力</a:t>
            </a:r>
          </a:p>
        </p:txBody>
      </p:sp>
      <p:cxnSp>
        <p:nvCxnSpPr>
          <p:cNvPr id="53" name="直接箭头连接符 52"/>
          <p:cNvCxnSpPr>
            <a:stCxn id="106" idx="3"/>
            <a:endCxn id="52" idx="1"/>
          </p:cNvCxnSpPr>
          <p:nvPr/>
        </p:nvCxnSpPr>
        <p:spPr>
          <a:xfrm>
            <a:off x="7308850" y="4370070"/>
            <a:ext cx="967740" cy="635"/>
          </a:xfrm>
          <a:prstGeom prst="straightConnector1">
            <a:avLst/>
          </a:prstGeom>
          <a:solidFill>
            <a:schemeClr val="accent2"/>
          </a:solidFill>
          <a:ln w="28575">
            <a:tailEnd type="arrow" w="med" len="med"/>
          </a:ln>
        </p:spPr>
        <p:style>
          <a:lnRef idx="1">
            <a:schemeClr val="accent2"/>
          </a:lnRef>
          <a:fillRef idx="0">
            <a:schemeClr val="accent2"/>
          </a:fillRef>
          <a:effectRef idx="0">
            <a:schemeClr val="accent2"/>
          </a:effectRef>
          <a:fontRef idx="minor">
            <a:schemeClr val="tx1"/>
          </a:fontRef>
        </p:style>
      </p:cxnSp>
      <p:sp>
        <p:nvSpPr>
          <p:cNvPr id="54" name="矩形: 圆角 105"/>
          <p:cNvSpPr/>
          <p:nvPr/>
        </p:nvSpPr>
        <p:spPr>
          <a:xfrm>
            <a:off x="9912985" y="3445510"/>
            <a:ext cx="900000" cy="53975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信息</a:t>
            </a:r>
            <a:br>
              <a:rPr lang="zh-CN" altLang="en-US" sz="1400" dirty="0">
                <a:latin typeface="微软雅黑" panose="020B0503020204020204" charset="-122"/>
                <a:ea typeface="微软雅黑" panose="020B0503020204020204" charset="-122"/>
              </a:rPr>
            </a:br>
            <a:r>
              <a:rPr lang="zh-CN" altLang="en-US" sz="1400" dirty="0">
                <a:latin typeface="微软雅黑" panose="020B0503020204020204" charset="-122"/>
                <a:ea typeface="微软雅黑" panose="020B0503020204020204" charset="-122"/>
              </a:rPr>
              <a:t>抽取</a:t>
            </a:r>
          </a:p>
        </p:txBody>
      </p:sp>
      <p:sp>
        <p:nvSpPr>
          <p:cNvPr id="55" name="矩形: 圆角 105"/>
          <p:cNvSpPr/>
          <p:nvPr/>
        </p:nvSpPr>
        <p:spPr>
          <a:xfrm>
            <a:off x="9927232" y="4091756"/>
            <a:ext cx="899795" cy="53975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常识</a:t>
            </a:r>
          </a:p>
          <a:p>
            <a:pPr algn="ctr"/>
            <a:r>
              <a:rPr lang="zh-CN" altLang="en-US" sz="1400" dirty="0">
                <a:latin typeface="微软雅黑" panose="020B0503020204020204" charset="-122"/>
                <a:ea typeface="微软雅黑" panose="020B0503020204020204" charset="-122"/>
              </a:rPr>
              <a:t>校对</a:t>
            </a:r>
          </a:p>
        </p:txBody>
      </p:sp>
      <p:sp>
        <p:nvSpPr>
          <p:cNvPr id="56" name="矩形: 圆角 105"/>
          <p:cNvSpPr/>
          <p:nvPr/>
        </p:nvSpPr>
        <p:spPr>
          <a:xfrm>
            <a:off x="9918890" y="4785066"/>
            <a:ext cx="899795" cy="53975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机器</a:t>
            </a:r>
            <a:endParaRPr lang="en-US" altLang="zh-CN" sz="1400" dirty="0">
              <a:latin typeface="微软雅黑" panose="020B0503020204020204" charset="-122"/>
              <a:ea typeface="微软雅黑" panose="020B0503020204020204" charset="-122"/>
            </a:endParaRPr>
          </a:p>
          <a:p>
            <a:pPr algn="ctr"/>
            <a:r>
              <a:rPr lang="zh-CN" altLang="en-US" sz="1400" dirty="0">
                <a:latin typeface="微软雅黑" panose="020B0503020204020204" charset="-122"/>
                <a:ea typeface="微软雅黑" panose="020B0503020204020204" charset="-122"/>
              </a:rPr>
              <a:t>问答</a:t>
            </a:r>
          </a:p>
        </p:txBody>
      </p:sp>
      <p:sp>
        <p:nvSpPr>
          <p:cNvPr id="57" name="矩形: 圆角 105"/>
          <p:cNvSpPr/>
          <p:nvPr/>
        </p:nvSpPr>
        <p:spPr>
          <a:xfrm>
            <a:off x="9926597" y="2810014"/>
            <a:ext cx="899795" cy="540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信息</a:t>
            </a:r>
            <a:endParaRPr lang="en-US" altLang="zh-CN" sz="1400" dirty="0">
              <a:latin typeface="微软雅黑" panose="020B0503020204020204" charset="-122"/>
              <a:ea typeface="微软雅黑" panose="020B0503020204020204" charset="-122"/>
            </a:endParaRPr>
          </a:p>
          <a:p>
            <a:pPr algn="ctr"/>
            <a:r>
              <a:rPr lang="zh-CN" altLang="en-US" sz="1400" dirty="0">
                <a:latin typeface="微软雅黑" panose="020B0503020204020204" charset="-122"/>
                <a:ea typeface="微软雅黑" panose="020B0503020204020204" charset="-122"/>
              </a:rPr>
              <a:t>识别</a:t>
            </a:r>
          </a:p>
        </p:txBody>
      </p:sp>
      <p:cxnSp>
        <p:nvCxnSpPr>
          <p:cNvPr id="59" name="肘形连接符 58"/>
          <p:cNvCxnSpPr>
            <a:stCxn id="80" idx="0"/>
            <a:endCxn id="48" idx="2"/>
          </p:cNvCxnSpPr>
          <p:nvPr/>
        </p:nvCxnSpPr>
        <p:spPr>
          <a:xfrm rot="16200000" flipV="1">
            <a:off x="6151245" y="2423795"/>
            <a:ext cx="760095" cy="641985"/>
          </a:xfrm>
          <a:prstGeom prst="bentConnector3">
            <a:avLst>
              <a:gd name="adj1" fmla="val 49958"/>
            </a:avLst>
          </a:prstGeom>
          <a:ln>
            <a:tailEnd type="arrow" w="med" len="med"/>
          </a:ln>
        </p:spPr>
        <p:style>
          <a:lnRef idx="1">
            <a:schemeClr val="accent2"/>
          </a:lnRef>
          <a:fillRef idx="0">
            <a:schemeClr val="accent2"/>
          </a:fillRef>
          <a:effectRef idx="0">
            <a:schemeClr val="accent2"/>
          </a:effectRef>
          <a:fontRef idx="minor">
            <a:schemeClr val="tx1"/>
          </a:fontRef>
        </p:style>
      </p:cxnSp>
      <p:cxnSp>
        <p:nvCxnSpPr>
          <p:cNvPr id="60" name="肘形连接符 59"/>
          <p:cNvCxnSpPr>
            <a:stCxn id="80" idx="0"/>
            <a:endCxn id="82" idx="2"/>
          </p:cNvCxnSpPr>
          <p:nvPr/>
        </p:nvCxnSpPr>
        <p:spPr>
          <a:xfrm rot="16200000">
            <a:off x="6745605" y="2470785"/>
            <a:ext cx="760730" cy="547370"/>
          </a:xfrm>
          <a:prstGeom prst="bentConnector3">
            <a:avLst>
              <a:gd name="adj1" fmla="val 50000"/>
            </a:avLst>
          </a:prstGeom>
          <a:ln>
            <a:tailEnd type="arrow" w="med" len="med"/>
          </a:ln>
        </p:spPr>
        <p:style>
          <a:lnRef idx="1">
            <a:schemeClr val="accent2"/>
          </a:lnRef>
          <a:fillRef idx="0">
            <a:schemeClr val="accent2"/>
          </a:fillRef>
          <a:effectRef idx="0">
            <a:schemeClr val="accent2"/>
          </a:effectRef>
          <a:fontRef idx="minor">
            <a:schemeClr val="tx1"/>
          </a:fontRef>
        </p:style>
      </p:cxnSp>
      <p:cxnSp>
        <p:nvCxnSpPr>
          <p:cNvPr id="61" name="肘形连接符 60"/>
          <p:cNvCxnSpPr>
            <a:stCxn id="48" idx="1"/>
            <a:endCxn id="6" idx="3"/>
          </p:cNvCxnSpPr>
          <p:nvPr/>
        </p:nvCxnSpPr>
        <p:spPr>
          <a:xfrm rot="10800000">
            <a:off x="5428615" y="1863725"/>
            <a:ext cx="302260" cy="342900"/>
          </a:xfrm>
          <a:prstGeom prst="bentConnector3">
            <a:avLst>
              <a:gd name="adj1" fmla="val 50000"/>
            </a:avLst>
          </a:prstGeom>
          <a:ln>
            <a:tailEnd type="arrow" w="med" len="med"/>
          </a:ln>
        </p:spPr>
        <p:style>
          <a:lnRef idx="1">
            <a:schemeClr val="accent2"/>
          </a:lnRef>
          <a:fillRef idx="0">
            <a:schemeClr val="accent2"/>
          </a:fillRef>
          <a:effectRef idx="0">
            <a:schemeClr val="accent2"/>
          </a:effectRef>
          <a:fontRef idx="minor">
            <a:schemeClr val="tx1"/>
          </a:fontRef>
        </p:style>
      </p:cxnSp>
      <p:cxnSp>
        <p:nvCxnSpPr>
          <p:cNvPr id="63" name="肘形连接符 62"/>
          <p:cNvCxnSpPr>
            <a:stCxn id="48" idx="1"/>
            <a:endCxn id="8" idx="3"/>
          </p:cNvCxnSpPr>
          <p:nvPr/>
        </p:nvCxnSpPr>
        <p:spPr>
          <a:xfrm rot="10800000" flipV="1">
            <a:off x="5428615" y="2206625"/>
            <a:ext cx="302260" cy="345440"/>
          </a:xfrm>
          <a:prstGeom prst="bentConnector3">
            <a:avLst>
              <a:gd name="adj1" fmla="val 50000"/>
            </a:avLst>
          </a:prstGeom>
          <a:ln>
            <a:tailEnd type="arrow" w="med" len="med"/>
          </a:ln>
        </p:spPr>
        <p:style>
          <a:lnRef idx="1">
            <a:schemeClr val="accent2"/>
          </a:lnRef>
          <a:fillRef idx="0">
            <a:schemeClr val="accent2"/>
          </a:fillRef>
          <a:effectRef idx="0">
            <a:schemeClr val="accent2"/>
          </a:effectRef>
          <a:fontRef idx="minor">
            <a:schemeClr val="tx1"/>
          </a:fontRef>
        </p:style>
      </p:cxnSp>
      <p:cxnSp>
        <p:nvCxnSpPr>
          <p:cNvPr id="66" name="肘形连接符 65"/>
          <p:cNvCxnSpPr>
            <a:stCxn id="82" idx="3"/>
            <a:endCxn id="11" idx="1"/>
          </p:cNvCxnSpPr>
          <p:nvPr/>
        </p:nvCxnSpPr>
        <p:spPr>
          <a:xfrm flipV="1">
            <a:off x="7878445" y="1840865"/>
            <a:ext cx="320675" cy="365125"/>
          </a:xfrm>
          <a:prstGeom prst="bentConnector3">
            <a:avLst>
              <a:gd name="adj1" fmla="val 50099"/>
            </a:avLst>
          </a:prstGeom>
          <a:ln>
            <a:tailEnd type="arrow" w="med" len="med"/>
          </a:ln>
        </p:spPr>
        <p:style>
          <a:lnRef idx="1">
            <a:schemeClr val="accent2"/>
          </a:lnRef>
          <a:fillRef idx="0">
            <a:schemeClr val="accent2"/>
          </a:fillRef>
          <a:effectRef idx="0">
            <a:schemeClr val="accent2"/>
          </a:effectRef>
          <a:fontRef idx="minor">
            <a:schemeClr val="tx1"/>
          </a:fontRef>
        </p:style>
      </p:cxnSp>
      <p:cxnSp>
        <p:nvCxnSpPr>
          <p:cNvPr id="70" name="肘形连接符 69"/>
          <p:cNvCxnSpPr>
            <a:stCxn id="82" idx="3"/>
            <a:endCxn id="24" idx="1"/>
          </p:cNvCxnSpPr>
          <p:nvPr/>
        </p:nvCxnSpPr>
        <p:spPr>
          <a:xfrm>
            <a:off x="7878445" y="2205990"/>
            <a:ext cx="320675" cy="346075"/>
          </a:xfrm>
          <a:prstGeom prst="bentConnector3">
            <a:avLst>
              <a:gd name="adj1" fmla="val 50099"/>
            </a:avLst>
          </a:prstGeom>
          <a:ln>
            <a:tailEnd type="arrow" w="med" len="med"/>
          </a:ln>
        </p:spPr>
        <p:style>
          <a:lnRef idx="1">
            <a:schemeClr val="accent2"/>
          </a:lnRef>
          <a:fillRef idx="0">
            <a:schemeClr val="accent2"/>
          </a:fillRef>
          <a:effectRef idx="0">
            <a:schemeClr val="accent2"/>
          </a:effectRef>
          <a:fontRef idx="minor">
            <a:schemeClr val="tx1"/>
          </a:fontRef>
        </p:style>
      </p:cxnSp>
      <p:cxnSp>
        <p:nvCxnSpPr>
          <p:cNvPr id="71" name="直接箭头连接符 70"/>
          <p:cNvCxnSpPr>
            <a:stCxn id="48" idx="1"/>
            <a:endCxn id="7" idx="3"/>
          </p:cNvCxnSpPr>
          <p:nvPr/>
        </p:nvCxnSpPr>
        <p:spPr>
          <a:xfrm flipH="1">
            <a:off x="5428615" y="2206625"/>
            <a:ext cx="302260" cy="5715"/>
          </a:xfrm>
          <a:prstGeom prst="straightConnector1">
            <a:avLst/>
          </a:prstGeom>
          <a:ln>
            <a:tailEnd type="arrow" w="med" len="med"/>
          </a:ln>
        </p:spPr>
        <p:style>
          <a:lnRef idx="1">
            <a:schemeClr val="accent2"/>
          </a:lnRef>
          <a:fillRef idx="0">
            <a:schemeClr val="accent2"/>
          </a:fillRef>
          <a:effectRef idx="0">
            <a:schemeClr val="accent2"/>
          </a:effectRef>
          <a:fontRef idx="minor">
            <a:schemeClr val="tx1"/>
          </a:fontRef>
        </p:style>
      </p:cxnSp>
      <p:cxnSp>
        <p:nvCxnSpPr>
          <p:cNvPr id="72" name="直接箭头连接符 71"/>
          <p:cNvCxnSpPr>
            <a:stCxn id="82" idx="3"/>
            <a:endCxn id="17" idx="1"/>
          </p:cNvCxnSpPr>
          <p:nvPr/>
        </p:nvCxnSpPr>
        <p:spPr>
          <a:xfrm flipV="1">
            <a:off x="7878445" y="2199640"/>
            <a:ext cx="320675" cy="6350"/>
          </a:xfrm>
          <a:prstGeom prst="straightConnector1">
            <a:avLst/>
          </a:prstGeom>
          <a:ln>
            <a:tailEnd type="arrow" w="med" len="med"/>
          </a:ln>
        </p:spPr>
        <p:style>
          <a:lnRef idx="1">
            <a:schemeClr val="accent2"/>
          </a:lnRef>
          <a:fillRef idx="0">
            <a:schemeClr val="accent2"/>
          </a:fillRef>
          <a:effectRef idx="0">
            <a:schemeClr val="accent2"/>
          </a:effectRef>
          <a:fontRef idx="minor">
            <a:schemeClr val="tx1"/>
          </a:fontRef>
        </p:style>
      </p:cxnSp>
      <p:cxnSp>
        <p:nvCxnSpPr>
          <p:cNvPr id="73" name="肘形连接符 72"/>
          <p:cNvCxnSpPr>
            <a:stCxn id="52" idx="3"/>
            <a:endCxn id="57" idx="1"/>
          </p:cNvCxnSpPr>
          <p:nvPr/>
        </p:nvCxnSpPr>
        <p:spPr>
          <a:xfrm flipV="1">
            <a:off x="9176385" y="3079750"/>
            <a:ext cx="749935" cy="1290955"/>
          </a:xfrm>
          <a:prstGeom prst="bentConnector3">
            <a:avLst>
              <a:gd name="adj1" fmla="val 50042"/>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74" name="肘形连接符 73"/>
          <p:cNvCxnSpPr>
            <a:stCxn id="52" idx="3"/>
            <a:endCxn id="56" idx="1"/>
          </p:cNvCxnSpPr>
          <p:nvPr/>
        </p:nvCxnSpPr>
        <p:spPr>
          <a:xfrm>
            <a:off x="9176385" y="4370705"/>
            <a:ext cx="742315" cy="684530"/>
          </a:xfrm>
          <a:prstGeom prst="bentConnector3">
            <a:avLst>
              <a:gd name="adj1" fmla="val 51325"/>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77" name="肘形连接符 76"/>
          <p:cNvCxnSpPr>
            <a:stCxn id="52" idx="3"/>
            <a:endCxn id="54" idx="1"/>
          </p:cNvCxnSpPr>
          <p:nvPr/>
        </p:nvCxnSpPr>
        <p:spPr>
          <a:xfrm flipV="1">
            <a:off x="9176385" y="3715385"/>
            <a:ext cx="736600" cy="655320"/>
          </a:xfrm>
          <a:prstGeom prst="bentConnector3">
            <a:avLst>
              <a:gd name="adj1" fmla="val 50000"/>
            </a:avLst>
          </a:prstGeom>
          <a:ln>
            <a:tailEnd type="arrow" w="med" len="med"/>
          </a:ln>
        </p:spPr>
        <p:style>
          <a:lnRef idx="1">
            <a:schemeClr val="accent2"/>
          </a:lnRef>
          <a:fillRef idx="0">
            <a:schemeClr val="accent2"/>
          </a:fillRef>
          <a:effectRef idx="0">
            <a:schemeClr val="accent2"/>
          </a:effectRef>
          <a:fontRef idx="minor">
            <a:schemeClr val="tx1"/>
          </a:fontRef>
        </p:style>
      </p:cxnSp>
      <p:cxnSp>
        <p:nvCxnSpPr>
          <p:cNvPr id="78" name="肘形连接符 77"/>
          <p:cNvCxnSpPr>
            <a:stCxn id="52" idx="3"/>
            <a:endCxn id="55" idx="1"/>
          </p:cNvCxnSpPr>
          <p:nvPr/>
        </p:nvCxnSpPr>
        <p:spPr>
          <a:xfrm flipV="1">
            <a:off x="9176385" y="4361815"/>
            <a:ext cx="750570" cy="8890"/>
          </a:xfrm>
          <a:prstGeom prst="bentConnector3">
            <a:avLst>
              <a:gd name="adj1" fmla="val 50000"/>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81" name="肘形连接符 80"/>
          <p:cNvCxnSpPr>
            <a:endCxn id="42" idx="1"/>
          </p:cNvCxnSpPr>
          <p:nvPr/>
        </p:nvCxnSpPr>
        <p:spPr>
          <a:xfrm>
            <a:off x="4357370" y="5363845"/>
            <a:ext cx="2051685" cy="3175"/>
          </a:xfrm>
          <a:prstGeom prst="bentConnector2">
            <a:avLst/>
          </a:prstGeom>
          <a:ln w="28575">
            <a:tailEnd type="arrow" w="med" len="med"/>
          </a:ln>
        </p:spPr>
        <p:style>
          <a:lnRef idx="1">
            <a:schemeClr val="accent2"/>
          </a:lnRef>
          <a:fillRef idx="0">
            <a:schemeClr val="accent2"/>
          </a:fillRef>
          <a:effectRef idx="0">
            <a:schemeClr val="accent2"/>
          </a:effectRef>
          <a:fontRef idx="minor">
            <a:schemeClr val="tx1"/>
          </a:fontRef>
        </p:style>
      </p:cxnSp>
      <p:sp>
        <p:nvSpPr>
          <p:cNvPr id="83" name="文本框 82"/>
          <p:cNvSpPr txBox="1"/>
          <p:nvPr/>
        </p:nvSpPr>
        <p:spPr>
          <a:xfrm>
            <a:off x="4448175" y="5019040"/>
            <a:ext cx="1461135" cy="344805"/>
          </a:xfrm>
          <a:prstGeom prst="rect">
            <a:avLst/>
          </a:prstGeom>
          <a:noFill/>
        </p:spPr>
        <p:txBody>
          <a:bodyPr wrap="square" rtlCol="0">
            <a:spAutoFit/>
          </a:bodyPr>
          <a:lstStyle/>
          <a:p>
            <a:pPr algn="ctr">
              <a:lnSpc>
                <a:spcPct val="150000"/>
              </a:lnSpc>
            </a:pPr>
            <a:r>
              <a:rPr lang="zh-CN" altLang="en-US" sz="1100" kern="100" dirty="0">
                <a:effectLst/>
                <a:latin typeface="微软雅黑" panose="020B0503020204020204" charset="-122"/>
                <a:ea typeface="微软雅黑" panose="020B0503020204020204" charset="-122"/>
                <a:cs typeface="Times New Roman" panose="02020603050405020304" pitchFamily="18" charset="0"/>
              </a:rPr>
              <a:t>范式要素分类分级</a:t>
            </a:r>
          </a:p>
        </p:txBody>
      </p:sp>
      <p:cxnSp>
        <p:nvCxnSpPr>
          <p:cNvPr id="84" name="肘形连接符 83"/>
          <p:cNvCxnSpPr>
            <a:endCxn id="80" idx="1"/>
          </p:cNvCxnSpPr>
          <p:nvPr/>
        </p:nvCxnSpPr>
        <p:spPr>
          <a:xfrm>
            <a:off x="4364355" y="3394710"/>
            <a:ext cx="2015490" cy="3175"/>
          </a:xfrm>
          <a:prstGeom prst="bentConnector2">
            <a:avLst/>
          </a:prstGeom>
          <a:ln>
            <a:tailEnd type="arrow" w="med" len="med"/>
          </a:ln>
        </p:spPr>
        <p:style>
          <a:lnRef idx="1">
            <a:schemeClr val="accent2"/>
          </a:lnRef>
          <a:fillRef idx="0">
            <a:schemeClr val="accent2"/>
          </a:fillRef>
          <a:effectRef idx="0">
            <a:schemeClr val="accent2"/>
          </a:effectRef>
          <a:fontRef idx="minor">
            <a:schemeClr val="tx1"/>
          </a:fontRef>
        </p:style>
      </p:cxnSp>
      <p:sp>
        <p:nvSpPr>
          <p:cNvPr id="86" name="文本框 85"/>
          <p:cNvSpPr txBox="1"/>
          <p:nvPr/>
        </p:nvSpPr>
        <p:spPr>
          <a:xfrm>
            <a:off x="4448175" y="3005455"/>
            <a:ext cx="1461135" cy="344805"/>
          </a:xfrm>
          <a:prstGeom prst="rect">
            <a:avLst/>
          </a:prstGeom>
          <a:noFill/>
        </p:spPr>
        <p:txBody>
          <a:bodyPr wrap="square" rtlCol="0">
            <a:spAutoFit/>
          </a:bodyPr>
          <a:lstStyle/>
          <a:p>
            <a:pPr algn="ctr">
              <a:lnSpc>
                <a:spcPct val="150000"/>
              </a:lnSpc>
            </a:pPr>
            <a:r>
              <a:rPr lang="zh-CN" altLang="en-US" sz="1100" kern="100" dirty="0">
                <a:effectLst/>
                <a:latin typeface="微软雅黑" panose="020B0503020204020204" charset="-122"/>
                <a:ea typeface="微软雅黑" panose="020B0503020204020204" charset="-122"/>
                <a:cs typeface="Times New Roman" panose="02020603050405020304" pitchFamily="18" charset="0"/>
              </a:rPr>
              <a:t>实体信息形式化搜集</a:t>
            </a:r>
          </a:p>
        </p:txBody>
      </p:sp>
      <p:cxnSp>
        <p:nvCxnSpPr>
          <p:cNvPr id="87" name="肘形连接符 86"/>
          <p:cNvCxnSpPr>
            <a:stCxn id="42" idx="3"/>
            <a:endCxn id="52" idx="2"/>
          </p:cNvCxnSpPr>
          <p:nvPr/>
        </p:nvCxnSpPr>
        <p:spPr>
          <a:xfrm flipV="1">
            <a:off x="7308850" y="4640580"/>
            <a:ext cx="1417955" cy="723265"/>
          </a:xfrm>
          <a:prstGeom prst="bentConnector2">
            <a:avLst/>
          </a:prstGeom>
          <a:ln>
            <a:tailEnd type="arrow" w="med" len="med"/>
          </a:ln>
        </p:spPr>
        <p:style>
          <a:lnRef idx="1">
            <a:schemeClr val="accent2"/>
          </a:lnRef>
          <a:fillRef idx="0">
            <a:schemeClr val="accent2"/>
          </a:fillRef>
          <a:effectRef idx="0">
            <a:schemeClr val="accent2"/>
          </a:effectRef>
          <a:fontRef idx="minor">
            <a:schemeClr val="tx1"/>
          </a:fontRef>
        </p:style>
      </p:cxnSp>
      <p:cxnSp>
        <p:nvCxnSpPr>
          <p:cNvPr id="95" name="肘形连接符 94"/>
          <p:cNvCxnSpPr>
            <a:stCxn id="80" idx="3"/>
            <a:endCxn id="52" idx="0"/>
          </p:cNvCxnSpPr>
          <p:nvPr/>
        </p:nvCxnSpPr>
        <p:spPr>
          <a:xfrm>
            <a:off x="7338060" y="3394710"/>
            <a:ext cx="1388745" cy="706120"/>
          </a:xfrm>
          <a:prstGeom prst="bentConnector2">
            <a:avLst/>
          </a:prstGeom>
          <a:ln>
            <a:tailEnd type="arrow" w="med" len="med"/>
          </a:ln>
        </p:spPr>
        <p:style>
          <a:lnRef idx="1">
            <a:schemeClr val="accent2"/>
          </a:lnRef>
          <a:fillRef idx="0">
            <a:schemeClr val="accent2"/>
          </a:fillRef>
          <a:effectRef idx="0">
            <a:schemeClr val="accent2"/>
          </a:effectRef>
          <a:fontRef idx="minor">
            <a:schemeClr val="tx1"/>
          </a:fontRef>
        </p:style>
      </p:cxnSp>
      <p:sp>
        <p:nvSpPr>
          <p:cNvPr id="96" name="文本框 95"/>
          <p:cNvSpPr txBox="1"/>
          <p:nvPr/>
        </p:nvSpPr>
        <p:spPr>
          <a:xfrm>
            <a:off x="7649210" y="5019040"/>
            <a:ext cx="1002665" cy="344805"/>
          </a:xfrm>
          <a:prstGeom prst="rect">
            <a:avLst/>
          </a:prstGeom>
          <a:noFill/>
        </p:spPr>
        <p:txBody>
          <a:bodyPr wrap="square" rtlCol="0">
            <a:spAutoFit/>
          </a:bodyPr>
          <a:lstStyle/>
          <a:p>
            <a:pPr algn="ctr">
              <a:lnSpc>
                <a:spcPct val="150000"/>
              </a:lnSpc>
            </a:pPr>
            <a:r>
              <a:rPr lang="zh-CN" altLang="en-US" sz="1100" kern="100" dirty="0">
                <a:effectLst/>
                <a:latin typeface="微软雅黑" panose="020B0503020204020204" charset="-122"/>
                <a:ea typeface="微软雅黑" panose="020B0503020204020204" charset="-122"/>
                <a:cs typeface="Times New Roman" panose="02020603050405020304" pitchFamily="18" charset="0"/>
              </a:rPr>
              <a:t>词</a:t>
            </a:r>
            <a:r>
              <a:rPr lang="en-US" altLang="zh-CN" sz="1100" kern="100" dirty="0">
                <a:effectLst/>
                <a:latin typeface="微软雅黑" panose="020B0503020204020204" charset="-122"/>
                <a:ea typeface="微软雅黑" panose="020B0503020204020204" charset="-122"/>
                <a:cs typeface="Times New Roman" panose="02020603050405020304" pitchFamily="18" charset="0"/>
              </a:rPr>
              <a:t>/</a:t>
            </a:r>
            <a:r>
              <a:rPr lang="zh-CN" altLang="en-US" sz="1100" kern="100" dirty="0">
                <a:effectLst/>
                <a:latin typeface="微软雅黑" panose="020B0503020204020204" charset="-122"/>
                <a:ea typeface="微软雅黑" panose="020B0503020204020204" charset="-122"/>
                <a:cs typeface="Times New Roman" panose="02020603050405020304" pitchFamily="18" charset="0"/>
              </a:rPr>
              <a:t>标签</a:t>
            </a:r>
            <a:r>
              <a:rPr lang="en-US" altLang="zh-CN" sz="1100" kern="100" dirty="0">
                <a:effectLst/>
                <a:latin typeface="微软雅黑" panose="020B0503020204020204" charset="-122"/>
                <a:ea typeface="微软雅黑" panose="020B0503020204020204" charset="-122"/>
                <a:cs typeface="Times New Roman" panose="02020603050405020304" pitchFamily="18" charset="0"/>
              </a:rPr>
              <a:t>/</a:t>
            </a:r>
            <a:r>
              <a:rPr lang="zh-CN" altLang="en-US" sz="1100" kern="100" dirty="0">
                <a:effectLst/>
                <a:latin typeface="微软雅黑" panose="020B0503020204020204" charset="-122"/>
                <a:ea typeface="微软雅黑" panose="020B0503020204020204" charset="-122"/>
                <a:cs typeface="Times New Roman" panose="02020603050405020304" pitchFamily="18" charset="0"/>
              </a:rPr>
              <a:t>规则</a:t>
            </a:r>
          </a:p>
        </p:txBody>
      </p:sp>
      <p:sp>
        <p:nvSpPr>
          <p:cNvPr id="97" name="文本框 96"/>
          <p:cNvSpPr txBox="1"/>
          <p:nvPr/>
        </p:nvSpPr>
        <p:spPr>
          <a:xfrm>
            <a:off x="7778115" y="3394710"/>
            <a:ext cx="855980" cy="344805"/>
          </a:xfrm>
          <a:prstGeom prst="rect">
            <a:avLst/>
          </a:prstGeom>
          <a:noFill/>
        </p:spPr>
        <p:txBody>
          <a:bodyPr wrap="square" rtlCol="0">
            <a:spAutoFit/>
          </a:bodyPr>
          <a:lstStyle/>
          <a:p>
            <a:pPr algn="ctr">
              <a:lnSpc>
                <a:spcPct val="150000"/>
              </a:lnSpc>
            </a:pPr>
            <a:r>
              <a:rPr lang="zh-CN" sz="1100" kern="100" dirty="0">
                <a:effectLst/>
                <a:latin typeface="微软雅黑" panose="020B0503020204020204" charset="-122"/>
                <a:ea typeface="微软雅黑" panose="020B0503020204020204" charset="-122"/>
                <a:cs typeface="Times New Roman" panose="02020603050405020304" pitchFamily="18" charset="0"/>
              </a:rPr>
              <a:t>知识</a:t>
            </a:r>
            <a:r>
              <a:rPr lang="en-US" altLang="zh-CN" sz="1100" kern="100" dirty="0">
                <a:effectLst/>
                <a:latin typeface="微软雅黑" panose="020B0503020204020204" charset="-122"/>
                <a:ea typeface="微软雅黑" panose="020B0503020204020204" charset="-122"/>
                <a:cs typeface="Times New Roman" panose="02020603050405020304" pitchFamily="18" charset="0"/>
              </a:rPr>
              <a:t>/</a:t>
            </a:r>
            <a:r>
              <a:rPr lang="zh-CN" sz="1100" kern="100" dirty="0">
                <a:effectLst/>
                <a:latin typeface="微软雅黑" panose="020B0503020204020204" charset="-122"/>
                <a:ea typeface="微软雅黑" panose="020B0503020204020204" charset="-122"/>
                <a:cs typeface="Times New Roman" panose="02020603050405020304" pitchFamily="18" charset="0"/>
              </a:rPr>
              <a:t>语料</a:t>
            </a:r>
          </a:p>
        </p:txBody>
      </p:sp>
      <p:grpSp>
        <p:nvGrpSpPr>
          <p:cNvPr id="98" name="组合 97"/>
          <p:cNvGrpSpPr/>
          <p:nvPr/>
        </p:nvGrpSpPr>
        <p:grpSpPr>
          <a:xfrm>
            <a:off x="1867088" y="1399141"/>
            <a:ext cx="8856000" cy="266961"/>
            <a:chOff x="3200588" y="1399141"/>
            <a:chExt cx="5956785" cy="266961"/>
          </a:xfrm>
        </p:grpSpPr>
        <p:cxnSp>
          <p:nvCxnSpPr>
            <p:cNvPr id="99" name="连接符: 曲线 64"/>
            <p:cNvCxnSpPr/>
            <p:nvPr/>
          </p:nvCxnSpPr>
          <p:spPr>
            <a:xfrm rot="5400000" flipH="1" flipV="1">
              <a:off x="4469570" y="130159"/>
              <a:ext cx="266961" cy="2804926"/>
            </a:xfrm>
            <a:prstGeom prst="curvedConnector3">
              <a:avLst/>
            </a:prstGeom>
            <a:ln>
              <a:solidFill>
                <a:schemeClr val="accent2"/>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00" name="连接符: 曲线 93"/>
            <p:cNvCxnSpPr/>
            <p:nvPr/>
          </p:nvCxnSpPr>
          <p:spPr>
            <a:xfrm rot="10800000">
              <a:off x="6005513" y="1399141"/>
              <a:ext cx="3151860" cy="198812"/>
            </a:xfrm>
            <a:prstGeom prst="curvedConnector2">
              <a:avLst/>
            </a:prstGeom>
            <a:ln>
              <a:solidFill>
                <a:schemeClr val="accent2"/>
              </a:solidFill>
              <a:tailEnd type="triangle" w="med" len="med"/>
            </a:ln>
          </p:spPr>
          <p:style>
            <a:lnRef idx="1">
              <a:schemeClr val="accent1"/>
            </a:lnRef>
            <a:fillRef idx="0">
              <a:schemeClr val="accent1"/>
            </a:fillRef>
            <a:effectRef idx="0">
              <a:schemeClr val="accent1"/>
            </a:effectRef>
            <a:fontRef idx="minor">
              <a:schemeClr val="tx1"/>
            </a:fontRef>
          </p:style>
        </p:cxnSp>
      </p:grpSp>
      <p:sp>
        <p:nvSpPr>
          <p:cNvPr id="101" name="右大括号 100"/>
          <p:cNvSpPr/>
          <p:nvPr/>
        </p:nvSpPr>
        <p:spPr>
          <a:xfrm>
            <a:off x="11080750" y="1682750"/>
            <a:ext cx="75565" cy="4968000"/>
          </a:xfrm>
          <a:prstGeom prst="rightBrace">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 name="流程图: 联系 101"/>
          <p:cNvSpPr/>
          <p:nvPr/>
        </p:nvSpPr>
        <p:spPr>
          <a:xfrm>
            <a:off x="11358880" y="2945765"/>
            <a:ext cx="522605" cy="2038350"/>
          </a:xfrm>
          <a:prstGeom prst="flowChartConnector">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智慧系统</a:t>
            </a:r>
          </a:p>
        </p:txBody>
      </p:sp>
      <p:cxnSp>
        <p:nvCxnSpPr>
          <p:cNvPr id="103" name="肘形连接符 102"/>
          <p:cNvCxnSpPr>
            <a:stCxn id="102" idx="4"/>
            <a:endCxn id="5" idx="2"/>
          </p:cNvCxnSpPr>
          <p:nvPr/>
        </p:nvCxnSpPr>
        <p:spPr>
          <a:xfrm rot="5400000">
            <a:off x="6597015" y="581025"/>
            <a:ext cx="620395" cy="9426575"/>
          </a:xfrm>
          <a:prstGeom prst="bentConnector3">
            <a:avLst>
              <a:gd name="adj1" fmla="val 290481"/>
            </a:avLst>
          </a:prstGeom>
          <a:ln w="28575">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104" name="文本框 103"/>
          <p:cNvSpPr txBox="1"/>
          <p:nvPr/>
        </p:nvSpPr>
        <p:spPr>
          <a:xfrm>
            <a:off x="2665389" y="6414135"/>
            <a:ext cx="1461135" cy="344805"/>
          </a:xfrm>
          <a:prstGeom prst="rect">
            <a:avLst/>
          </a:prstGeom>
          <a:noFill/>
        </p:spPr>
        <p:txBody>
          <a:bodyPr wrap="square" rtlCol="0">
            <a:spAutoFit/>
          </a:bodyPr>
          <a:lstStyle/>
          <a:p>
            <a:pPr algn="ctr">
              <a:lnSpc>
                <a:spcPct val="150000"/>
              </a:lnSpc>
            </a:pPr>
            <a:r>
              <a:rPr lang="zh-CN" altLang="en-US" sz="1100" kern="100" dirty="0">
                <a:effectLst/>
                <a:latin typeface="微软雅黑" panose="020B0503020204020204" charset="-122"/>
                <a:ea typeface="微软雅黑" panose="020B0503020204020204" charset="-122"/>
                <a:cs typeface="Times New Roman" panose="02020603050405020304" pitchFamily="18" charset="0"/>
              </a:rPr>
              <a:t>解决问题</a:t>
            </a:r>
            <a:r>
              <a:rPr lang="en-US" altLang="zh-CN" sz="1100" kern="100" dirty="0">
                <a:effectLst/>
                <a:latin typeface="微软雅黑" panose="020B0503020204020204" charset="-122"/>
                <a:ea typeface="微软雅黑" panose="020B0503020204020204" charset="-122"/>
                <a:cs typeface="Times New Roman" panose="02020603050405020304" pitchFamily="18" charset="0"/>
              </a:rPr>
              <a:t>/</a:t>
            </a:r>
            <a:r>
              <a:rPr lang="zh-CN" altLang="en-US" sz="1100" kern="100" dirty="0">
                <a:effectLst/>
                <a:latin typeface="微软雅黑" panose="020B0503020204020204" charset="-122"/>
                <a:ea typeface="微软雅黑" panose="020B0503020204020204" charset="-122"/>
                <a:cs typeface="Times New Roman" panose="02020603050405020304" pitchFamily="18" charset="0"/>
              </a:rPr>
              <a:t>实现目标</a:t>
            </a:r>
          </a:p>
        </p:txBody>
      </p:sp>
      <p:sp>
        <p:nvSpPr>
          <p:cNvPr id="64" name="文本框 63"/>
          <p:cNvSpPr txBox="1"/>
          <p:nvPr/>
        </p:nvSpPr>
        <p:spPr>
          <a:xfrm>
            <a:off x="5671326" y="3958900"/>
            <a:ext cx="855980" cy="316369"/>
          </a:xfrm>
          <a:prstGeom prst="rect">
            <a:avLst/>
          </a:prstGeom>
          <a:noFill/>
        </p:spPr>
        <p:txBody>
          <a:bodyPr wrap="square" rtlCol="0">
            <a:spAutoFit/>
          </a:bodyPr>
          <a:lstStyle/>
          <a:p>
            <a:pPr algn="ctr">
              <a:lnSpc>
                <a:spcPct val="150000"/>
              </a:lnSpc>
            </a:pPr>
            <a:r>
              <a:rPr lang="zh-CN" altLang="en-US" sz="1100" kern="100" dirty="0">
                <a:effectLst/>
                <a:latin typeface="微软雅黑" panose="020B0503020204020204" charset="-122"/>
                <a:ea typeface="微软雅黑" panose="020B0503020204020204" charset="-122"/>
                <a:cs typeface="Times New Roman" panose="02020603050405020304" pitchFamily="18" charset="0"/>
              </a:rPr>
              <a:t>限定</a:t>
            </a:r>
            <a:endParaRPr lang="zh-CN" sz="11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65" name="矩形: 圆角 64"/>
          <p:cNvSpPr/>
          <p:nvPr/>
        </p:nvSpPr>
        <p:spPr>
          <a:xfrm>
            <a:off x="7219706" y="6081427"/>
            <a:ext cx="1052195" cy="3162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问题</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目标</a:t>
            </a:r>
          </a:p>
        </p:txBody>
      </p:sp>
      <p:sp>
        <p:nvSpPr>
          <p:cNvPr id="67" name="矩形: 圆角 81"/>
          <p:cNvSpPr/>
          <p:nvPr/>
        </p:nvSpPr>
        <p:spPr>
          <a:xfrm>
            <a:off x="5574989" y="6081395"/>
            <a:ext cx="958215" cy="3162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知识模型</a:t>
            </a:r>
          </a:p>
        </p:txBody>
      </p:sp>
      <p:sp>
        <p:nvSpPr>
          <p:cNvPr id="68" name="矩形: 圆角 79"/>
          <p:cNvSpPr/>
          <p:nvPr/>
        </p:nvSpPr>
        <p:spPr>
          <a:xfrm>
            <a:off x="8519011" y="6081628"/>
            <a:ext cx="828000" cy="3162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charset="-122"/>
                <a:ea typeface="微软雅黑" panose="020B0503020204020204" charset="-122"/>
              </a:rPr>
              <a:t>指标量化</a:t>
            </a:r>
          </a:p>
        </p:txBody>
      </p:sp>
      <p:sp>
        <p:nvSpPr>
          <p:cNvPr id="69" name="矩形: 圆角 79"/>
          <p:cNvSpPr/>
          <p:nvPr/>
        </p:nvSpPr>
        <p:spPr>
          <a:xfrm>
            <a:off x="4339978" y="5924024"/>
            <a:ext cx="828000" cy="3162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charset="-122"/>
                <a:ea typeface="微软雅黑" panose="020B0503020204020204" charset="-122"/>
              </a:rPr>
              <a:t>知识地图</a:t>
            </a:r>
          </a:p>
        </p:txBody>
      </p:sp>
      <p:cxnSp>
        <p:nvCxnSpPr>
          <p:cNvPr id="75" name="肘形连接符 86"/>
          <p:cNvCxnSpPr>
            <a:stCxn id="42" idx="2"/>
            <a:endCxn id="65" idx="1"/>
          </p:cNvCxnSpPr>
          <p:nvPr/>
        </p:nvCxnSpPr>
        <p:spPr>
          <a:xfrm rot="5400000" flipV="1">
            <a:off x="6736715" y="5756275"/>
            <a:ext cx="605790" cy="360680"/>
          </a:xfrm>
          <a:prstGeom prst="bentConnector2">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76" name="肘形连接符 86"/>
          <p:cNvCxnSpPr>
            <a:stCxn id="42" idx="2"/>
            <a:endCxn id="67" idx="3"/>
          </p:cNvCxnSpPr>
          <p:nvPr/>
        </p:nvCxnSpPr>
        <p:spPr>
          <a:xfrm rot="5400000">
            <a:off x="6393498" y="5773738"/>
            <a:ext cx="605790" cy="325755"/>
          </a:xfrm>
          <a:prstGeom prst="bentConnector2">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79" name="肘形连接符 86"/>
          <p:cNvCxnSpPr>
            <a:stCxn id="65" idx="3"/>
            <a:endCxn id="68" idx="1"/>
          </p:cNvCxnSpPr>
          <p:nvPr/>
        </p:nvCxnSpPr>
        <p:spPr>
          <a:xfrm>
            <a:off x="8272145" y="6239510"/>
            <a:ext cx="247015" cy="3175"/>
          </a:xfrm>
          <a:prstGeom prst="bentConnector2">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94" name="肘形连接符 86"/>
          <p:cNvCxnSpPr>
            <a:stCxn id="67" idx="1"/>
            <a:endCxn id="69" idx="3"/>
          </p:cNvCxnSpPr>
          <p:nvPr/>
        </p:nvCxnSpPr>
        <p:spPr>
          <a:xfrm rot="10800000">
            <a:off x="5159375" y="6082030"/>
            <a:ext cx="407035" cy="157480"/>
          </a:xfrm>
          <a:prstGeom prst="bentConnector3">
            <a:avLst>
              <a:gd name="adj1" fmla="val 49922"/>
            </a:avLst>
          </a:prstGeom>
          <a:ln w="28575">
            <a:tailEnd type="arrow" w="med" len="med"/>
          </a:ln>
        </p:spPr>
        <p:style>
          <a:lnRef idx="1">
            <a:schemeClr val="accent2"/>
          </a:lnRef>
          <a:fillRef idx="0">
            <a:schemeClr val="accent2"/>
          </a:fillRef>
          <a:effectRef idx="0">
            <a:schemeClr val="accent2"/>
          </a:effectRef>
          <a:fontRef idx="minor">
            <a:schemeClr val="tx1"/>
          </a:fontRef>
        </p:style>
      </p:cxnSp>
      <p:sp>
        <p:nvSpPr>
          <p:cNvPr id="105" name="矩形: 圆角 105"/>
          <p:cNvSpPr/>
          <p:nvPr/>
        </p:nvSpPr>
        <p:spPr>
          <a:xfrm>
            <a:off x="9927232" y="5434330"/>
            <a:ext cx="900000" cy="53975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智能</a:t>
            </a:r>
            <a:endParaRPr lang="en-US" altLang="zh-CN" sz="1400" dirty="0">
              <a:latin typeface="微软雅黑" panose="020B0503020204020204" charset="-122"/>
              <a:ea typeface="微软雅黑" panose="020B0503020204020204" charset="-122"/>
            </a:endParaRPr>
          </a:p>
          <a:p>
            <a:pPr algn="ctr"/>
            <a:r>
              <a:rPr lang="zh-CN" altLang="en-US" sz="1400" dirty="0">
                <a:latin typeface="微软雅黑" panose="020B0503020204020204" charset="-122"/>
                <a:ea typeface="微软雅黑" panose="020B0503020204020204" charset="-122"/>
              </a:rPr>
              <a:t>搜索</a:t>
            </a:r>
          </a:p>
        </p:txBody>
      </p:sp>
      <p:cxnSp>
        <p:nvCxnSpPr>
          <p:cNvPr id="107" name="肘形连接符 73"/>
          <p:cNvCxnSpPr>
            <a:stCxn id="52" idx="3"/>
            <a:endCxn id="105" idx="1"/>
          </p:cNvCxnSpPr>
          <p:nvPr/>
        </p:nvCxnSpPr>
        <p:spPr>
          <a:xfrm>
            <a:off x="9176385" y="4370705"/>
            <a:ext cx="750570" cy="1333500"/>
          </a:xfrm>
          <a:prstGeom prst="bentConnector3">
            <a:avLst>
              <a:gd name="adj1" fmla="val 50000"/>
            </a:avLst>
          </a:prstGeom>
          <a:ln w="28575">
            <a:tailEnd type="arrow" w="med" len="med"/>
          </a:ln>
        </p:spPr>
        <p:style>
          <a:lnRef idx="1">
            <a:schemeClr val="accent2"/>
          </a:lnRef>
          <a:fillRef idx="0">
            <a:schemeClr val="accent2"/>
          </a:fillRef>
          <a:effectRef idx="0">
            <a:schemeClr val="accent2"/>
          </a:effectRef>
          <a:fontRef idx="minor">
            <a:schemeClr val="tx1"/>
          </a:fontRef>
        </p:style>
      </p:cxnSp>
      <p:sp>
        <p:nvSpPr>
          <p:cNvPr id="108" name="矩形: 圆角 79"/>
          <p:cNvSpPr/>
          <p:nvPr/>
        </p:nvSpPr>
        <p:spPr>
          <a:xfrm>
            <a:off x="4339978" y="6330564"/>
            <a:ext cx="828000" cy="3162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charset="-122"/>
                <a:ea typeface="微软雅黑" panose="020B0503020204020204" charset="-122"/>
              </a:rPr>
              <a:t>分类标引</a:t>
            </a:r>
          </a:p>
        </p:txBody>
      </p:sp>
      <p:cxnSp>
        <p:nvCxnSpPr>
          <p:cNvPr id="109" name="肘形连接符 86"/>
          <p:cNvCxnSpPr>
            <a:stCxn id="67" idx="1"/>
            <a:endCxn id="108" idx="3"/>
          </p:cNvCxnSpPr>
          <p:nvPr/>
        </p:nvCxnSpPr>
        <p:spPr>
          <a:xfrm rot="10800000" flipV="1">
            <a:off x="5159375" y="6239510"/>
            <a:ext cx="407035" cy="248920"/>
          </a:xfrm>
          <a:prstGeom prst="bentConnector3">
            <a:avLst>
              <a:gd name="adj1" fmla="val 49922"/>
            </a:avLst>
          </a:prstGeom>
          <a:ln w="28575">
            <a:tailEnd type="arrow" w="med" len="med"/>
          </a:ln>
        </p:spPr>
        <p:style>
          <a:lnRef idx="1">
            <a:schemeClr val="accent2"/>
          </a:lnRef>
          <a:fillRef idx="0">
            <a:schemeClr val="accent2"/>
          </a:fillRef>
          <a:effectRef idx="0">
            <a:schemeClr val="accent2"/>
          </a:effectRef>
          <a:fontRef idx="minor">
            <a:schemeClr val="tx1"/>
          </a:fontRef>
        </p:style>
      </p:cxnSp>
      <p:sp>
        <p:nvSpPr>
          <p:cNvPr id="110" name="矩形: 圆角 105"/>
          <p:cNvSpPr/>
          <p:nvPr/>
        </p:nvSpPr>
        <p:spPr>
          <a:xfrm>
            <a:off x="9970119" y="6099617"/>
            <a:ext cx="900000" cy="53975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决策</a:t>
            </a:r>
            <a:endParaRPr lang="en-US" altLang="zh-CN" sz="1400" dirty="0">
              <a:latin typeface="微软雅黑" panose="020B0503020204020204" charset="-122"/>
              <a:ea typeface="微软雅黑" panose="020B0503020204020204" charset="-122"/>
            </a:endParaRPr>
          </a:p>
          <a:p>
            <a:pPr algn="ctr"/>
            <a:r>
              <a:rPr lang="zh-CN" altLang="en-US" sz="1400" dirty="0">
                <a:latin typeface="微软雅黑" panose="020B0503020204020204" charset="-122"/>
                <a:ea typeface="微软雅黑" panose="020B0503020204020204" charset="-122"/>
              </a:rPr>
              <a:t>支撑</a:t>
            </a:r>
          </a:p>
        </p:txBody>
      </p:sp>
      <p:cxnSp>
        <p:nvCxnSpPr>
          <p:cNvPr id="111" name="肘形连接符 73"/>
          <p:cNvCxnSpPr>
            <a:stCxn id="52" idx="3"/>
            <a:endCxn id="110" idx="1"/>
          </p:cNvCxnSpPr>
          <p:nvPr/>
        </p:nvCxnSpPr>
        <p:spPr>
          <a:xfrm>
            <a:off x="9176385" y="4370705"/>
            <a:ext cx="793750" cy="1998980"/>
          </a:xfrm>
          <a:prstGeom prst="bentConnector3">
            <a:avLst>
              <a:gd name="adj1" fmla="val 48800"/>
            </a:avLst>
          </a:prstGeom>
          <a:ln w="28575">
            <a:tailEnd type="arrow" w="med" len="med"/>
          </a:ln>
        </p:spPr>
        <p:style>
          <a:lnRef idx="1">
            <a:schemeClr val="accent2"/>
          </a:lnRef>
          <a:fillRef idx="0">
            <a:schemeClr val="accent2"/>
          </a:fillRef>
          <a:effectRef idx="0">
            <a:schemeClr val="accent2"/>
          </a:effectRef>
          <a:fontRef idx="minor">
            <a:schemeClr val="tx1"/>
          </a:fontRef>
        </p:style>
      </p:cxnSp>
      <p:grpSp>
        <p:nvGrpSpPr>
          <p:cNvPr id="13" name="组合 12"/>
          <p:cNvGrpSpPr/>
          <p:nvPr/>
        </p:nvGrpSpPr>
        <p:grpSpPr>
          <a:xfrm>
            <a:off x="119380" y="781685"/>
            <a:ext cx="11772900" cy="617220"/>
            <a:chOff x="188" y="1231"/>
            <a:chExt cx="18540" cy="972"/>
          </a:xfrm>
        </p:grpSpPr>
        <p:sp>
          <p:nvSpPr>
            <p:cNvPr id="88" name="矩形: 圆角 87"/>
            <p:cNvSpPr/>
            <p:nvPr/>
          </p:nvSpPr>
          <p:spPr>
            <a:xfrm>
              <a:off x="4969" y="1440"/>
              <a:ext cx="3531" cy="6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信息资源</a:t>
              </a:r>
            </a:p>
          </p:txBody>
        </p:sp>
        <p:sp>
          <p:nvSpPr>
            <p:cNvPr id="89" name="矩形: 圆角 88"/>
            <p:cNvSpPr/>
            <p:nvPr/>
          </p:nvSpPr>
          <p:spPr>
            <a:xfrm>
              <a:off x="9507" y="1440"/>
              <a:ext cx="3246" cy="6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知识本体</a:t>
              </a:r>
            </a:p>
          </p:txBody>
        </p:sp>
        <p:sp>
          <p:nvSpPr>
            <p:cNvPr id="91" name="矩形: 圆角 90"/>
            <p:cNvSpPr/>
            <p:nvPr/>
          </p:nvSpPr>
          <p:spPr>
            <a:xfrm>
              <a:off x="14534" y="1446"/>
              <a:ext cx="3346" cy="6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智慧化能力</a:t>
              </a:r>
            </a:p>
          </p:txBody>
        </p:sp>
        <p:sp>
          <p:nvSpPr>
            <p:cNvPr id="85" name="矩形: 圆角 84"/>
            <p:cNvSpPr/>
            <p:nvPr/>
          </p:nvSpPr>
          <p:spPr>
            <a:xfrm>
              <a:off x="188" y="1231"/>
              <a:ext cx="18540" cy="973"/>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charset="-122"/>
                <a:ea typeface="微软雅黑" panose="020B0503020204020204" charset="-122"/>
              </a:endParaRPr>
            </a:p>
          </p:txBody>
        </p:sp>
        <p:sp>
          <p:nvSpPr>
            <p:cNvPr id="93" name="矩形: 圆角 92"/>
            <p:cNvSpPr/>
            <p:nvPr/>
          </p:nvSpPr>
          <p:spPr>
            <a:xfrm>
              <a:off x="904" y="1437"/>
              <a:ext cx="3082" cy="6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领域分类</a:t>
              </a:r>
            </a:p>
          </p:txBody>
        </p:sp>
        <p:sp>
          <p:nvSpPr>
            <p:cNvPr id="112" name="箭头: 右 111"/>
            <p:cNvSpPr/>
            <p:nvPr/>
          </p:nvSpPr>
          <p:spPr>
            <a:xfrm>
              <a:off x="4197" y="1575"/>
              <a:ext cx="505" cy="39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十字形 112"/>
            <p:cNvSpPr/>
            <p:nvPr/>
          </p:nvSpPr>
          <p:spPr>
            <a:xfrm>
              <a:off x="8780" y="1575"/>
              <a:ext cx="462" cy="390"/>
            </a:xfrm>
            <a:prstGeom prst="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箭头: 右 113"/>
            <p:cNvSpPr/>
            <p:nvPr/>
          </p:nvSpPr>
          <p:spPr>
            <a:xfrm>
              <a:off x="13321" y="1534"/>
              <a:ext cx="624" cy="454"/>
            </a:xfrm>
            <a:prstGeom prst="notch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9" name="曲线连接符 8"/>
          <p:cNvCxnSpPr>
            <a:stCxn id="80" idx="3"/>
            <a:endCxn id="42" idx="3"/>
          </p:cNvCxnSpPr>
          <p:nvPr/>
        </p:nvCxnSpPr>
        <p:spPr>
          <a:xfrm flipH="1">
            <a:off x="7308850" y="3394710"/>
            <a:ext cx="29210" cy="1969135"/>
          </a:xfrm>
          <a:prstGeom prst="curvedConnector3">
            <a:avLst>
              <a:gd name="adj1" fmla="val -1823913"/>
            </a:avLst>
          </a:prstGeom>
          <a:ln w="28575">
            <a:tailEnd type="triangle" w="lg" len="med"/>
          </a:ln>
        </p:spPr>
        <p:style>
          <a:lnRef idx="1">
            <a:schemeClr val="accent2"/>
          </a:lnRef>
          <a:fillRef idx="0">
            <a:schemeClr val="accent2"/>
          </a:fillRef>
          <a:effectRef idx="0">
            <a:schemeClr val="accent2"/>
          </a:effectRef>
          <a:fontRef idx="minor">
            <a:schemeClr val="tx1"/>
          </a:fontRef>
        </p:style>
      </p:cxnSp>
      <p:sp>
        <p:nvSpPr>
          <p:cNvPr id="10" name="文本框 9"/>
          <p:cNvSpPr txBox="1"/>
          <p:nvPr/>
        </p:nvSpPr>
        <p:spPr>
          <a:xfrm>
            <a:off x="7401560" y="3677285"/>
            <a:ext cx="367030" cy="741045"/>
          </a:xfrm>
          <a:prstGeom prst="rect">
            <a:avLst/>
          </a:prstGeom>
          <a:noFill/>
        </p:spPr>
        <p:txBody>
          <a:bodyPr vert="eaVert" wrap="square" rtlCol="0">
            <a:spAutoFit/>
          </a:bodyPr>
          <a:lstStyle/>
          <a:p>
            <a:r>
              <a:rPr lang="zh-CN" altLang="en-US" sz="1200">
                <a:latin typeface="微软雅黑" panose="020B0503020204020204" charset="-122"/>
                <a:ea typeface="微软雅黑" panose="020B0503020204020204" charset="-122"/>
              </a:rPr>
              <a:t>语料</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83"/>
                                        </p:tgtEl>
                                        <p:attrNameLst>
                                          <p:attrName>style.visibility</p:attrName>
                                        </p:attrNameLst>
                                      </p:cBhvr>
                                      <p:to>
                                        <p:strVal val="visible"/>
                                      </p:to>
                                    </p:set>
                                    <p:animEffect transition="in" filter="fade">
                                      <p:cBhvr>
                                        <p:cTn id="12" dur="500"/>
                                        <p:tgtEl>
                                          <p:spTgt spid="8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6"/>
                                        </p:tgtEl>
                                        <p:attrNameLst>
                                          <p:attrName>style.visibility</p:attrName>
                                        </p:attrNameLst>
                                      </p:cBhvr>
                                      <p:to>
                                        <p:strVal val="visible"/>
                                      </p:to>
                                    </p:set>
                                    <p:animEffect transition="in" filter="fade">
                                      <p:cBhvr>
                                        <p:cTn id="15" dur="500"/>
                                        <p:tgtEl>
                                          <p:spTgt spid="8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6"/>
                                        </p:tgtEl>
                                        <p:attrNameLst>
                                          <p:attrName>style.visibility</p:attrName>
                                        </p:attrNameLst>
                                      </p:cBhvr>
                                      <p:to>
                                        <p:strVal val="visible"/>
                                      </p:to>
                                    </p:set>
                                    <p:animEffect transition="in" filter="fade">
                                      <p:cBhvr>
                                        <p:cTn id="18" dur="500"/>
                                        <p:tgtEl>
                                          <p:spTgt spid="9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7"/>
                                        </p:tgtEl>
                                        <p:attrNameLst>
                                          <p:attrName>style.visibility</p:attrName>
                                        </p:attrNameLst>
                                      </p:cBhvr>
                                      <p:to>
                                        <p:strVal val="visible"/>
                                      </p:to>
                                    </p:set>
                                    <p:animEffect transition="in" filter="fade">
                                      <p:cBhvr>
                                        <p:cTn id="21" dur="500"/>
                                        <p:tgtEl>
                                          <p:spTgt spid="9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98"/>
                                        </p:tgtEl>
                                        <p:attrNameLst>
                                          <p:attrName>style.visibility</p:attrName>
                                        </p:attrNameLst>
                                      </p:cBhvr>
                                      <p:to>
                                        <p:strVal val="visible"/>
                                      </p:to>
                                    </p:set>
                                    <p:animEffect transition="in" filter="wipe(down)">
                                      <p:cBhvr>
                                        <p:cTn id="26" dur="500"/>
                                        <p:tgtEl>
                                          <p:spTgt spid="9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4"/>
                                        </p:tgtEl>
                                        <p:attrNameLst>
                                          <p:attrName>style.visibility</p:attrName>
                                        </p:attrNameLst>
                                      </p:cBhvr>
                                      <p:to>
                                        <p:strVal val="visible"/>
                                      </p:to>
                                    </p:set>
                                    <p:animEffect transition="in" filter="fade">
                                      <p:cBhvr>
                                        <p:cTn id="29" dur="500"/>
                                        <p:tgtEl>
                                          <p:spTgt spid="10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4"/>
                                        </p:tgtEl>
                                        <p:attrNameLst>
                                          <p:attrName>style.visibility</p:attrName>
                                        </p:attrNameLst>
                                      </p:cBhvr>
                                      <p:to>
                                        <p:strVal val="visible"/>
                                      </p:to>
                                    </p:set>
                                    <p:animEffect transition="in" filter="fade">
                                      <p:cBhvr>
                                        <p:cTn id="32"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86" grpId="0"/>
      <p:bldP spid="96" grpId="0"/>
      <p:bldP spid="97" grpId="0"/>
      <p:bldP spid="104" grpId="0"/>
      <p:bldP spid="6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5450" y="170111"/>
            <a:ext cx="4971768" cy="478155"/>
          </a:xfrm>
        </p:spPr>
        <p:txBody>
          <a:bodyPr/>
          <a:lstStyle/>
          <a:p>
            <a:r>
              <a:rPr lang="zh-CN" altLang="en-US" dirty="0"/>
              <a:t>工程实践内容</a:t>
            </a:r>
          </a:p>
        </p:txBody>
      </p:sp>
      <p:cxnSp>
        <p:nvCxnSpPr>
          <p:cNvPr id="20" name="直接连接符 19"/>
          <p:cNvCxnSpPr/>
          <p:nvPr/>
        </p:nvCxnSpPr>
        <p:spPr>
          <a:xfrm>
            <a:off x="2557900" y="1399141"/>
            <a:ext cx="0" cy="5090559"/>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19063" y="4485180"/>
            <a:ext cx="2438837" cy="1383665"/>
          </a:xfrm>
          <a:prstGeom prst="rect">
            <a:avLst/>
          </a:prstGeom>
          <a:noFill/>
        </p:spPr>
        <p:txBody>
          <a:bodyPr wrap="square">
            <a:spAutoFit/>
          </a:bodyPr>
          <a:lstStyle/>
          <a:p>
            <a:pPr>
              <a:lnSpc>
                <a:spcPct val="150000"/>
              </a:lnSpc>
            </a:pPr>
            <a:r>
              <a:rPr lang="zh-CN" altLang="en-US" sz="1400" b="1" kern="100" dirty="0">
                <a:solidFill>
                  <a:schemeClr val="accent2"/>
                </a:solidFill>
                <a:latin typeface="微软雅黑" panose="020B0503020204020204" charset="-122"/>
                <a:ea typeface="微软雅黑" panose="020B0503020204020204" charset="-122"/>
                <a:cs typeface="Times New Roman" panose="02020603050405020304" pitchFamily="18" charset="0"/>
              </a:rPr>
              <a:t>      </a:t>
            </a:r>
            <a:r>
              <a:rPr lang="en-US" altLang="zh-CN" sz="1400" b="1" kern="0" dirty="0">
                <a:solidFill>
                  <a:schemeClr val="accent2"/>
                </a:solidFill>
                <a:latin typeface="微软雅黑" panose="020B0503020204020204" charset="-122"/>
                <a:ea typeface="微软雅黑" panose="020B0503020204020204" charset="-122"/>
                <a:cs typeface="Arial" panose="020B0604020202020204" pitchFamily="34" charset="0"/>
              </a:rPr>
              <a:t>领域是</a:t>
            </a:r>
            <a:r>
              <a:rPr lang="en-US" altLang="zh-CN" sz="1400" b="1" kern="0" dirty="0">
                <a:solidFill>
                  <a:schemeClr val="accent2"/>
                </a:solidFill>
                <a:latin typeface="微软雅黑" panose="020B0503020204020204" charset="-122"/>
                <a:ea typeface="微软雅黑" panose="020B0503020204020204" charset="-122"/>
                <a:cs typeface="Arial" panose="020B0604020202020204" pitchFamily="34" charset="0"/>
                <a:sym typeface="+mn-ea"/>
              </a:rPr>
              <a:t>主动系统的特定主体的特定职能、职责的边界和范围</a:t>
            </a:r>
            <a:r>
              <a:rPr lang="zh-CN" altLang="en-US" sz="1400" b="1" kern="0" dirty="0">
                <a:solidFill>
                  <a:schemeClr val="accent2"/>
                </a:solidFill>
                <a:latin typeface="微软雅黑" panose="020B0503020204020204" charset="-122"/>
                <a:ea typeface="微软雅黑" panose="020B0503020204020204" charset="-122"/>
                <a:cs typeface="Arial" panose="020B0604020202020204" pitchFamily="34" charset="0"/>
                <a:sym typeface="+mn-ea"/>
              </a:rPr>
              <a:t>。领域划分遵循最小化原则。</a:t>
            </a:r>
          </a:p>
        </p:txBody>
      </p:sp>
      <p:sp>
        <p:nvSpPr>
          <p:cNvPr id="9" name="文本框 8"/>
          <p:cNvSpPr txBox="1"/>
          <p:nvPr/>
        </p:nvSpPr>
        <p:spPr>
          <a:xfrm>
            <a:off x="119063" y="1407883"/>
            <a:ext cx="2438400" cy="2353310"/>
          </a:xfrm>
          <a:prstGeom prst="rect">
            <a:avLst/>
          </a:prstGeom>
          <a:noFill/>
        </p:spPr>
        <p:txBody>
          <a:bodyPr wrap="square" rtlCol="0">
            <a:spAutoFit/>
          </a:bodyPr>
          <a:lstStyle/>
          <a:p>
            <a:pPr>
              <a:lnSpc>
                <a:spcPct val="150000"/>
              </a:lnSpc>
            </a:pPr>
            <a:r>
              <a:rPr lang="zh-CN" altLang="en-US" sz="1400" kern="100" dirty="0">
                <a:effectLst/>
                <a:latin typeface="微软雅黑" panose="020B0503020204020204" charset="-122"/>
                <a:ea typeface="微软雅黑" panose="020B0503020204020204" charset="-122"/>
                <a:cs typeface="Times New Roman" panose="02020603050405020304" pitchFamily="18" charset="0"/>
              </a:rPr>
              <a:t>      人类经济社会活动不存在普遍意义上的活动，任何活动、任何任务的展开、实现都是在特定领域中。领域限定是领域知识工程学基本出发点，是任务范式展开的前提条件。</a:t>
            </a:r>
          </a:p>
        </p:txBody>
      </p:sp>
      <p:sp>
        <p:nvSpPr>
          <p:cNvPr id="10" name="流程图: 可选过程 9"/>
          <p:cNvSpPr/>
          <p:nvPr/>
        </p:nvSpPr>
        <p:spPr>
          <a:xfrm>
            <a:off x="2731770" y="3413760"/>
            <a:ext cx="1157605" cy="701040"/>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领域</a:t>
            </a:r>
          </a:p>
        </p:txBody>
      </p:sp>
      <p:sp>
        <p:nvSpPr>
          <p:cNvPr id="13" name="流程图: 可选过程 12"/>
          <p:cNvSpPr/>
          <p:nvPr/>
        </p:nvSpPr>
        <p:spPr>
          <a:xfrm>
            <a:off x="4430395" y="2007870"/>
            <a:ext cx="1157605" cy="701040"/>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产业</a:t>
            </a:r>
          </a:p>
          <a:p>
            <a:pPr algn="ctr"/>
            <a:r>
              <a:rPr lang="zh-CN" altLang="en-US"/>
              <a:t>范畴</a:t>
            </a:r>
          </a:p>
        </p:txBody>
      </p:sp>
      <p:sp>
        <p:nvSpPr>
          <p:cNvPr id="14" name="流程图: 可选过程 13"/>
          <p:cNvSpPr/>
          <p:nvPr/>
        </p:nvSpPr>
        <p:spPr>
          <a:xfrm>
            <a:off x="4430395" y="3413760"/>
            <a:ext cx="1157605" cy="701040"/>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政府</a:t>
            </a:r>
          </a:p>
          <a:p>
            <a:pPr algn="ctr"/>
            <a:r>
              <a:rPr lang="zh-CN" altLang="en-US"/>
              <a:t>范畴</a:t>
            </a:r>
          </a:p>
        </p:txBody>
      </p:sp>
      <p:sp>
        <p:nvSpPr>
          <p:cNvPr id="19" name="流程图: 可选过程 18"/>
          <p:cNvSpPr/>
          <p:nvPr/>
        </p:nvSpPr>
        <p:spPr>
          <a:xfrm>
            <a:off x="4429760" y="4819650"/>
            <a:ext cx="1157605" cy="701040"/>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社会</a:t>
            </a:r>
          </a:p>
          <a:p>
            <a:pPr algn="ctr"/>
            <a:r>
              <a:rPr lang="zh-CN" altLang="en-US"/>
              <a:t>范畴</a:t>
            </a:r>
          </a:p>
        </p:txBody>
      </p:sp>
      <p:sp>
        <p:nvSpPr>
          <p:cNvPr id="28" name="流程图: 可选过程 27"/>
          <p:cNvSpPr/>
          <p:nvPr/>
        </p:nvSpPr>
        <p:spPr>
          <a:xfrm>
            <a:off x="6068695" y="3494405"/>
            <a:ext cx="1157605" cy="540000"/>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t>选择特定主体</a:t>
            </a:r>
          </a:p>
        </p:txBody>
      </p:sp>
      <p:sp>
        <p:nvSpPr>
          <p:cNvPr id="32" name="流程图: 可选过程 31"/>
          <p:cNvSpPr/>
          <p:nvPr/>
        </p:nvSpPr>
        <p:spPr>
          <a:xfrm>
            <a:off x="7717790" y="3494405"/>
            <a:ext cx="1157605" cy="540000"/>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t>收集三定文件</a:t>
            </a:r>
          </a:p>
        </p:txBody>
      </p:sp>
      <p:sp>
        <p:nvSpPr>
          <p:cNvPr id="33" name="流程图: 可选过程 32"/>
          <p:cNvSpPr/>
          <p:nvPr/>
        </p:nvSpPr>
        <p:spPr>
          <a:xfrm>
            <a:off x="9366885" y="3494405"/>
            <a:ext cx="1157605" cy="540000"/>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t>提取最小职责事项</a:t>
            </a:r>
          </a:p>
        </p:txBody>
      </p:sp>
      <p:sp>
        <p:nvSpPr>
          <p:cNvPr id="35" name="流程图: 可选过程 34"/>
          <p:cNvSpPr/>
          <p:nvPr/>
        </p:nvSpPr>
        <p:spPr>
          <a:xfrm>
            <a:off x="11005185" y="3494405"/>
            <a:ext cx="1157605" cy="540000"/>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t>归纳提炼</a:t>
            </a:r>
          </a:p>
          <a:p>
            <a:pPr algn="ctr"/>
            <a:r>
              <a:rPr lang="zh-CN" altLang="en-US" sz="1600"/>
              <a:t>分类分级</a:t>
            </a:r>
          </a:p>
        </p:txBody>
      </p:sp>
      <p:sp>
        <p:nvSpPr>
          <p:cNvPr id="36" name="流程图: 可选过程 35"/>
          <p:cNvSpPr/>
          <p:nvPr/>
        </p:nvSpPr>
        <p:spPr>
          <a:xfrm>
            <a:off x="9770110" y="4660265"/>
            <a:ext cx="1157605" cy="540000"/>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t>形成领域分类体系</a:t>
            </a:r>
          </a:p>
        </p:txBody>
      </p:sp>
      <p:sp>
        <p:nvSpPr>
          <p:cNvPr id="39" name="左大括号 38"/>
          <p:cNvSpPr/>
          <p:nvPr/>
        </p:nvSpPr>
        <p:spPr>
          <a:xfrm>
            <a:off x="3996055" y="2273935"/>
            <a:ext cx="354965" cy="2926080"/>
          </a:xfrm>
          <a:prstGeom prst="leftBrace">
            <a:avLst>
              <a:gd name="adj1" fmla="val 8333"/>
              <a:gd name="adj2" fmla="val 49674"/>
            </a:avLst>
          </a:prstGeom>
          <a:ln>
            <a:solidFill>
              <a:srgbClr val="0FABB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40" name="直接箭头连接符 39"/>
          <p:cNvCxnSpPr>
            <a:stCxn id="14" idx="3"/>
            <a:endCxn id="28" idx="1"/>
          </p:cNvCxnSpPr>
          <p:nvPr/>
        </p:nvCxnSpPr>
        <p:spPr>
          <a:xfrm>
            <a:off x="5588000" y="3764280"/>
            <a:ext cx="480695" cy="0"/>
          </a:xfrm>
          <a:prstGeom prst="straightConnector1">
            <a:avLst/>
          </a:prstGeom>
          <a:ln w="28575">
            <a:solidFill>
              <a:srgbClr val="0FABBC"/>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28" idx="3"/>
            <a:endCxn id="32" idx="1"/>
          </p:cNvCxnSpPr>
          <p:nvPr/>
        </p:nvCxnSpPr>
        <p:spPr>
          <a:xfrm>
            <a:off x="7226300" y="3764280"/>
            <a:ext cx="491490" cy="0"/>
          </a:xfrm>
          <a:prstGeom prst="straightConnector1">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43" name="直接箭头连接符 42"/>
          <p:cNvCxnSpPr>
            <a:stCxn id="32" idx="3"/>
            <a:endCxn id="33" idx="1"/>
          </p:cNvCxnSpPr>
          <p:nvPr/>
        </p:nvCxnSpPr>
        <p:spPr>
          <a:xfrm>
            <a:off x="8875395" y="3764280"/>
            <a:ext cx="491490" cy="0"/>
          </a:xfrm>
          <a:prstGeom prst="straightConnector1">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44" name="直接箭头连接符 43"/>
          <p:cNvCxnSpPr>
            <a:stCxn id="33" idx="3"/>
            <a:endCxn id="35" idx="1"/>
          </p:cNvCxnSpPr>
          <p:nvPr/>
        </p:nvCxnSpPr>
        <p:spPr>
          <a:xfrm>
            <a:off x="10524490" y="3764280"/>
            <a:ext cx="480695" cy="0"/>
          </a:xfrm>
          <a:prstGeom prst="straightConnector1">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47" name="肘形连接符 46"/>
          <p:cNvCxnSpPr>
            <a:stCxn id="35" idx="2"/>
            <a:endCxn id="36" idx="3"/>
          </p:cNvCxnSpPr>
          <p:nvPr/>
        </p:nvCxnSpPr>
        <p:spPr>
          <a:xfrm rot="5400000">
            <a:off x="10808335" y="4153535"/>
            <a:ext cx="895985" cy="656590"/>
          </a:xfrm>
          <a:prstGeom prst="bentConnector2">
            <a:avLst/>
          </a:prstGeom>
          <a:ln w="28575">
            <a:solidFill>
              <a:srgbClr val="0FABBC"/>
            </a:solidFill>
            <a:tailEnd type="arrow"/>
          </a:ln>
        </p:spPr>
        <p:style>
          <a:lnRef idx="1">
            <a:schemeClr val="accent1"/>
          </a:lnRef>
          <a:fillRef idx="0">
            <a:schemeClr val="accent1"/>
          </a:fillRef>
          <a:effectRef idx="0">
            <a:schemeClr val="accent1"/>
          </a:effectRef>
          <a:fontRef idx="minor">
            <a:schemeClr val="tx1"/>
          </a:fontRef>
        </p:style>
      </p:cxnSp>
      <p:sp>
        <p:nvSpPr>
          <p:cNvPr id="49" name="流程图: 可选过程 48"/>
          <p:cNvSpPr/>
          <p:nvPr/>
        </p:nvSpPr>
        <p:spPr>
          <a:xfrm>
            <a:off x="8214995" y="5328920"/>
            <a:ext cx="1152000" cy="432000"/>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中国共产党</a:t>
            </a:r>
          </a:p>
        </p:txBody>
      </p:sp>
      <p:sp>
        <p:nvSpPr>
          <p:cNvPr id="50" name="流程图: 可选过程 49"/>
          <p:cNvSpPr/>
          <p:nvPr/>
        </p:nvSpPr>
        <p:spPr>
          <a:xfrm>
            <a:off x="9441180" y="5328920"/>
            <a:ext cx="671195" cy="431800"/>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政府</a:t>
            </a:r>
          </a:p>
        </p:txBody>
      </p:sp>
      <p:sp>
        <p:nvSpPr>
          <p:cNvPr id="58" name="流程图: 可选过程 57"/>
          <p:cNvSpPr/>
          <p:nvPr/>
        </p:nvSpPr>
        <p:spPr>
          <a:xfrm>
            <a:off x="11677650" y="5328920"/>
            <a:ext cx="487680" cy="431800"/>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t>......</a:t>
            </a:r>
          </a:p>
        </p:txBody>
      </p:sp>
      <p:sp>
        <p:nvSpPr>
          <p:cNvPr id="62" name="流程图: 可选过程 61"/>
          <p:cNvSpPr/>
          <p:nvPr/>
        </p:nvSpPr>
        <p:spPr>
          <a:xfrm>
            <a:off x="10186670" y="5328920"/>
            <a:ext cx="671195" cy="431800"/>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人大</a:t>
            </a:r>
          </a:p>
        </p:txBody>
      </p:sp>
      <p:sp>
        <p:nvSpPr>
          <p:cNvPr id="64" name="流程图: 可选过程 63"/>
          <p:cNvSpPr/>
          <p:nvPr/>
        </p:nvSpPr>
        <p:spPr>
          <a:xfrm>
            <a:off x="10932160" y="5328920"/>
            <a:ext cx="671195" cy="431800"/>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政协</a:t>
            </a:r>
          </a:p>
        </p:txBody>
      </p:sp>
      <p:sp>
        <p:nvSpPr>
          <p:cNvPr id="65" name="文本框 64"/>
          <p:cNvSpPr txBox="1"/>
          <p:nvPr/>
        </p:nvSpPr>
        <p:spPr>
          <a:xfrm>
            <a:off x="8214995" y="5992495"/>
            <a:ext cx="1139190" cy="737235"/>
          </a:xfrm>
          <a:prstGeom prst="rect">
            <a:avLst/>
          </a:prstGeom>
          <a:solidFill>
            <a:schemeClr val="bg2">
              <a:lumMod val="90000"/>
            </a:schemeClr>
          </a:solidFill>
        </p:spPr>
        <p:txBody>
          <a:bodyPr wrap="square" rtlCol="0">
            <a:spAutoFit/>
          </a:bodyPr>
          <a:lstStyle/>
          <a:p>
            <a:r>
              <a:rPr lang="zh-CN" altLang="en-US" sz="1400"/>
              <a:t>组织</a:t>
            </a:r>
            <a:r>
              <a:rPr lang="en-US" altLang="zh-CN" sz="1400"/>
              <a:t> | </a:t>
            </a:r>
            <a:r>
              <a:rPr lang="zh-CN" altLang="en-US" sz="1400"/>
              <a:t>统战宣传</a:t>
            </a:r>
            <a:r>
              <a:rPr lang="en-US" altLang="zh-CN" sz="1400"/>
              <a:t> | </a:t>
            </a:r>
            <a:r>
              <a:rPr lang="zh-CN" altLang="en-US" sz="1400"/>
              <a:t>纪律检查</a:t>
            </a:r>
            <a:r>
              <a:rPr lang="en-US" altLang="zh-CN" sz="1400"/>
              <a:t> | ......</a:t>
            </a:r>
          </a:p>
        </p:txBody>
      </p:sp>
      <p:sp>
        <p:nvSpPr>
          <p:cNvPr id="67" name="文本框 66"/>
          <p:cNvSpPr txBox="1"/>
          <p:nvPr/>
        </p:nvSpPr>
        <p:spPr>
          <a:xfrm>
            <a:off x="9439910" y="6001385"/>
            <a:ext cx="2083435" cy="737235"/>
          </a:xfrm>
          <a:prstGeom prst="rect">
            <a:avLst/>
          </a:prstGeom>
          <a:solidFill>
            <a:schemeClr val="bg2">
              <a:lumMod val="90000"/>
            </a:schemeClr>
          </a:solidFill>
        </p:spPr>
        <p:txBody>
          <a:bodyPr wrap="square" rtlCol="0">
            <a:spAutoFit/>
          </a:bodyPr>
          <a:lstStyle/>
          <a:p>
            <a:r>
              <a:rPr lang="zh-CN" altLang="en-US" sz="1400"/>
              <a:t>发改</a:t>
            </a:r>
            <a:r>
              <a:rPr lang="en-US" altLang="zh-CN" sz="1400"/>
              <a:t> | </a:t>
            </a:r>
            <a:r>
              <a:rPr lang="zh-CN" altLang="en-US" sz="1400"/>
              <a:t>科技</a:t>
            </a:r>
            <a:r>
              <a:rPr lang="en-US" altLang="zh-CN" sz="1400"/>
              <a:t> | </a:t>
            </a:r>
            <a:r>
              <a:rPr lang="zh-CN" altLang="en-US" sz="1400"/>
              <a:t>教育</a:t>
            </a:r>
            <a:r>
              <a:rPr lang="en-US" altLang="zh-CN" sz="1400"/>
              <a:t> </a:t>
            </a:r>
          </a:p>
          <a:p>
            <a:r>
              <a:rPr lang="zh-CN" altLang="en-US" sz="1400"/>
              <a:t>工信</a:t>
            </a:r>
            <a:r>
              <a:rPr lang="en-US" altLang="zh-CN" sz="1400"/>
              <a:t> | </a:t>
            </a:r>
            <a:r>
              <a:rPr lang="zh-CN" altLang="en-US" sz="1400"/>
              <a:t>民政</a:t>
            </a:r>
            <a:r>
              <a:rPr lang="en-US" altLang="zh-CN" sz="1400"/>
              <a:t> | </a:t>
            </a:r>
            <a:r>
              <a:rPr lang="zh-CN" altLang="en-US" sz="1400"/>
              <a:t>公安</a:t>
            </a:r>
            <a:r>
              <a:rPr lang="en-US" altLang="zh-CN" sz="1400"/>
              <a:t> </a:t>
            </a:r>
          </a:p>
          <a:p>
            <a:r>
              <a:rPr lang="zh-CN" altLang="en-US" sz="1400"/>
              <a:t>司法</a:t>
            </a:r>
            <a:r>
              <a:rPr lang="en-US" altLang="zh-CN" sz="1400"/>
              <a:t> | </a:t>
            </a:r>
            <a:r>
              <a:rPr lang="zh-CN" altLang="en-US" sz="1400"/>
              <a:t>商务</a:t>
            </a:r>
            <a:r>
              <a:rPr lang="en-US" altLang="zh-CN" sz="1400"/>
              <a:t> | ......</a:t>
            </a:r>
          </a:p>
        </p:txBody>
      </p:sp>
      <p:cxnSp>
        <p:nvCxnSpPr>
          <p:cNvPr id="68" name="直接连接符 67"/>
          <p:cNvCxnSpPr>
            <a:stCxn id="49" idx="2"/>
            <a:endCxn id="65" idx="0"/>
          </p:cNvCxnSpPr>
          <p:nvPr/>
        </p:nvCxnSpPr>
        <p:spPr>
          <a:xfrm flipH="1">
            <a:off x="8784590" y="5760720"/>
            <a:ext cx="6350" cy="231775"/>
          </a:xfrm>
          <a:prstGeom prst="line">
            <a:avLst/>
          </a:prstGeom>
          <a:ln>
            <a:solidFill>
              <a:srgbClr val="0FABBC"/>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50" idx="2"/>
          </p:cNvCxnSpPr>
          <p:nvPr/>
        </p:nvCxnSpPr>
        <p:spPr>
          <a:xfrm>
            <a:off x="9777095" y="5760720"/>
            <a:ext cx="217170" cy="213360"/>
          </a:xfrm>
          <a:prstGeom prst="line">
            <a:avLst/>
          </a:prstGeom>
          <a:ln>
            <a:solidFill>
              <a:srgbClr val="0FABBC"/>
            </a:solidFill>
          </a:ln>
        </p:spPr>
        <p:style>
          <a:lnRef idx="1">
            <a:schemeClr val="accent1"/>
          </a:lnRef>
          <a:fillRef idx="0">
            <a:schemeClr val="accent1"/>
          </a:fillRef>
          <a:effectRef idx="0">
            <a:schemeClr val="accent1"/>
          </a:effectRef>
          <a:fontRef idx="minor">
            <a:schemeClr val="tx1"/>
          </a:fontRef>
        </p:style>
      </p:cxnSp>
      <p:sp>
        <p:nvSpPr>
          <p:cNvPr id="75" name="文本框 74"/>
          <p:cNvSpPr txBox="1"/>
          <p:nvPr/>
        </p:nvSpPr>
        <p:spPr>
          <a:xfrm>
            <a:off x="6065520" y="4792345"/>
            <a:ext cx="1989455" cy="737235"/>
          </a:xfrm>
          <a:prstGeom prst="rect">
            <a:avLst/>
          </a:prstGeom>
          <a:solidFill>
            <a:schemeClr val="bg2">
              <a:lumMod val="90000"/>
            </a:schemeClr>
          </a:solidFill>
        </p:spPr>
        <p:txBody>
          <a:bodyPr wrap="square" rtlCol="0">
            <a:spAutoFit/>
          </a:bodyPr>
          <a:lstStyle/>
          <a:p>
            <a:r>
              <a:rPr sz="1400"/>
              <a:t>社会治安</a:t>
            </a:r>
            <a:r>
              <a:rPr lang="en-US" sz="1400"/>
              <a:t> | </a:t>
            </a:r>
            <a:r>
              <a:rPr sz="1400"/>
              <a:t>教育</a:t>
            </a:r>
            <a:r>
              <a:rPr lang="en-US" sz="1400"/>
              <a:t> | </a:t>
            </a:r>
            <a:r>
              <a:rPr sz="1400"/>
              <a:t>医疗</a:t>
            </a:r>
          </a:p>
          <a:p>
            <a:r>
              <a:rPr sz="1400"/>
              <a:t>安全生产</a:t>
            </a:r>
            <a:r>
              <a:rPr lang="en-US" sz="1400"/>
              <a:t> | </a:t>
            </a:r>
            <a:r>
              <a:rPr sz="1400"/>
              <a:t>就业</a:t>
            </a:r>
            <a:r>
              <a:rPr lang="en-US" sz="1400"/>
              <a:t> | </a:t>
            </a:r>
            <a:r>
              <a:rPr lang="zh-CN" altLang="en-US" sz="1400"/>
              <a:t>养老</a:t>
            </a:r>
          </a:p>
          <a:p>
            <a:r>
              <a:rPr sz="1400"/>
              <a:t>社会保障</a:t>
            </a:r>
            <a:r>
              <a:rPr lang="en-US" sz="1400"/>
              <a:t> | </a:t>
            </a:r>
            <a:r>
              <a:rPr sz="1400"/>
              <a:t>扶贫</a:t>
            </a:r>
            <a:r>
              <a:rPr lang="en-US" altLang="zh-CN" sz="1400"/>
              <a:t> | ......</a:t>
            </a:r>
          </a:p>
        </p:txBody>
      </p:sp>
      <p:sp>
        <p:nvSpPr>
          <p:cNvPr id="76" name="文本框 75"/>
          <p:cNvSpPr txBox="1"/>
          <p:nvPr/>
        </p:nvSpPr>
        <p:spPr>
          <a:xfrm>
            <a:off x="5996305" y="1980565"/>
            <a:ext cx="1989455" cy="737235"/>
          </a:xfrm>
          <a:prstGeom prst="rect">
            <a:avLst/>
          </a:prstGeom>
          <a:solidFill>
            <a:schemeClr val="bg2">
              <a:lumMod val="90000"/>
            </a:schemeClr>
          </a:solidFill>
        </p:spPr>
        <p:txBody>
          <a:bodyPr wrap="square" rtlCol="0">
            <a:spAutoFit/>
          </a:bodyPr>
          <a:lstStyle/>
          <a:p>
            <a:r>
              <a:rPr sz="1400"/>
              <a:t>社会治安</a:t>
            </a:r>
            <a:r>
              <a:rPr lang="en-US" sz="1400"/>
              <a:t> | </a:t>
            </a:r>
            <a:r>
              <a:rPr sz="1400"/>
              <a:t>教育</a:t>
            </a:r>
            <a:r>
              <a:rPr lang="en-US" sz="1400"/>
              <a:t> | </a:t>
            </a:r>
            <a:r>
              <a:rPr sz="1400"/>
              <a:t>医疗</a:t>
            </a:r>
          </a:p>
          <a:p>
            <a:r>
              <a:rPr sz="1400"/>
              <a:t>安全生产</a:t>
            </a:r>
            <a:r>
              <a:rPr lang="en-US" sz="1400"/>
              <a:t> | </a:t>
            </a:r>
            <a:r>
              <a:rPr sz="1400"/>
              <a:t>就业</a:t>
            </a:r>
            <a:r>
              <a:rPr lang="en-US" sz="1400"/>
              <a:t> | </a:t>
            </a:r>
            <a:r>
              <a:rPr lang="zh-CN" altLang="en-US" sz="1400"/>
              <a:t>养老</a:t>
            </a:r>
          </a:p>
          <a:p>
            <a:r>
              <a:rPr sz="1400"/>
              <a:t>社会保障</a:t>
            </a:r>
            <a:r>
              <a:rPr lang="en-US" sz="1400"/>
              <a:t> | </a:t>
            </a:r>
            <a:r>
              <a:rPr sz="1400"/>
              <a:t>扶贫</a:t>
            </a:r>
            <a:r>
              <a:rPr lang="en-US" altLang="zh-CN" sz="1400"/>
              <a:t> | ......</a:t>
            </a:r>
          </a:p>
        </p:txBody>
      </p:sp>
      <p:cxnSp>
        <p:nvCxnSpPr>
          <p:cNvPr id="79" name="直接连接符 78"/>
          <p:cNvCxnSpPr>
            <a:stCxn id="13" idx="3"/>
            <a:endCxn id="76" idx="1"/>
          </p:cNvCxnSpPr>
          <p:nvPr/>
        </p:nvCxnSpPr>
        <p:spPr>
          <a:xfrm flipV="1">
            <a:off x="5588000" y="2349500"/>
            <a:ext cx="408305" cy="8890"/>
          </a:xfrm>
          <a:prstGeom prst="line">
            <a:avLst/>
          </a:prstGeom>
          <a:ln>
            <a:solidFill>
              <a:srgbClr val="0FABBC"/>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a:stCxn id="19" idx="3"/>
            <a:endCxn id="75" idx="1"/>
          </p:cNvCxnSpPr>
          <p:nvPr/>
        </p:nvCxnSpPr>
        <p:spPr>
          <a:xfrm flipV="1">
            <a:off x="5587365" y="5161280"/>
            <a:ext cx="478155" cy="8890"/>
          </a:xfrm>
          <a:prstGeom prst="line">
            <a:avLst/>
          </a:prstGeom>
          <a:ln>
            <a:solidFill>
              <a:srgbClr val="0FABBC"/>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119380" y="781685"/>
            <a:ext cx="11772900" cy="617220"/>
            <a:chOff x="188" y="1231"/>
            <a:chExt cx="18540" cy="972"/>
          </a:xfrm>
        </p:grpSpPr>
        <p:sp>
          <p:nvSpPr>
            <p:cNvPr id="5" name="矩形: 圆角 87"/>
            <p:cNvSpPr/>
            <p:nvPr/>
          </p:nvSpPr>
          <p:spPr>
            <a:xfrm>
              <a:off x="4969" y="1440"/>
              <a:ext cx="3531"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信息资源</a:t>
              </a:r>
            </a:p>
          </p:txBody>
        </p:sp>
        <p:sp>
          <p:nvSpPr>
            <p:cNvPr id="6" name="矩形: 圆角 88"/>
            <p:cNvSpPr/>
            <p:nvPr/>
          </p:nvSpPr>
          <p:spPr>
            <a:xfrm>
              <a:off x="9507" y="1440"/>
              <a:ext cx="3246"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知识本体</a:t>
              </a:r>
            </a:p>
          </p:txBody>
        </p:sp>
        <p:sp>
          <p:nvSpPr>
            <p:cNvPr id="7" name="矩形: 圆角 90"/>
            <p:cNvSpPr/>
            <p:nvPr/>
          </p:nvSpPr>
          <p:spPr>
            <a:xfrm>
              <a:off x="14534" y="1446"/>
              <a:ext cx="3346"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智慧化能力</a:t>
              </a:r>
            </a:p>
          </p:txBody>
        </p:sp>
        <p:sp>
          <p:nvSpPr>
            <p:cNvPr id="8" name="矩形: 圆角 84"/>
            <p:cNvSpPr/>
            <p:nvPr/>
          </p:nvSpPr>
          <p:spPr>
            <a:xfrm>
              <a:off x="188" y="1231"/>
              <a:ext cx="18540" cy="973"/>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charset="-122"/>
                <a:ea typeface="微软雅黑" panose="020B0503020204020204" charset="-122"/>
              </a:endParaRPr>
            </a:p>
          </p:txBody>
        </p:sp>
        <p:sp>
          <p:nvSpPr>
            <p:cNvPr id="11" name="矩形: 圆角 92"/>
            <p:cNvSpPr/>
            <p:nvPr/>
          </p:nvSpPr>
          <p:spPr>
            <a:xfrm>
              <a:off x="904" y="1437"/>
              <a:ext cx="3082" cy="6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领域分类</a:t>
              </a:r>
            </a:p>
          </p:txBody>
        </p:sp>
        <p:sp>
          <p:nvSpPr>
            <p:cNvPr id="112" name="箭头: 右 111"/>
            <p:cNvSpPr/>
            <p:nvPr/>
          </p:nvSpPr>
          <p:spPr>
            <a:xfrm>
              <a:off x="4197" y="1575"/>
              <a:ext cx="505" cy="39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十字形 112"/>
            <p:cNvSpPr/>
            <p:nvPr/>
          </p:nvSpPr>
          <p:spPr>
            <a:xfrm>
              <a:off x="8780" y="1575"/>
              <a:ext cx="462" cy="390"/>
            </a:xfrm>
            <a:prstGeom prst="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箭头: 右 113"/>
            <p:cNvSpPr/>
            <p:nvPr/>
          </p:nvSpPr>
          <p:spPr>
            <a:xfrm>
              <a:off x="13321" y="1534"/>
              <a:ext cx="624" cy="454"/>
            </a:xfrm>
            <a:prstGeom prst="notch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 name="直接连接符 11"/>
          <p:cNvCxnSpPr/>
          <p:nvPr/>
        </p:nvCxnSpPr>
        <p:spPr>
          <a:xfrm flipH="1">
            <a:off x="119064" y="4485180"/>
            <a:ext cx="2438836" cy="0"/>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5450" y="170111"/>
            <a:ext cx="4971768" cy="478155"/>
          </a:xfrm>
        </p:spPr>
        <p:txBody>
          <a:bodyPr/>
          <a:lstStyle/>
          <a:p>
            <a:r>
              <a:rPr lang="zh-CN" altLang="en-US" dirty="0"/>
              <a:t>工程实践内容</a:t>
            </a:r>
          </a:p>
        </p:txBody>
      </p:sp>
      <p:cxnSp>
        <p:nvCxnSpPr>
          <p:cNvPr id="20" name="直接连接符 19"/>
          <p:cNvCxnSpPr/>
          <p:nvPr/>
        </p:nvCxnSpPr>
        <p:spPr>
          <a:xfrm>
            <a:off x="2557900" y="1399141"/>
            <a:ext cx="0" cy="5090559"/>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119380" y="781685"/>
            <a:ext cx="11772900" cy="617220"/>
            <a:chOff x="188" y="1231"/>
            <a:chExt cx="18540" cy="972"/>
          </a:xfrm>
        </p:grpSpPr>
        <p:sp>
          <p:nvSpPr>
            <p:cNvPr id="4" name="矩形: 圆角 87"/>
            <p:cNvSpPr/>
            <p:nvPr/>
          </p:nvSpPr>
          <p:spPr>
            <a:xfrm>
              <a:off x="4969" y="1440"/>
              <a:ext cx="3531" cy="6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信息资源</a:t>
              </a:r>
            </a:p>
          </p:txBody>
        </p:sp>
        <p:sp>
          <p:nvSpPr>
            <p:cNvPr id="5" name="矩形: 圆角 88"/>
            <p:cNvSpPr/>
            <p:nvPr/>
          </p:nvSpPr>
          <p:spPr>
            <a:xfrm>
              <a:off x="9507" y="1440"/>
              <a:ext cx="3246"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知识本体</a:t>
              </a:r>
            </a:p>
          </p:txBody>
        </p:sp>
        <p:sp>
          <p:nvSpPr>
            <p:cNvPr id="6" name="矩形: 圆角 90"/>
            <p:cNvSpPr/>
            <p:nvPr/>
          </p:nvSpPr>
          <p:spPr>
            <a:xfrm>
              <a:off x="14534" y="1446"/>
              <a:ext cx="3346"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智慧化能力</a:t>
              </a:r>
            </a:p>
          </p:txBody>
        </p:sp>
        <p:sp>
          <p:nvSpPr>
            <p:cNvPr id="7" name="矩形: 圆角 84"/>
            <p:cNvSpPr/>
            <p:nvPr/>
          </p:nvSpPr>
          <p:spPr>
            <a:xfrm>
              <a:off x="188" y="1231"/>
              <a:ext cx="18540" cy="973"/>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charset="-122"/>
                <a:ea typeface="微软雅黑" panose="020B0503020204020204" charset="-122"/>
              </a:endParaRPr>
            </a:p>
          </p:txBody>
        </p:sp>
        <p:sp>
          <p:nvSpPr>
            <p:cNvPr id="8" name="矩形: 圆角 92"/>
            <p:cNvSpPr/>
            <p:nvPr/>
          </p:nvSpPr>
          <p:spPr>
            <a:xfrm>
              <a:off x="904" y="1437"/>
              <a:ext cx="3082"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领域分类</a:t>
              </a:r>
            </a:p>
          </p:txBody>
        </p:sp>
        <p:sp>
          <p:nvSpPr>
            <p:cNvPr id="112" name="箭头: 右 111"/>
            <p:cNvSpPr/>
            <p:nvPr/>
          </p:nvSpPr>
          <p:spPr>
            <a:xfrm>
              <a:off x="4197" y="1575"/>
              <a:ext cx="505" cy="39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十字形 112"/>
            <p:cNvSpPr/>
            <p:nvPr/>
          </p:nvSpPr>
          <p:spPr>
            <a:xfrm>
              <a:off x="8780" y="1575"/>
              <a:ext cx="462" cy="390"/>
            </a:xfrm>
            <a:prstGeom prst="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箭头: 右 113"/>
            <p:cNvSpPr/>
            <p:nvPr/>
          </p:nvSpPr>
          <p:spPr>
            <a:xfrm>
              <a:off x="13321" y="1534"/>
              <a:ext cx="624" cy="454"/>
            </a:xfrm>
            <a:prstGeom prst="notch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圆角矩形 9"/>
          <p:cNvSpPr/>
          <p:nvPr/>
        </p:nvSpPr>
        <p:spPr>
          <a:xfrm>
            <a:off x="2756535" y="1800225"/>
            <a:ext cx="604520" cy="1346200"/>
          </a:xfrm>
          <a:prstGeom prst="roundRect">
            <a:avLst/>
          </a:prstGeom>
          <a:solidFill>
            <a:schemeClr val="accent2">
              <a:lumMod val="60000"/>
              <a:lumOff val="4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a:t>资源分类</a:t>
            </a:r>
          </a:p>
        </p:txBody>
      </p:sp>
      <p:sp>
        <p:nvSpPr>
          <p:cNvPr id="11" name="圆角矩形 10"/>
          <p:cNvSpPr/>
          <p:nvPr/>
        </p:nvSpPr>
        <p:spPr>
          <a:xfrm>
            <a:off x="2756535" y="3384550"/>
            <a:ext cx="604520" cy="1346200"/>
          </a:xfrm>
          <a:prstGeom prst="roundRect">
            <a:avLst/>
          </a:prstGeom>
          <a:solidFill>
            <a:schemeClr val="tx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资源采集</a:t>
            </a:r>
          </a:p>
        </p:txBody>
      </p:sp>
      <p:sp>
        <p:nvSpPr>
          <p:cNvPr id="12" name="圆角矩形 11"/>
          <p:cNvSpPr/>
          <p:nvPr/>
        </p:nvSpPr>
        <p:spPr>
          <a:xfrm>
            <a:off x="2756535" y="4968875"/>
            <a:ext cx="604520" cy="1346200"/>
          </a:xfrm>
          <a:prstGeom prst="roundRect">
            <a:avLst/>
          </a:prstGeom>
          <a:solidFill>
            <a:schemeClr val="tx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资源加工</a:t>
            </a:r>
          </a:p>
        </p:txBody>
      </p:sp>
      <p:sp>
        <p:nvSpPr>
          <p:cNvPr id="14" name="圆角矩形 13"/>
          <p:cNvSpPr/>
          <p:nvPr/>
        </p:nvSpPr>
        <p:spPr>
          <a:xfrm>
            <a:off x="5100320" y="2035810"/>
            <a:ext cx="1243330" cy="64135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资源类型</a:t>
            </a:r>
          </a:p>
        </p:txBody>
      </p:sp>
      <p:sp>
        <p:nvSpPr>
          <p:cNvPr id="15" name="圆角矩形 14"/>
          <p:cNvSpPr/>
          <p:nvPr/>
        </p:nvSpPr>
        <p:spPr>
          <a:xfrm>
            <a:off x="9055100" y="2035810"/>
            <a:ext cx="1243330" cy="64135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分类目录</a:t>
            </a:r>
          </a:p>
        </p:txBody>
      </p:sp>
      <p:sp>
        <p:nvSpPr>
          <p:cNvPr id="17" name="圆角矩形 16"/>
          <p:cNvSpPr/>
          <p:nvPr/>
        </p:nvSpPr>
        <p:spPr>
          <a:xfrm>
            <a:off x="4197350" y="3036570"/>
            <a:ext cx="3049905" cy="358902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430395" y="3288665"/>
            <a:ext cx="1243330" cy="412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党的文献</a:t>
            </a:r>
          </a:p>
        </p:txBody>
      </p:sp>
      <p:sp>
        <p:nvSpPr>
          <p:cNvPr id="19" name="矩形 18"/>
          <p:cNvSpPr/>
          <p:nvPr/>
        </p:nvSpPr>
        <p:spPr>
          <a:xfrm>
            <a:off x="5795645" y="3288665"/>
            <a:ext cx="1243330" cy="412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两会文件</a:t>
            </a:r>
          </a:p>
        </p:txBody>
      </p:sp>
      <p:sp>
        <p:nvSpPr>
          <p:cNvPr id="21" name="矩形 20"/>
          <p:cNvSpPr/>
          <p:nvPr/>
        </p:nvSpPr>
        <p:spPr>
          <a:xfrm>
            <a:off x="4430395" y="3836670"/>
            <a:ext cx="1243330" cy="412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法律法规</a:t>
            </a:r>
          </a:p>
        </p:txBody>
      </p:sp>
      <p:sp>
        <p:nvSpPr>
          <p:cNvPr id="22" name="矩形 21"/>
          <p:cNvSpPr/>
          <p:nvPr/>
        </p:nvSpPr>
        <p:spPr>
          <a:xfrm>
            <a:off x="5795645" y="3836670"/>
            <a:ext cx="1243330" cy="412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专项政策</a:t>
            </a:r>
          </a:p>
        </p:txBody>
      </p:sp>
      <p:sp>
        <p:nvSpPr>
          <p:cNvPr id="23" name="矩形 22"/>
          <p:cNvSpPr/>
          <p:nvPr/>
        </p:nvSpPr>
        <p:spPr>
          <a:xfrm>
            <a:off x="4430395" y="4384675"/>
            <a:ext cx="1243330" cy="412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领导指示</a:t>
            </a:r>
          </a:p>
        </p:txBody>
      </p:sp>
      <p:sp>
        <p:nvSpPr>
          <p:cNvPr id="24" name="矩形 23"/>
          <p:cNvSpPr/>
          <p:nvPr/>
        </p:nvSpPr>
        <p:spPr>
          <a:xfrm>
            <a:off x="5795645" y="4384675"/>
            <a:ext cx="1243330" cy="412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标准规范</a:t>
            </a:r>
          </a:p>
        </p:txBody>
      </p:sp>
      <p:sp>
        <p:nvSpPr>
          <p:cNvPr id="25" name="矩形 24"/>
          <p:cNvSpPr/>
          <p:nvPr/>
        </p:nvSpPr>
        <p:spPr>
          <a:xfrm>
            <a:off x="4430395" y="4932680"/>
            <a:ext cx="1243330" cy="412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科学研究</a:t>
            </a:r>
          </a:p>
        </p:txBody>
      </p:sp>
      <p:sp>
        <p:nvSpPr>
          <p:cNvPr id="26" name="矩形 25"/>
          <p:cNvSpPr/>
          <p:nvPr/>
        </p:nvSpPr>
        <p:spPr>
          <a:xfrm>
            <a:off x="5795645" y="4932680"/>
            <a:ext cx="1243330" cy="412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典型事件</a:t>
            </a:r>
          </a:p>
        </p:txBody>
      </p:sp>
      <p:sp>
        <p:nvSpPr>
          <p:cNvPr id="27" name="矩形 26"/>
          <p:cNvSpPr/>
          <p:nvPr/>
        </p:nvSpPr>
        <p:spPr>
          <a:xfrm>
            <a:off x="4430395" y="5480685"/>
            <a:ext cx="1243330" cy="412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司法执法</a:t>
            </a:r>
          </a:p>
        </p:txBody>
      </p:sp>
      <p:sp>
        <p:nvSpPr>
          <p:cNvPr id="28" name="矩形 27"/>
          <p:cNvSpPr/>
          <p:nvPr/>
        </p:nvSpPr>
        <p:spPr>
          <a:xfrm>
            <a:off x="5795645" y="5480685"/>
            <a:ext cx="1243330" cy="412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综合动态</a:t>
            </a:r>
          </a:p>
        </p:txBody>
      </p:sp>
      <p:sp>
        <p:nvSpPr>
          <p:cNvPr id="29" name="矩形 28"/>
          <p:cNvSpPr/>
          <p:nvPr/>
        </p:nvSpPr>
        <p:spPr>
          <a:xfrm>
            <a:off x="4430395" y="6028690"/>
            <a:ext cx="1243330" cy="412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国外资源</a:t>
            </a:r>
          </a:p>
        </p:txBody>
      </p:sp>
      <p:sp>
        <p:nvSpPr>
          <p:cNvPr id="30" name="矩形 29"/>
          <p:cNvSpPr/>
          <p:nvPr/>
        </p:nvSpPr>
        <p:spPr>
          <a:xfrm>
            <a:off x="5795645" y="6028690"/>
            <a:ext cx="1243330" cy="412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rPr>
              <a:t>......</a:t>
            </a:r>
          </a:p>
        </p:txBody>
      </p:sp>
      <p:grpSp>
        <p:nvGrpSpPr>
          <p:cNvPr id="41" name="组合 40"/>
          <p:cNvGrpSpPr/>
          <p:nvPr/>
        </p:nvGrpSpPr>
        <p:grpSpPr>
          <a:xfrm>
            <a:off x="7771765" y="3036570"/>
            <a:ext cx="3808730" cy="3589020"/>
            <a:chOff x="12729" y="4782"/>
            <a:chExt cx="5998" cy="5652"/>
          </a:xfrm>
        </p:grpSpPr>
        <p:sp>
          <p:nvSpPr>
            <p:cNvPr id="32" name="圆角矩形 31"/>
            <p:cNvSpPr/>
            <p:nvPr/>
          </p:nvSpPr>
          <p:spPr>
            <a:xfrm>
              <a:off x="12729" y="4782"/>
              <a:ext cx="5999" cy="565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4533" y="5381"/>
              <a:ext cx="3848" cy="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a:solidFill>
                    <a:schemeClr val="tx1"/>
                  </a:solidFill>
                </a:rPr>
                <a:t>全国、广东、广西、</a:t>
              </a:r>
              <a:r>
                <a:rPr lang="en-US" altLang="zh-CN">
                  <a:solidFill>
                    <a:schemeClr val="tx1"/>
                  </a:solidFill>
                </a:rPr>
                <a:t>  </a:t>
              </a:r>
              <a:r>
                <a:rPr lang="zh-CN" altLang="en-US">
                  <a:solidFill>
                    <a:schemeClr val="tx1"/>
                  </a:solidFill>
                </a:rPr>
                <a:t>北京、上海、天津、</a:t>
              </a:r>
              <a:r>
                <a:rPr lang="en-US" altLang="zh-CN">
                  <a:solidFill>
                    <a:schemeClr val="tx1"/>
                  </a:solidFill>
                </a:rPr>
                <a:t>...</a:t>
              </a:r>
            </a:p>
          </p:txBody>
        </p:sp>
        <p:sp>
          <p:nvSpPr>
            <p:cNvPr id="34" name="文本框 33"/>
            <p:cNvSpPr txBox="1"/>
            <p:nvPr/>
          </p:nvSpPr>
          <p:spPr>
            <a:xfrm>
              <a:off x="12984" y="5514"/>
              <a:ext cx="1551" cy="580"/>
            </a:xfrm>
            <a:prstGeom prst="rect">
              <a:avLst/>
            </a:prstGeom>
            <a:noFill/>
          </p:spPr>
          <p:txBody>
            <a:bodyPr wrap="square" rtlCol="0">
              <a:spAutoFit/>
            </a:bodyPr>
            <a:lstStyle/>
            <a:p>
              <a:r>
                <a:rPr lang="zh-CN" altLang="en-US"/>
                <a:t>按区域</a:t>
              </a:r>
            </a:p>
          </p:txBody>
        </p:sp>
        <p:sp>
          <p:nvSpPr>
            <p:cNvPr id="35" name="文本框 34"/>
            <p:cNvSpPr txBox="1"/>
            <p:nvPr/>
          </p:nvSpPr>
          <p:spPr>
            <a:xfrm>
              <a:off x="12984" y="6691"/>
              <a:ext cx="1551" cy="580"/>
            </a:xfrm>
            <a:prstGeom prst="rect">
              <a:avLst/>
            </a:prstGeom>
            <a:noFill/>
          </p:spPr>
          <p:txBody>
            <a:bodyPr wrap="square" rtlCol="0">
              <a:spAutoFit/>
            </a:bodyPr>
            <a:lstStyle/>
            <a:p>
              <a:r>
                <a:rPr lang="zh-CN" altLang="en-US"/>
                <a:t>按层级</a:t>
              </a:r>
            </a:p>
          </p:txBody>
        </p:sp>
        <p:sp>
          <p:nvSpPr>
            <p:cNvPr id="36" name="矩形 35"/>
            <p:cNvSpPr/>
            <p:nvPr/>
          </p:nvSpPr>
          <p:spPr>
            <a:xfrm>
              <a:off x="14534" y="6558"/>
              <a:ext cx="3848" cy="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solidFill>
                    <a:schemeClr val="tx1"/>
                  </a:solidFill>
                </a:rPr>
                <a:t>中央、省级、市级、区县、乡镇、社区、</a:t>
              </a:r>
              <a:r>
                <a:rPr lang="en-US" altLang="zh-CN">
                  <a:solidFill>
                    <a:schemeClr val="tx1"/>
                  </a:solidFill>
                </a:rPr>
                <a:t>...</a:t>
              </a:r>
            </a:p>
          </p:txBody>
        </p:sp>
        <p:sp>
          <p:nvSpPr>
            <p:cNvPr id="37" name="文本框 36"/>
            <p:cNvSpPr txBox="1"/>
            <p:nvPr/>
          </p:nvSpPr>
          <p:spPr>
            <a:xfrm>
              <a:off x="12984" y="7868"/>
              <a:ext cx="1551" cy="580"/>
            </a:xfrm>
            <a:prstGeom prst="rect">
              <a:avLst/>
            </a:prstGeom>
            <a:noFill/>
          </p:spPr>
          <p:txBody>
            <a:bodyPr wrap="square" rtlCol="0">
              <a:spAutoFit/>
            </a:bodyPr>
            <a:lstStyle/>
            <a:p>
              <a:r>
                <a:rPr lang="zh-CN" altLang="en-US"/>
                <a:t>按机构</a:t>
              </a:r>
            </a:p>
          </p:txBody>
        </p:sp>
        <p:sp>
          <p:nvSpPr>
            <p:cNvPr id="38" name="矩形 37"/>
            <p:cNvSpPr/>
            <p:nvPr/>
          </p:nvSpPr>
          <p:spPr>
            <a:xfrm>
              <a:off x="14534" y="7735"/>
              <a:ext cx="3848" cy="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solidFill>
                    <a:schemeClr val="tx1"/>
                  </a:solidFill>
                </a:rPr>
                <a:t>中国共产党、政府、人大、政协、法院、</a:t>
              </a:r>
              <a:r>
                <a:rPr lang="en-US" altLang="zh-CN">
                  <a:solidFill>
                    <a:schemeClr val="tx1"/>
                  </a:solidFill>
                </a:rPr>
                <a:t>...</a:t>
              </a:r>
              <a:endParaRPr lang="zh-CN" altLang="en-US">
                <a:solidFill>
                  <a:schemeClr val="tx1"/>
                </a:solidFill>
              </a:endParaRPr>
            </a:p>
          </p:txBody>
        </p:sp>
        <p:sp>
          <p:nvSpPr>
            <p:cNvPr id="39" name="文本框 38"/>
            <p:cNvSpPr txBox="1"/>
            <p:nvPr/>
          </p:nvSpPr>
          <p:spPr>
            <a:xfrm>
              <a:off x="12983" y="9045"/>
              <a:ext cx="1551" cy="580"/>
            </a:xfrm>
            <a:prstGeom prst="rect">
              <a:avLst/>
            </a:prstGeom>
            <a:noFill/>
          </p:spPr>
          <p:txBody>
            <a:bodyPr wrap="square" rtlCol="0">
              <a:spAutoFit/>
            </a:bodyPr>
            <a:lstStyle/>
            <a:p>
              <a:r>
                <a:rPr lang="zh-CN" altLang="en-US"/>
                <a:t>按主题</a:t>
              </a:r>
              <a:endParaRPr lang="en-US" altLang="zh-CN"/>
            </a:p>
          </p:txBody>
        </p:sp>
        <p:sp>
          <p:nvSpPr>
            <p:cNvPr id="40" name="矩形 39"/>
            <p:cNvSpPr/>
            <p:nvPr/>
          </p:nvSpPr>
          <p:spPr>
            <a:xfrm>
              <a:off x="14533" y="8912"/>
              <a:ext cx="3848" cy="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solidFill>
                    <a:schemeClr val="tx1"/>
                  </a:solidFill>
                </a:rPr>
                <a:t>财政、金融、审计、农业、林业、水利</a:t>
              </a:r>
              <a:r>
                <a:rPr lang="en-US" altLang="zh-CN">
                  <a:solidFill>
                    <a:schemeClr val="tx1"/>
                  </a:solidFill>
                </a:rPr>
                <a:t>...</a:t>
              </a:r>
              <a:endParaRPr lang="zh-CN" altLang="en-US">
                <a:solidFill>
                  <a:schemeClr val="tx1"/>
                </a:solidFill>
              </a:endParaRPr>
            </a:p>
          </p:txBody>
        </p:sp>
      </p:grpSp>
      <p:sp>
        <p:nvSpPr>
          <p:cNvPr id="42" name="右箭头 41"/>
          <p:cNvSpPr/>
          <p:nvPr/>
        </p:nvSpPr>
        <p:spPr>
          <a:xfrm>
            <a:off x="7247255" y="2127885"/>
            <a:ext cx="506730" cy="457835"/>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下箭头 43"/>
          <p:cNvSpPr/>
          <p:nvPr/>
        </p:nvSpPr>
        <p:spPr>
          <a:xfrm>
            <a:off x="5541010" y="2759710"/>
            <a:ext cx="361950" cy="216000"/>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下箭头 44"/>
          <p:cNvSpPr/>
          <p:nvPr/>
        </p:nvSpPr>
        <p:spPr>
          <a:xfrm>
            <a:off x="9495155" y="2759710"/>
            <a:ext cx="361950" cy="216000"/>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118428" y="4826175"/>
            <a:ext cx="2438837" cy="1706880"/>
          </a:xfrm>
          <a:prstGeom prst="rect">
            <a:avLst/>
          </a:prstGeom>
          <a:noFill/>
        </p:spPr>
        <p:txBody>
          <a:bodyPr wrap="square">
            <a:spAutoFit/>
          </a:bodyPr>
          <a:lstStyle/>
          <a:p>
            <a:pPr>
              <a:lnSpc>
                <a:spcPct val="150000"/>
              </a:lnSpc>
            </a:pPr>
            <a:r>
              <a:rPr lang="zh-CN" altLang="en-US" sz="1400" b="1" kern="100" dirty="0">
                <a:solidFill>
                  <a:schemeClr val="accent2"/>
                </a:solidFill>
                <a:latin typeface="微软雅黑" panose="020B0503020204020204" charset="-122"/>
                <a:ea typeface="微软雅黑" panose="020B0503020204020204" charset="-122"/>
                <a:cs typeface="Times New Roman" panose="02020603050405020304" pitchFamily="18" charset="0"/>
              </a:rPr>
              <a:t>      信息资源库是某类信息的集合，既可直接转化为信息产品，也可为词、标签、语料、规则等知识的提炼提供原料。</a:t>
            </a:r>
          </a:p>
        </p:txBody>
      </p:sp>
      <p:sp>
        <p:nvSpPr>
          <p:cNvPr id="47" name="文本框 46"/>
          <p:cNvSpPr txBox="1"/>
          <p:nvPr/>
        </p:nvSpPr>
        <p:spPr>
          <a:xfrm>
            <a:off x="119063" y="1407883"/>
            <a:ext cx="2438400" cy="3322955"/>
          </a:xfrm>
          <a:prstGeom prst="rect">
            <a:avLst/>
          </a:prstGeom>
          <a:noFill/>
        </p:spPr>
        <p:txBody>
          <a:bodyPr wrap="square" rtlCol="0">
            <a:spAutoFit/>
          </a:bodyPr>
          <a:lstStyle/>
          <a:p>
            <a:pPr>
              <a:lnSpc>
                <a:spcPct val="150000"/>
              </a:lnSpc>
            </a:pPr>
            <a:r>
              <a:rPr lang="zh-CN" altLang="en-US" sz="1400" kern="100" dirty="0">
                <a:effectLst/>
                <a:latin typeface="微软雅黑" panose="020B0503020204020204" charset="-122"/>
                <a:ea typeface="微软雅黑" panose="020B0503020204020204" charset="-122"/>
                <a:cs typeface="Times New Roman" panose="02020603050405020304" pitchFamily="18" charset="0"/>
              </a:rPr>
              <a:t>      信息在客观上证明客观世界的存在。预置信息构件是任务范式内要完成角色行为数字化的关于实体世界的信息，既包括事实信息和知识信息，又包括两系统五要素等信息。信息构件为领域知识工程产品功能运行提供信息，是构成领域知识工程产品的重要部分之一。</a:t>
            </a:r>
          </a:p>
        </p:txBody>
      </p:sp>
      <p:cxnSp>
        <p:nvCxnSpPr>
          <p:cNvPr id="48" name="直接连接符 47"/>
          <p:cNvCxnSpPr/>
          <p:nvPr/>
        </p:nvCxnSpPr>
        <p:spPr>
          <a:xfrm flipH="1">
            <a:off x="119064" y="4778550"/>
            <a:ext cx="2438836" cy="0"/>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5450" y="170111"/>
            <a:ext cx="4971768" cy="478155"/>
          </a:xfrm>
        </p:spPr>
        <p:txBody>
          <a:bodyPr/>
          <a:lstStyle/>
          <a:p>
            <a:r>
              <a:rPr lang="zh-CN" altLang="en-US" dirty="0"/>
              <a:t>工程实践内容</a:t>
            </a:r>
          </a:p>
        </p:txBody>
      </p:sp>
      <p:cxnSp>
        <p:nvCxnSpPr>
          <p:cNvPr id="20" name="直接连接符 19"/>
          <p:cNvCxnSpPr/>
          <p:nvPr/>
        </p:nvCxnSpPr>
        <p:spPr>
          <a:xfrm>
            <a:off x="2557900" y="1399141"/>
            <a:ext cx="0" cy="5090559"/>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119380" y="781685"/>
            <a:ext cx="11772900" cy="617220"/>
            <a:chOff x="188" y="1231"/>
            <a:chExt cx="18540" cy="972"/>
          </a:xfrm>
        </p:grpSpPr>
        <p:sp>
          <p:nvSpPr>
            <p:cNvPr id="4" name="矩形: 圆角 87"/>
            <p:cNvSpPr/>
            <p:nvPr/>
          </p:nvSpPr>
          <p:spPr>
            <a:xfrm>
              <a:off x="4969" y="1440"/>
              <a:ext cx="3531" cy="6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信息资源</a:t>
              </a:r>
            </a:p>
          </p:txBody>
        </p:sp>
        <p:sp>
          <p:nvSpPr>
            <p:cNvPr id="5" name="矩形: 圆角 88"/>
            <p:cNvSpPr/>
            <p:nvPr/>
          </p:nvSpPr>
          <p:spPr>
            <a:xfrm>
              <a:off x="9507" y="1440"/>
              <a:ext cx="3246"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知识本体</a:t>
              </a:r>
            </a:p>
          </p:txBody>
        </p:sp>
        <p:sp>
          <p:nvSpPr>
            <p:cNvPr id="6" name="矩形: 圆角 90"/>
            <p:cNvSpPr/>
            <p:nvPr/>
          </p:nvSpPr>
          <p:spPr>
            <a:xfrm>
              <a:off x="14534" y="1446"/>
              <a:ext cx="3346"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智慧化能力</a:t>
              </a:r>
            </a:p>
          </p:txBody>
        </p:sp>
        <p:sp>
          <p:nvSpPr>
            <p:cNvPr id="7" name="矩形: 圆角 84"/>
            <p:cNvSpPr/>
            <p:nvPr/>
          </p:nvSpPr>
          <p:spPr>
            <a:xfrm>
              <a:off x="188" y="1231"/>
              <a:ext cx="18540" cy="973"/>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charset="-122"/>
                <a:ea typeface="微软雅黑" panose="020B0503020204020204" charset="-122"/>
              </a:endParaRPr>
            </a:p>
          </p:txBody>
        </p:sp>
        <p:sp>
          <p:nvSpPr>
            <p:cNvPr id="8" name="矩形: 圆角 92"/>
            <p:cNvSpPr/>
            <p:nvPr/>
          </p:nvSpPr>
          <p:spPr>
            <a:xfrm>
              <a:off x="904" y="1437"/>
              <a:ext cx="3082"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领域分类</a:t>
              </a:r>
            </a:p>
          </p:txBody>
        </p:sp>
        <p:sp>
          <p:nvSpPr>
            <p:cNvPr id="112" name="箭头: 右 111"/>
            <p:cNvSpPr/>
            <p:nvPr/>
          </p:nvSpPr>
          <p:spPr>
            <a:xfrm>
              <a:off x="4197" y="1575"/>
              <a:ext cx="505" cy="39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十字形 112"/>
            <p:cNvSpPr/>
            <p:nvPr/>
          </p:nvSpPr>
          <p:spPr>
            <a:xfrm>
              <a:off x="8780" y="1575"/>
              <a:ext cx="462" cy="390"/>
            </a:xfrm>
            <a:prstGeom prst="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箭头: 右 113"/>
            <p:cNvSpPr/>
            <p:nvPr/>
          </p:nvSpPr>
          <p:spPr>
            <a:xfrm>
              <a:off x="13321" y="1534"/>
              <a:ext cx="624" cy="454"/>
            </a:xfrm>
            <a:prstGeom prst="notch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圆角矩形 9"/>
          <p:cNvSpPr/>
          <p:nvPr/>
        </p:nvSpPr>
        <p:spPr>
          <a:xfrm>
            <a:off x="2756535" y="1800225"/>
            <a:ext cx="604520" cy="1346200"/>
          </a:xfrm>
          <a:prstGeom prst="roundRect">
            <a:avLst/>
          </a:prstGeom>
          <a:solidFill>
            <a:schemeClr val="tx2">
              <a:lumMod val="20000"/>
              <a:lumOff val="8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a:t>资源分类</a:t>
            </a:r>
          </a:p>
        </p:txBody>
      </p:sp>
      <p:sp>
        <p:nvSpPr>
          <p:cNvPr id="11" name="圆角矩形 10"/>
          <p:cNvSpPr/>
          <p:nvPr/>
        </p:nvSpPr>
        <p:spPr>
          <a:xfrm>
            <a:off x="2756535" y="3384550"/>
            <a:ext cx="604520" cy="1346200"/>
          </a:xfrm>
          <a:prstGeom prst="roundRect">
            <a:avLst/>
          </a:prstGeom>
          <a:solidFill>
            <a:schemeClr val="accent2">
              <a:lumMod val="60000"/>
              <a:lumOff val="4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a:t>资源采集</a:t>
            </a:r>
          </a:p>
        </p:txBody>
      </p:sp>
      <p:sp>
        <p:nvSpPr>
          <p:cNvPr id="12" name="圆角矩形 11"/>
          <p:cNvSpPr/>
          <p:nvPr/>
        </p:nvSpPr>
        <p:spPr>
          <a:xfrm>
            <a:off x="2756535" y="4968875"/>
            <a:ext cx="604520" cy="1346200"/>
          </a:xfrm>
          <a:prstGeom prst="roundRect">
            <a:avLst/>
          </a:prstGeom>
          <a:solidFill>
            <a:schemeClr val="tx2">
              <a:lumMod val="20000"/>
              <a:lumOff val="8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a:t>资源加工</a:t>
            </a:r>
          </a:p>
        </p:txBody>
      </p:sp>
      <p:sp>
        <p:nvSpPr>
          <p:cNvPr id="18" name="圆角矩形 17"/>
          <p:cNvSpPr/>
          <p:nvPr/>
        </p:nvSpPr>
        <p:spPr>
          <a:xfrm>
            <a:off x="4067810" y="3761740"/>
            <a:ext cx="1008000" cy="468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确认</a:t>
            </a:r>
          </a:p>
          <a:p>
            <a:pPr algn="ctr"/>
            <a:r>
              <a:rPr lang="zh-CN" altLang="en-US" sz="1400"/>
              <a:t>采集范围</a:t>
            </a:r>
          </a:p>
        </p:txBody>
      </p:sp>
      <p:sp>
        <p:nvSpPr>
          <p:cNvPr id="19" name="圆角矩形 18"/>
          <p:cNvSpPr/>
          <p:nvPr/>
        </p:nvSpPr>
        <p:spPr>
          <a:xfrm>
            <a:off x="5641340" y="3761740"/>
            <a:ext cx="1008000" cy="468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搜集采集来源</a:t>
            </a:r>
          </a:p>
        </p:txBody>
      </p:sp>
      <p:sp>
        <p:nvSpPr>
          <p:cNvPr id="21" name="圆角矩形 20"/>
          <p:cNvSpPr/>
          <p:nvPr/>
        </p:nvSpPr>
        <p:spPr>
          <a:xfrm>
            <a:off x="7214870" y="3761740"/>
            <a:ext cx="1008000" cy="468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数据分析</a:t>
            </a:r>
          </a:p>
        </p:txBody>
      </p:sp>
      <p:sp>
        <p:nvSpPr>
          <p:cNvPr id="22" name="圆角矩形 21"/>
          <p:cNvSpPr/>
          <p:nvPr/>
        </p:nvSpPr>
        <p:spPr>
          <a:xfrm>
            <a:off x="8788400" y="3761740"/>
            <a:ext cx="1008000" cy="468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整理采集来源表</a:t>
            </a:r>
          </a:p>
        </p:txBody>
      </p:sp>
      <p:sp>
        <p:nvSpPr>
          <p:cNvPr id="23" name="圆角矩形 22"/>
          <p:cNvSpPr/>
          <p:nvPr/>
        </p:nvSpPr>
        <p:spPr>
          <a:xfrm>
            <a:off x="10361930" y="3743325"/>
            <a:ext cx="1008000" cy="468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执行采集</a:t>
            </a:r>
          </a:p>
        </p:txBody>
      </p:sp>
      <p:sp>
        <p:nvSpPr>
          <p:cNvPr id="24" name="圆角矩形 23"/>
          <p:cNvSpPr/>
          <p:nvPr/>
        </p:nvSpPr>
        <p:spPr>
          <a:xfrm>
            <a:off x="11019155" y="5048250"/>
            <a:ext cx="1008000" cy="468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ym typeface="+mn-ea"/>
              </a:rPr>
              <a:t>检查</a:t>
            </a:r>
            <a:endParaRPr lang="zh-CN" altLang="en-US" sz="1400"/>
          </a:p>
          <a:p>
            <a:pPr algn="ctr"/>
            <a:r>
              <a:rPr lang="zh-CN" altLang="en-US" sz="1400"/>
              <a:t>采集结果</a:t>
            </a:r>
          </a:p>
        </p:txBody>
      </p:sp>
      <p:sp>
        <p:nvSpPr>
          <p:cNvPr id="25" name="圆角矩形 24"/>
          <p:cNvSpPr/>
          <p:nvPr/>
        </p:nvSpPr>
        <p:spPr>
          <a:xfrm>
            <a:off x="3825875" y="4678680"/>
            <a:ext cx="324000" cy="83756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领域</a:t>
            </a:r>
          </a:p>
        </p:txBody>
      </p:sp>
      <p:sp>
        <p:nvSpPr>
          <p:cNvPr id="26" name="圆角矩形 25"/>
          <p:cNvSpPr/>
          <p:nvPr/>
        </p:nvSpPr>
        <p:spPr>
          <a:xfrm>
            <a:off x="4211955" y="4678680"/>
            <a:ext cx="324000" cy="83756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区域</a:t>
            </a:r>
          </a:p>
        </p:txBody>
      </p:sp>
      <p:sp>
        <p:nvSpPr>
          <p:cNvPr id="27" name="圆角矩形 26"/>
          <p:cNvSpPr/>
          <p:nvPr/>
        </p:nvSpPr>
        <p:spPr>
          <a:xfrm>
            <a:off x="4598035" y="4678680"/>
            <a:ext cx="324000" cy="83756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层级</a:t>
            </a:r>
          </a:p>
        </p:txBody>
      </p:sp>
      <p:sp>
        <p:nvSpPr>
          <p:cNvPr id="28" name="圆角矩形 27"/>
          <p:cNvSpPr/>
          <p:nvPr/>
        </p:nvSpPr>
        <p:spPr>
          <a:xfrm>
            <a:off x="4984115" y="4678680"/>
            <a:ext cx="324000" cy="83756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类型</a:t>
            </a:r>
          </a:p>
        </p:txBody>
      </p:sp>
      <p:sp>
        <p:nvSpPr>
          <p:cNvPr id="29" name="圆角矩形 28"/>
          <p:cNvSpPr/>
          <p:nvPr/>
        </p:nvSpPr>
        <p:spPr>
          <a:xfrm>
            <a:off x="6363335" y="2196465"/>
            <a:ext cx="631825" cy="39433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开源</a:t>
            </a:r>
          </a:p>
        </p:txBody>
      </p:sp>
      <p:sp>
        <p:nvSpPr>
          <p:cNvPr id="30" name="圆角矩形 29"/>
          <p:cNvSpPr/>
          <p:nvPr/>
        </p:nvSpPr>
        <p:spPr>
          <a:xfrm>
            <a:off x="6363335" y="2879090"/>
            <a:ext cx="631825" cy="39433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闭源</a:t>
            </a:r>
          </a:p>
        </p:txBody>
      </p:sp>
      <p:sp>
        <p:nvSpPr>
          <p:cNvPr id="31" name="圆角矩形 30"/>
          <p:cNvSpPr/>
          <p:nvPr/>
        </p:nvSpPr>
        <p:spPr>
          <a:xfrm>
            <a:off x="7392670" y="1912620"/>
            <a:ext cx="1395730" cy="28829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党政官网</a:t>
            </a:r>
          </a:p>
        </p:txBody>
      </p:sp>
      <p:sp>
        <p:nvSpPr>
          <p:cNvPr id="32" name="圆角矩形 31"/>
          <p:cNvSpPr/>
          <p:nvPr/>
        </p:nvSpPr>
        <p:spPr>
          <a:xfrm>
            <a:off x="7392670" y="2249805"/>
            <a:ext cx="1396365" cy="28829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专业知识平台</a:t>
            </a:r>
          </a:p>
        </p:txBody>
      </p:sp>
      <p:sp>
        <p:nvSpPr>
          <p:cNvPr id="33" name="圆角矩形 32"/>
          <p:cNvSpPr/>
          <p:nvPr/>
        </p:nvSpPr>
        <p:spPr>
          <a:xfrm>
            <a:off x="7392670" y="2590800"/>
            <a:ext cx="1396365" cy="28829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新闻资讯网站</a:t>
            </a:r>
          </a:p>
        </p:txBody>
      </p:sp>
      <p:sp>
        <p:nvSpPr>
          <p:cNvPr id="34" name="圆角矩形 33"/>
          <p:cNvSpPr/>
          <p:nvPr/>
        </p:nvSpPr>
        <p:spPr>
          <a:xfrm>
            <a:off x="7171055" y="4678680"/>
            <a:ext cx="323850" cy="112712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获取方式</a:t>
            </a:r>
          </a:p>
        </p:txBody>
      </p:sp>
      <p:sp>
        <p:nvSpPr>
          <p:cNvPr id="35" name="圆角矩形 34"/>
          <p:cNvSpPr/>
          <p:nvPr/>
        </p:nvSpPr>
        <p:spPr>
          <a:xfrm>
            <a:off x="7557135" y="4678680"/>
            <a:ext cx="323850" cy="112712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采集字段</a:t>
            </a:r>
          </a:p>
        </p:txBody>
      </p:sp>
      <p:sp>
        <p:nvSpPr>
          <p:cNvPr id="36" name="圆角矩形 35"/>
          <p:cNvSpPr/>
          <p:nvPr/>
        </p:nvSpPr>
        <p:spPr>
          <a:xfrm>
            <a:off x="7943215" y="4678680"/>
            <a:ext cx="323850" cy="112712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更新规则</a:t>
            </a:r>
          </a:p>
        </p:txBody>
      </p:sp>
      <p:sp>
        <p:nvSpPr>
          <p:cNvPr id="38" name="圆角矩形 37"/>
          <p:cNvSpPr/>
          <p:nvPr/>
        </p:nvSpPr>
        <p:spPr>
          <a:xfrm>
            <a:off x="8743950" y="4678680"/>
            <a:ext cx="323850" cy="112712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分类目录</a:t>
            </a:r>
          </a:p>
        </p:txBody>
      </p:sp>
      <p:sp>
        <p:nvSpPr>
          <p:cNvPr id="39" name="圆角矩形 38"/>
          <p:cNvSpPr/>
          <p:nvPr/>
        </p:nvSpPr>
        <p:spPr>
          <a:xfrm>
            <a:off x="9130030" y="4678680"/>
            <a:ext cx="323850" cy="112712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采集网址</a:t>
            </a:r>
          </a:p>
        </p:txBody>
      </p:sp>
      <p:sp>
        <p:nvSpPr>
          <p:cNvPr id="40" name="圆角矩形 39"/>
          <p:cNvSpPr/>
          <p:nvPr/>
        </p:nvSpPr>
        <p:spPr>
          <a:xfrm>
            <a:off x="9516110" y="4678680"/>
            <a:ext cx="323850" cy="112712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信息属性</a:t>
            </a:r>
          </a:p>
        </p:txBody>
      </p:sp>
      <p:sp>
        <p:nvSpPr>
          <p:cNvPr id="43" name="圆角矩形 42"/>
          <p:cNvSpPr/>
          <p:nvPr/>
        </p:nvSpPr>
        <p:spPr>
          <a:xfrm>
            <a:off x="9966960" y="5982335"/>
            <a:ext cx="936000" cy="40322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基础属性</a:t>
            </a:r>
          </a:p>
        </p:txBody>
      </p:sp>
      <p:sp>
        <p:nvSpPr>
          <p:cNvPr id="44" name="圆角矩形 43"/>
          <p:cNvSpPr/>
          <p:nvPr/>
        </p:nvSpPr>
        <p:spPr>
          <a:xfrm>
            <a:off x="9966960" y="6454775"/>
            <a:ext cx="936000" cy="40322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基础属性</a:t>
            </a:r>
          </a:p>
        </p:txBody>
      </p:sp>
      <p:sp>
        <p:nvSpPr>
          <p:cNvPr id="45" name="圆角矩形 44"/>
          <p:cNvSpPr/>
          <p:nvPr/>
        </p:nvSpPr>
        <p:spPr>
          <a:xfrm>
            <a:off x="10516870" y="2368550"/>
            <a:ext cx="324000" cy="936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手动录入</a:t>
            </a:r>
          </a:p>
        </p:txBody>
      </p:sp>
      <p:sp>
        <p:nvSpPr>
          <p:cNvPr id="46" name="圆角矩形 45"/>
          <p:cNvSpPr/>
          <p:nvPr/>
        </p:nvSpPr>
        <p:spPr>
          <a:xfrm>
            <a:off x="10902950" y="2368550"/>
            <a:ext cx="324000" cy="936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网络爬虫</a:t>
            </a:r>
          </a:p>
        </p:txBody>
      </p:sp>
      <p:cxnSp>
        <p:nvCxnSpPr>
          <p:cNvPr id="47" name="肘形连接符 46"/>
          <p:cNvCxnSpPr>
            <a:stCxn id="18" idx="3"/>
            <a:endCxn id="19" idx="1"/>
          </p:cNvCxnSpPr>
          <p:nvPr/>
        </p:nvCxnSpPr>
        <p:spPr>
          <a:xfrm>
            <a:off x="5075555" y="3987165"/>
            <a:ext cx="565785" cy="3175"/>
          </a:xfrm>
          <a:prstGeom prst="bentConnector2">
            <a:avLst/>
          </a:prstGeom>
          <a:ln w="69850">
            <a:tailEnd type="triangle" w="med" len="med"/>
          </a:ln>
        </p:spPr>
        <p:style>
          <a:lnRef idx="1">
            <a:schemeClr val="accent2"/>
          </a:lnRef>
          <a:fillRef idx="0">
            <a:schemeClr val="accent2"/>
          </a:fillRef>
          <a:effectRef idx="0">
            <a:schemeClr val="accent2"/>
          </a:effectRef>
          <a:fontRef idx="minor">
            <a:schemeClr val="tx1"/>
          </a:fontRef>
        </p:style>
      </p:cxnSp>
      <p:cxnSp>
        <p:nvCxnSpPr>
          <p:cNvPr id="48" name="直接箭头连接符 47"/>
          <p:cNvCxnSpPr>
            <a:stCxn id="19" idx="3"/>
            <a:endCxn id="21" idx="1"/>
          </p:cNvCxnSpPr>
          <p:nvPr/>
        </p:nvCxnSpPr>
        <p:spPr>
          <a:xfrm>
            <a:off x="6649085" y="3987165"/>
            <a:ext cx="565785" cy="0"/>
          </a:xfrm>
          <a:prstGeom prst="straightConnector1">
            <a:avLst/>
          </a:prstGeom>
          <a:ln w="69850">
            <a:tailEnd type="triangle" w="med" len="med"/>
          </a:ln>
        </p:spPr>
        <p:style>
          <a:lnRef idx="1">
            <a:schemeClr val="accent2"/>
          </a:lnRef>
          <a:fillRef idx="0">
            <a:schemeClr val="accent2"/>
          </a:fillRef>
          <a:effectRef idx="0">
            <a:schemeClr val="accent2"/>
          </a:effectRef>
          <a:fontRef idx="minor">
            <a:schemeClr val="tx1"/>
          </a:fontRef>
        </p:style>
      </p:cxnSp>
      <p:cxnSp>
        <p:nvCxnSpPr>
          <p:cNvPr id="49" name="直接箭头连接符 48"/>
          <p:cNvCxnSpPr>
            <a:stCxn id="21" idx="3"/>
          </p:cNvCxnSpPr>
          <p:nvPr/>
        </p:nvCxnSpPr>
        <p:spPr>
          <a:xfrm>
            <a:off x="8222615" y="3987165"/>
            <a:ext cx="565785" cy="3175"/>
          </a:xfrm>
          <a:prstGeom prst="straightConnector1">
            <a:avLst/>
          </a:prstGeom>
          <a:ln w="69850">
            <a:tailEnd type="triangle" w="med" len="med"/>
          </a:ln>
        </p:spPr>
        <p:style>
          <a:lnRef idx="1">
            <a:schemeClr val="accent2"/>
          </a:lnRef>
          <a:fillRef idx="0">
            <a:schemeClr val="accent2"/>
          </a:fillRef>
          <a:effectRef idx="0">
            <a:schemeClr val="accent2"/>
          </a:effectRef>
          <a:fontRef idx="minor">
            <a:schemeClr val="tx1"/>
          </a:fontRef>
        </p:style>
      </p:cxnSp>
      <p:cxnSp>
        <p:nvCxnSpPr>
          <p:cNvPr id="50" name="直接箭头连接符 49"/>
          <p:cNvCxnSpPr>
            <a:stCxn id="22" idx="3"/>
          </p:cNvCxnSpPr>
          <p:nvPr/>
        </p:nvCxnSpPr>
        <p:spPr>
          <a:xfrm>
            <a:off x="9796145" y="3987165"/>
            <a:ext cx="565785" cy="3175"/>
          </a:xfrm>
          <a:prstGeom prst="straightConnector1">
            <a:avLst/>
          </a:prstGeom>
          <a:ln w="69850">
            <a:tailEnd type="triangle" w="med" len="med"/>
          </a:ln>
        </p:spPr>
        <p:style>
          <a:lnRef idx="1">
            <a:schemeClr val="accent2"/>
          </a:lnRef>
          <a:fillRef idx="0">
            <a:schemeClr val="accent2"/>
          </a:fillRef>
          <a:effectRef idx="0">
            <a:schemeClr val="accent2"/>
          </a:effectRef>
          <a:fontRef idx="minor">
            <a:schemeClr val="tx1"/>
          </a:fontRef>
        </p:style>
      </p:cxnSp>
      <p:cxnSp>
        <p:nvCxnSpPr>
          <p:cNvPr id="51" name="肘形连接符 50"/>
          <p:cNvCxnSpPr>
            <a:stCxn id="18" idx="2"/>
            <a:endCxn id="25" idx="0"/>
          </p:cNvCxnSpPr>
          <p:nvPr/>
        </p:nvCxnSpPr>
        <p:spPr>
          <a:xfrm rot="5400000">
            <a:off x="4055428" y="4162108"/>
            <a:ext cx="448945" cy="584200"/>
          </a:xfrm>
          <a:prstGeom prst="bentConnector3">
            <a:avLst>
              <a:gd name="adj1" fmla="val 50000"/>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52" name="肘形连接符 51"/>
          <p:cNvCxnSpPr>
            <a:stCxn id="18" idx="2"/>
            <a:endCxn id="26" idx="0"/>
          </p:cNvCxnSpPr>
          <p:nvPr/>
        </p:nvCxnSpPr>
        <p:spPr>
          <a:xfrm rot="5400000">
            <a:off x="4248468" y="4355148"/>
            <a:ext cx="448945" cy="198120"/>
          </a:xfrm>
          <a:prstGeom prst="bentConnector3">
            <a:avLst>
              <a:gd name="adj1" fmla="val 50000"/>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53" name="肘形连接符 52"/>
          <p:cNvCxnSpPr>
            <a:stCxn id="18" idx="2"/>
            <a:endCxn id="27" idx="0"/>
          </p:cNvCxnSpPr>
          <p:nvPr/>
        </p:nvCxnSpPr>
        <p:spPr>
          <a:xfrm rot="5400000" flipV="1">
            <a:off x="4441508" y="4360228"/>
            <a:ext cx="448945" cy="187960"/>
          </a:xfrm>
          <a:prstGeom prst="bentConnector3">
            <a:avLst>
              <a:gd name="adj1" fmla="val 50000"/>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54" name="肘形连接符 53"/>
          <p:cNvCxnSpPr>
            <a:stCxn id="18" idx="2"/>
            <a:endCxn id="28" idx="0"/>
          </p:cNvCxnSpPr>
          <p:nvPr/>
        </p:nvCxnSpPr>
        <p:spPr>
          <a:xfrm rot="5400000" flipV="1">
            <a:off x="4634548" y="4167188"/>
            <a:ext cx="448945" cy="574040"/>
          </a:xfrm>
          <a:prstGeom prst="bentConnector3">
            <a:avLst>
              <a:gd name="adj1" fmla="val 50000"/>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55" name="肘形连接符 54"/>
          <p:cNvCxnSpPr>
            <a:stCxn id="21" idx="2"/>
            <a:endCxn id="34" idx="0"/>
          </p:cNvCxnSpPr>
          <p:nvPr/>
        </p:nvCxnSpPr>
        <p:spPr>
          <a:xfrm rot="5400000">
            <a:off x="7301548" y="4261168"/>
            <a:ext cx="448945" cy="386080"/>
          </a:xfrm>
          <a:prstGeom prst="bentConnector3">
            <a:avLst>
              <a:gd name="adj1" fmla="val 50000"/>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58" name="肘形连接符 57"/>
          <p:cNvCxnSpPr>
            <a:stCxn id="21" idx="2"/>
            <a:endCxn id="36" idx="0"/>
          </p:cNvCxnSpPr>
          <p:nvPr/>
        </p:nvCxnSpPr>
        <p:spPr>
          <a:xfrm rot="5400000" flipV="1">
            <a:off x="7687628" y="4261168"/>
            <a:ext cx="448945" cy="386080"/>
          </a:xfrm>
          <a:prstGeom prst="bentConnector3">
            <a:avLst>
              <a:gd name="adj1" fmla="val 50000"/>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59" name="肘形连接符 58"/>
          <p:cNvCxnSpPr>
            <a:stCxn id="22" idx="2"/>
            <a:endCxn id="38" idx="0"/>
          </p:cNvCxnSpPr>
          <p:nvPr/>
        </p:nvCxnSpPr>
        <p:spPr>
          <a:xfrm rot="5400000">
            <a:off x="8874760" y="4260850"/>
            <a:ext cx="448945" cy="386715"/>
          </a:xfrm>
          <a:prstGeom prst="bentConnector3">
            <a:avLst>
              <a:gd name="adj1" fmla="val 50071"/>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60" name="肘形连接符 59"/>
          <p:cNvCxnSpPr>
            <a:stCxn id="22" idx="2"/>
            <a:endCxn id="40" idx="0"/>
          </p:cNvCxnSpPr>
          <p:nvPr/>
        </p:nvCxnSpPr>
        <p:spPr>
          <a:xfrm rot="5400000" flipV="1">
            <a:off x="9260840" y="4261485"/>
            <a:ext cx="448945" cy="385445"/>
          </a:xfrm>
          <a:prstGeom prst="bentConnector3">
            <a:avLst>
              <a:gd name="adj1" fmla="val 50071"/>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61" name="肘形连接符 60"/>
          <p:cNvCxnSpPr>
            <a:stCxn id="40" idx="2"/>
            <a:endCxn id="43" idx="1"/>
          </p:cNvCxnSpPr>
          <p:nvPr/>
        </p:nvCxnSpPr>
        <p:spPr>
          <a:xfrm rot="5400000" flipV="1">
            <a:off x="9632950" y="5850255"/>
            <a:ext cx="378460" cy="288925"/>
          </a:xfrm>
          <a:prstGeom prst="bentConnector2">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62" name="肘形连接符 61"/>
          <p:cNvCxnSpPr>
            <a:stCxn id="40" idx="2"/>
            <a:endCxn id="44" idx="1"/>
          </p:cNvCxnSpPr>
          <p:nvPr/>
        </p:nvCxnSpPr>
        <p:spPr>
          <a:xfrm rot="5400000" flipV="1">
            <a:off x="9396730" y="6086475"/>
            <a:ext cx="850900" cy="288925"/>
          </a:xfrm>
          <a:prstGeom prst="bentConnector2">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63" name="肘形连接符 62"/>
          <p:cNvCxnSpPr>
            <a:stCxn id="23" idx="0"/>
            <a:endCxn id="45" idx="2"/>
          </p:cNvCxnSpPr>
          <p:nvPr/>
        </p:nvCxnSpPr>
        <p:spPr>
          <a:xfrm rot="16200000" flipV="1">
            <a:off x="10553065" y="3421380"/>
            <a:ext cx="438785" cy="187325"/>
          </a:xfrm>
          <a:prstGeom prst="bentConnector3">
            <a:avLst>
              <a:gd name="adj1" fmla="val 49928"/>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64" name="肘形连接符 63"/>
          <p:cNvCxnSpPr>
            <a:stCxn id="23" idx="0"/>
            <a:endCxn id="46" idx="2"/>
          </p:cNvCxnSpPr>
          <p:nvPr/>
        </p:nvCxnSpPr>
        <p:spPr>
          <a:xfrm rot="16200000">
            <a:off x="10746105" y="3415665"/>
            <a:ext cx="438785" cy="198755"/>
          </a:xfrm>
          <a:prstGeom prst="bentConnector3">
            <a:avLst>
              <a:gd name="adj1" fmla="val 49928"/>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65" name="肘形连接符 64"/>
          <p:cNvCxnSpPr>
            <a:stCxn id="19" idx="0"/>
            <a:endCxn id="29" idx="1"/>
          </p:cNvCxnSpPr>
          <p:nvPr/>
        </p:nvCxnSpPr>
        <p:spPr>
          <a:xfrm rot="16200000">
            <a:off x="5570538" y="2960053"/>
            <a:ext cx="1367790" cy="217805"/>
          </a:xfrm>
          <a:prstGeom prst="bentConnector2">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66" name="肘形连接符 65"/>
          <p:cNvCxnSpPr>
            <a:stCxn id="19" idx="0"/>
            <a:endCxn id="30" idx="1"/>
          </p:cNvCxnSpPr>
          <p:nvPr/>
        </p:nvCxnSpPr>
        <p:spPr>
          <a:xfrm rot="16200000">
            <a:off x="5911850" y="3301365"/>
            <a:ext cx="685165" cy="217805"/>
          </a:xfrm>
          <a:prstGeom prst="bentConnector2">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68" name="肘形连接符 67"/>
          <p:cNvCxnSpPr>
            <a:stCxn id="29" idx="3"/>
            <a:endCxn id="31" idx="1"/>
          </p:cNvCxnSpPr>
          <p:nvPr/>
        </p:nvCxnSpPr>
        <p:spPr>
          <a:xfrm flipV="1">
            <a:off x="6995160" y="2047875"/>
            <a:ext cx="397510" cy="337185"/>
          </a:xfrm>
          <a:prstGeom prst="bentConnector3">
            <a:avLst>
              <a:gd name="adj1" fmla="val 50000"/>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71" name="肘形连接符 70"/>
          <p:cNvCxnSpPr>
            <a:stCxn id="29" idx="3"/>
            <a:endCxn id="33" idx="1"/>
          </p:cNvCxnSpPr>
          <p:nvPr/>
        </p:nvCxnSpPr>
        <p:spPr>
          <a:xfrm>
            <a:off x="6995160" y="2385060"/>
            <a:ext cx="397510" cy="340995"/>
          </a:xfrm>
          <a:prstGeom prst="bentConnector3">
            <a:avLst>
              <a:gd name="adj1" fmla="val 50000"/>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72" name="直接箭头连接符 71"/>
          <p:cNvCxnSpPr>
            <a:stCxn id="29" idx="3"/>
            <a:endCxn id="32" idx="1"/>
          </p:cNvCxnSpPr>
          <p:nvPr/>
        </p:nvCxnSpPr>
        <p:spPr>
          <a:xfrm>
            <a:off x="6995160" y="2385060"/>
            <a:ext cx="397510" cy="0"/>
          </a:xfrm>
          <a:prstGeom prst="straightConnector1">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73" name="直接箭头连接符 72"/>
          <p:cNvCxnSpPr>
            <a:stCxn id="22" idx="2"/>
            <a:endCxn id="39" idx="0"/>
          </p:cNvCxnSpPr>
          <p:nvPr/>
        </p:nvCxnSpPr>
        <p:spPr>
          <a:xfrm flipH="1">
            <a:off x="9291955" y="4229735"/>
            <a:ext cx="635" cy="448945"/>
          </a:xfrm>
          <a:prstGeom prst="straightConnector1">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74" name="直接箭头连接符 73"/>
          <p:cNvCxnSpPr>
            <a:stCxn id="21" idx="2"/>
            <a:endCxn id="35" idx="0"/>
          </p:cNvCxnSpPr>
          <p:nvPr/>
        </p:nvCxnSpPr>
        <p:spPr>
          <a:xfrm>
            <a:off x="7719060" y="4229735"/>
            <a:ext cx="0" cy="448945"/>
          </a:xfrm>
          <a:prstGeom prst="straightConnector1">
            <a:avLst/>
          </a:prstGeom>
          <a:ln w="25400">
            <a:tailEnd type="arrow" w="med" len="med"/>
          </a:ln>
        </p:spPr>
        <p:style>
          <a:lnRef idx="1">
            <a:schemeClr val="accent2"/>
          </a:lnRef>
          <a:fillRef idx="0">
            <a:schemeClr val="accent2"/>
          </a:fillRef>
          <a:effectRef idx="0">
            <a:schemeClr val="accent2"/>
          </a:effectRef>
          <a:fontRef idx="minor">
            <a:schemeClr val="tx1"/>
          </a:fontRef>
        </p:style>
      </p:cxnSp>
      <p:cxnSp>
        <p:nvCxnSpPr>
          <p:cNvPr id="75" name="曲线连接符 74"/>
          <p:cNvCxnSpPr>
            <a:stCxn id="23" idx="3"/>
            <a:endCxn id="24" idx="0"/>
          </p:cNvCxnSpPr>
          <p:nvPr/>
        </p:nvCxnSpPr>
        <p:spPr>
          <a:xfrm>
            <a:off x="11369675" y="3977640"/>
            <a:ext cx="153670" cy="1070610"/>
          </a:xfrm>
          <a:prstGeom prst="curvedConnector2">
            <a:avLst/>
          </a:prstGeom>
          <a:ln w="69850">
            <a:tailEnd type="triangle" w="med" len="med"/>
          </a:ln>
        </p:spPr>
        <p:style>
          <a:lnRef idx="1">
            <a:schemeClr val="accent2"/>
          </a:lnRef>
          <a:fillRef idx="0">
            <a:schemeClr val="accent2"/>
          </a:fillRef>
          <a:effectRef idx="0">
            <a:schemeClr val="accent2"/>
          </a:effectRef>
          <a:fontRef idx="minor">
            <a:schemeClr val="tx1"/>
          </a:fontRef>
        </p:style>
      </p:cxnSp>
      <p:sp>
        <p:nvSpPr>
          <p:cNvPr id="77" name="文本框 76"/>
          <p:cNvSpPr txBox="1"/>
          <p:nvPr/>
        </p:nvSpPr>
        <p:spPr>
          <a:xfrm>
            <a:off x="118428" y="4826175"/>
            <a:ext cx="2438837" cy="1706880"/>
          </a:xfrm>
          <a:prstGeom prst="rect">
            <a:avLst/>
          </a:prstGeom>
          <a:noFill/>
        </p:spPr>
        <p:txBody>
          <a:bodyPr wrap="square">
            <a:spAutoFit/>
          </a:bodyPr>
          <a:lstStyle/>
          <a:p>
            <a:pPr>
              <a:lnSpc>
                <a:spcPct val="150000"/>
              </a:lnSpc>
            </a:pPr>
            <a:r>
              <a:rPr lang="zh-CN" altLang="en-US" sz="1400" b="1" kern="100" dirty="0">
                <a:solidFill>
                  <a:schemeClr val="accent2"/>
                </a:solidFill>
                <a:latin typeface="微软雅黑" panose="020B0503020204020204" charset="-122"/>
                <a:ea typeface="微软雅黑" panose="020B0503020204020204" charset="-122"/>
                <a:cs typeface="Times New Roman" panose="02020603050405020304" pitchFamily="18" charset="0"/>
              </a:rPr>
              <a:t>      信息资源库是某类信息的集合，既可直接转化为信息产品，也可为词、标签、语料、规则等知识的提炼提供原料。</a:t>
            </a:r>
          </a:p>
        </p:txBody>
      </p:sp>
      <p:sp>
        <p:nvSpPr>
          <p:cNvPr id="78" name="文本框 77"/>
          <p:cNvSpPr txBox="1"/>
          <p:nvPr/>
        </p:nvSpPr>
        <p:spPr>
          <a:xfrm>
            <a:off x="119063" y="1407883"/>
            <a:ext cx="2438400" cy="3322955"/>
          </a:xfrm>
          <a:prstGeom prst="rect">
            <a:avLst/>
          </a:prstGeom>
          <a:noFill/>
        </p:spPr>
        <p:txBody>
          <a:bodyPr wrap="square" rtlCol="0">
            <a:spAutoFit/>
          </a:bodyPr>
          <a:lstStyle/>
          <a:p>
            <a:pPr>
              <a:lnSpc>
                <a:spcPct val="150000"/>
              </a:lnSpc>
            </a:pPr>
            <a:r>
              <a:rPr lang="zh-CN" altLang="en-US" sz="1400" kern="100" dirty="0">
                <a:effectLst/>
                <a:latin typeface="微软雅黑" panose="020B0503020204020204" charset="-122"/>
                <a:ea typeface="微软雅黑" panose="020B0503020204020204" charset="-122"/>
                <a:cs typeface="Times New Roman" panose="02020603050405020304" pitchFamily="18" charset="0"/>
              </a:rPr>
              <a:t>      信息在客观上证明客观世界的存在。预置信息构件是任务范式内要完成角色行为数字化的关于实体世界的信息，既包括事实信息和知识信息，又包括两系统五要素等信息。信息构件为领域知识工程产品功能运行提供信息，是构成领域知识工程产品的重要部分之一。</a:t>
            </a:r>
          </a:p>
        </p:txBody>
      </p:sp>
      <p:cxnSp>
        <p:nvCxnSpPr>
          <p:cNvPr id="79" name="直接连接符 78"/>
          <p:cNvCxnSpPr/>
          <p:nvPr/>
        </p:nvCxnSpPr>
        <p:spPr>
          <a:xfrm flipH="1">
            <a:off x="119064" y="4778550"/>
            <a:ext cx="2438836" cy="0"/>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500"/>
                                        <p:tgtEl>
                                          <p:spTgt spid="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fade">
                                      <p:cBhvr>
                                        <p:cTn id="12"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5450" y="170111"/>
            <a:ext cx="4971768" cy="478155"/>
          </a:xfrm>
        </p:spPr>
        <p:txBody>
          <a:bodyPr/>
          <a:lstStyle/>
          <a:p>
            <a:r>
              <a:rPr lang="zh-CN" altLang="en-US" dirty="0"/>
              <a:t>工程实践内容</a:t>
            </a:r>
          </a:p>
        </p:txBody>
      </p:sp>
      <p:cxnSp>
        <p:nvCxnSpPr>
          <p:cNvPr id="20" name="直接连接符 19"/>
          <p:cNvCxnSpPr/>
          <p:nvPr/>
        </p:nvCxnSpPr>
        <p:spPr>
          <a:xfrm>
            <a:off x="2557900" y="1399141"/>
            <a:ext cx="0" cy="5090559"/>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119380" y="781685"/>
            <a:ext cx="11772900" cy="617220"/>
            <a:chOff x="188" y="1231"/>
            <a:chExt cx="18540" cy="972"/>
          </a:xfrm>
        </p:grpSpPr>
        <p:sp>
          <p:nvSpPr>
            <p:cNvPr id="4" name="矩形: 圆角 87"/>
            <p:cNvSpPr/>
            <p:nvPr/>
          </p:nvSpPr>
          <p:spPr>
            <a:xfrm>
              <a:off x="4969" y="1440"/>
              <a:ext cx="3531" cy="6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信息资源</a:t>
              </a:r>
            </a:p>
          </p:txBody>
        </p:sp>
        <p:sp>
          <p:nvSpPr>
            <p:cNvPr id="5" name="矩形: 圆角 88"/>
            <p:cNvSpPr/>
            <p:nvPr/>
          </p:nvSpPr>
          <p:spPr>
            <a:xfrm>
              <a:off x="9507" y="1440"/>
              <a:ext cx="3246"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知识本体</a:t>
              </a:r>
            </a:p>
          </p:txBody>
        </p:sp>
        <p:sp>
          <p:nvSpPr>
            <p:cNvPr id="6" name="矩形: 圆角 90"/>
            <p:cNvSpPr/>
            <p:nvPr/>
          </p:nvSpPr>
          <p:spPr>
            <a:xfrm>
              <a:off x="14534" y="1446"/>
              <a:ext cx="3346"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智慧化能力</a:t>
              </a:r>
            </a:p>
          </p:txBody>
        </p:sp>
        <p:sp>
          <p:nvSpPr>
            <p:cNvPr id="7" name="矩形: 圆角 84"/>
            <p:cNvSpPr/>
            <p:nvPr/>
          </p:nvSpPr>
          <p:spPr>
            <a:xfrm>
              <a:off x="188" y="1231"/>
              <a:ext cx="18540" cy="973"/>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charset="-122"/>
                <a:ea typeface="微软雅黑" panose="020B0503020204020204" charset="-122"/>
              </a:endParaRPr>
            </a:p>
          </p:txBody>
        </p:sp>
        <p:sp>
          <p:nvSpPr>
            <p:cNvPr id="8" name="矩形: 圆角 92"/>
            <p:cNvSpPr/>
            <p:nvPr/>
          </p:nvSpPr>
          <p:spPr>
            <a:xfrm>
              <a:off x="904" y="1437"/>
              <a:ext cx="3082"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领域分类</a:t>
              </a:r>
            </a:p>
          </p:txBody>
        </p:sp>
        <p:sp>
          <p:nvSpPr>
            <p:cNvPr id="112" name="箭头: 右 111"/>
            <p:cNvSpPr/>
            <p:nvPr/>
          </p:nvSpPr>
          <p:spPr>
            <a:xfrm>
              <a:off x="4197" y="1575"/>
              <a:ext cx="505" cy="39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十字形 112"/>
            <p:cNvSpPr/>
            <p:nvPr/>
          </p:nvSpPr>
          <p:spPr>
            <a:xfrm>
              <a:off x="8780" y="1575"/>
              <a:ext cx="462" cy="390"/>
            </a:xfrm>
            <a:prstGeom prst="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箭头: 右 113"/>
            <p:cNvSpPr/>
            <p:nvPr/>
          </p:nvSpPr>
          <p:spPr>
            <a:xfrm>
              <a:off x="13321" y="1534"/>
              <a:ext cx="624" cy="454"/>
            </a:xfrm>
            <a:prstGeom prst="notch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圆角矩形 9"/>
          <p:cNvSpPr/>
          <p:nvPr/>
        </p:nvSpPr>
        <p:spPr>
          <a:xfrm>
            <a:off x="2756535" y="1800225"/>
            <a:ext cx="604520" cy="1346200"/>
          </a:xfrm>
          <a:prstGeom prst="roundRect">
            <a:avLst/>
          </a:prstGeom>
          <a:solidFill>
            <a:schemeClr val="tx2">
              <a:lumMod val="20000"/>
              <a:lumOff val="8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a:t>资源分类</a:t>
            </a:r>
          </a:p>
        </p:txBody>
      </p:sp>
      <p:sp>
        <p:nvSpPr>
          <p:cNvPr id="11" name="圆角矩形 10"/>
          <p:cNvSpPr/>
          <p:nvPr/>
        </p:nvSpPr>
        <p:spPr>
          <a:xfrm>
            <a:off x="2756535" y="3384550"/>
            <a:ext cx="604520" cy="1346200"/>
          </a:xfrm>
          <a:prstGeom prst="roundRect">
            <a:avLst/>
          </a:prstGeom>
          <a:solidFill>
            <a:schemeClr val="tx2">
              <a:lumMod val="20000"/>
              <a:lumOff val="8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a:t>资源采集</a:t>
            </a:r>
          </a:p>
        </p:txBody>
      </p:sp>
      <p:sp>
        <p:nvSpPr>
          <p:cNvPr id="12" name="圆角矩形 11"/>
          <p:cNvSpPr/>
          <p:nvPr/>
        </p:nvSpPr>
        <p:spPr>
          <a:xfrm>
            <a:off x="2756535" y="4968875"/>
            <a:ext cx="604520" cy="1346200"/>
          </a:xfrm>
          <a:prstGeom prst="roundRect">
            <a:avLst/>
          </a:prstGeom>
          <a:solidFill>
            <a:schemeClr val="accent2">
              <a:lumMod val="60000"/>
              <a:lumOff val="4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a:t>资源加工</a:t>
            </a:r>
          </a:p>
        </p:txBody>
      </p:sp>
      <p:sp>
        <p:nvSpPr>
          <p:cNvPr id="28" name="圆角矩形 27"/>
          <p:cNvSpPr/>
          <p:nvPr/>
        </p:nvSpPr>
        <p:spPr>
          <a:xfrm>
            <a:off x="5053965" y="1866900"/>
            <a:ext cx="1080000" cy="5588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t>资源去重</a:t>
            </a:r>
          </a:p>
        </p:txBody>
      </p:sp>
      <p:sp>
        <p:nvSpPr>
          <p:cNvPr id="29" name="圆角矩形 28"/>
          <p:cNvSpPr/>
          <p:nvPr/>
        </p:nvSpPr>
        <p:spPr>
          <a:xfrm>
            <a:off x="4198620" y="2879725"/>
            <a:ext cx="1080000" cy="5588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t>资源目录检查</a:t>
            </a:r>
          </a:p>
        </p:txBody>
      </p:sp>
      <p:sp>
        <p:nvSpPr>
          <p:cNvPr id="30" name="圆角矩形 29"/>
          <p:cNvSpPr/>
          <p:nvPr/>
        </p:nvSpPr>
        <p:spPr>
          <a:xfrm>
            <a:off x="5397500" y="3802380"/>
            <a:ext cx="1080000" cy="5588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t>属性修改</a:t>
            </a:r>
          </a:p>
        </p:txBody>
      </p:sp>
      <p:sp>
        <p:nvSpPr>
          <p:cNvPr id="31" name="圆角矩形 30"/>
          <p:cNvSpPr/>
          <p:nvPr/>
        </p:nvSpPr>
        <p:spPr>
          <a:xfrm>
            <a:off x="4198620" y="4721225"/>
            <a:ext cx="1080000" cy="5588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t>格式调整</a:t>
            </a:r>
          </a:p>
        </p:txBody>
      </p:sp>
      <p:sp>
        <p:nvSpPr>
          <p:cNvPr id="32" name="圆角矩形 31"/>
          <p:cNvSpPr/>
          <p:nvPr/>
        </p:nvSpPr>
        <p:spPr>
          <a:xfrm>
            <a:off x="5555615" y="5648960"/>
            <a:ext cx="1080000" cy="5588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t>附件补齐</a:t>
            </a:r>
          </a:p>
        </p:txBody>
      </p:sp>
      <p:cxnSp>
        <p:nvCxnSpPr>
          <p:cNvPr id="38" name="肘形连接符 37"/>
          <p:cNvCxnSpPr>
            <a:stCxn id="28" idx="2"/>
            <a:endCxn id="29" idx="3"/>
          </p:cNvCxnSpPr>
          <p:nvPr/>
        </p:nvCxnSpPr>
        <p:spPr>
          <a:xfrm rot="5400000">
            <a:off x="5069840" y="2625725"/>
            <a:ext cx="733425" cy="315595"/>
          </a:xfrm>
          <a:prstGeom prst="bentConnector2">
            <a:avLst/>
          </a:prstGeom>
          <a:ln w="44450">
            <a:round/>
            <a:tailEnd type="triangle" w="med" len="med"/>
          </a:ln>
        </p:spPr>
        <p:style>
          <a:lnRef idx="1">
            <a:schemeClr val="accent2"/>
          </a:lnRef>
          <a:fillRef idx="0">
            <a:schemeClr val="accent2"/>
          </a:fillRef>
          <a:effectRef idx="0">
            <a:schemeClr val="accent2"/>
          </a:effectRef>
          <a:fontRef idx="minor">
            <a:schemeClr val="tx1"/>
          </a:fontRef>
        </p:style>
      </p:cxnSp>
      <p:cxnSp>
        <p:nvCxnSpPr>
          <p:cNvPr id="39" name="肘形连接符 38"/>
          <p:cNvCxnSpPr>
            <a:stCxn id="29" idx="2"/>
            <a:endCxn id="30" idx="1"/>
          </p:cNvCxnSpPr>
          <p:nvPr/>
        </p:nvCxnSpPr>
        <p:spPr>
          <a:xfrm rot="5400000" flipV="1">
            <a:off x="4746625" y="3422015"/>
            <a:ext cx="643255" cy="658495"/>
          </a:xfrm>
          <a:prstGeom prst="bentConnector2">
            <a:avLst/>
          </a:prstGeom>
          <a:ln w="44450">
            <a:round/>
            <a:tailEnd type="triangle" w="med" len="med"/>
          </a:ln>
        </p:spPr>
        <p:style>
          <a:lnRef idx="1">
            <a:schemeClr val="accent2"/>
          </a:lnRef>
          <a:fillRef idx="0">
            <a:schemeClr val="accent2"/>
          </a:fillRef>
          <a:effectRef idx="0">
            <a:schemeClr val="accent2"/>
          </a:effectRef>
          <a:fontRef idx="minor">
            <a:schemeClr val="tx1"/>
          </a:fontRef>
        </p:style>
      </p:cxnSp>
      <p:cxnSp>
        <p:nvCxnSpPr>
          <p:cNvPr id="40" name="肘形连接符 39"/>
          <p:cNvCxnSpPr>
            <a:stCxn id="31" idx="2"/>
          </p:cNvCxnSpPr>
          <p:nvPr/>
        </p:nvCxnSpPr>
        <p:spPr>
          <a:xfrm rot="5400000" flipV="1">
            <a:off x="4838065" y="5172075"/>
            <a:ext cx="657225" cy="855345"/>
          </a:xfrm>
          <a:prstGeom prst="bentConnector2">
            <a:avLst/>
          </a:prstGeom>
          <a:ln w="44450">
            <a:round/>
            <a:tailEnd type="triangle" w="med" len="med"/>
          </a:ln>
        </p:spPr>
        <p:style>
          <a:lnRef idx="1">
            <a:schemeClr val="accent2"/>
          </a:lnRef>
          <a:fillRef idx="0">
            <a:schemeClr val="accent2"/>
          </a:fillRef>
          <a:effectRef idx="0">
            <a:schemeClr val="accent2"/>
          </a:effectRef>
          <a:fontRef idx="minor">
            <a:schemeClr val="tx1"/>
          </a:fontRef>
        </p:style>
      </p:cxnSp>
      <p:cxnSp>
        <p:nvCxnSpPr>
          <p:cNvPr id="41" name="肘形连接符 40"/>
          <p:cNvCxnSpPr>
            <a:stCxn id="30" idx="2"/>
            <a:endCxn id="31" idx="3"/>
          </p:cNvCxnSpPr>
          <p:nvPr/>
        </p:nvCxnSpPr>
        <p:spPr>
          <a:xfrm rot="5400000">
            <a:off x="5288598" y="4342448"/>
            <a:ext cx="639445" cy="659130"/>
          </a:xfrm>
          <a:prstGeom prst="bentConnector2">
            <a:avLst/>
          </a:prstGeom>
          <a:ln w="44450">
            <a:round/>
            <a:tailEnd type="triangle" w="med" len="med"/>
          </a:ln>
        </p:spPr>
        <p:style>
          <a:lnRef idx="1">
            <a:schemeClr val="accent2"/>
          </a:lnRef>
          <a:fillRef idx="0">
            <a:schemeClr val="accent2"/>
          </a:fillRef>
          <a:effectRef idx="0">
            <a:schemeClr val="accent2"/>
          </a:effectRef>
          <a:fontRef idx="minor">
            <a:schemeClr val="tx1"/>
          </a:fontRef>
        </p:style>
      </p:cxnSp>
      <p:graphicFrame>
        <p:nvGraphicFramePr>
          <p:cNvPr id="44" name="表格 43"/>
          <p:cNvGraphicFramePr/>
          <p:nvPr>
            <p:custDataLst>
              <p:tags r:id="rId1"/>
            </p:custDataLst>
          </p:nvPr>
        </p:nvGraphicFramePr>
        <p:xfrm>
          <a:off x="7054215" y="2005965"/>
          <a:ext cx="5074920" cy="4309110"/>
        </p:xfrm>
        <a:graphic>
          <a:graphicData uri="http://schemas.openxmlformats.org/drawingml/2006/table">
            <a:tbl>
              <a:tblPr firstRow="1" bandRow="1">
                <a:tableStyleId>{5C22544A-7EE6-4342-B048-85BDC9FD1C3A}</a:tableStyleId>
              </a:tblPr>
              <a:tblGrid>
                <a:gridCol w="1273175">
                  <a:extLst>
                    <a:ext uri="{9D8B030D-6E8A-4147-A177-3AD203B41FA5}">
                      <a16:colId xmlns:a16="http://schemas.microsoft.com/office/drawing/2014/main" val="20000"/>
                    </a:ext>
                  </a:extLst>
                </a:gridCol>
                <a:gridCol w="3801745">
                  <a:extLst>
                    <a:ext uri="{9D8B030D-6E8A-4147-A177-3AD203B41FA5}">
                      <a16:colId xmlns:a16="http://schemas.microsoft.com/office/drawing/2014/main" val="20001"/>
                    </a:ext>
                  </a:extLst>
                </a:gridCol>
              </a:tblGrid>
              <a:tr h="427990">
                <a:tc gridSpan="2">
                  <a:txBody>
                    <a:bodyPr/>
                    <a:lstStyle/>
                    <a:p>
                      <a:pPr algn="ctr">
                        <a:buNone/>
                      </a:pPr>
                      <a:r>
                        <a:rPr lang="zh-CN" altLang="en-US"/>
                        <a:t>验收标准</a:t>
                      </a:r>
                    </a:p>
                  </a:txBody>
                  <a:tcPr>
                    <a:solidFill>
                      <a:schemeClr val="accent2"/>
                    </a:solidFill>
                  </a:tcPr>
                </a:tc>
                <a:tc hMerge="1">
                  <a:txBody>
                    <a:bodyPr/>
                    <a:lstStyle/>
                    <a:p>
                      <a:endParaRPr lang="zh-CN"/>
                    </a:p>
                  </a:txBody>
                  <a:tcPr>
                    <a:solidFill>
                      <a:schemeClr val="accent2"/>
                    </a:solidFill>
                  </a:tcPr>
                </a:tc>
                <a:extLst>
                  <a:ext uri="{0D108BD9-81ED-4DB2-BD59-A6C34878D82A}">
                    <a16:rowId xmlns:a16="http://schemas.microsoft.com/office/drawing/2014/main" val="10000"/>
                  </a:ext>
                </a:extLst>
              </a:tr>
              <a:tr h="427990">
                <a:tc>
                  <a:txBody>
                    <a:bodyPr/>
                    <a:lstStyle/>
                    <a:p>
                      <a:pPr algn="ctr">
                        <a:buNone/>
                      </a:pPr>
                      <a:r>
                        <a:rPr lang="zh-CN" altLang="en-US" sz="1400" b="0">
                          <a:latin typeface="微软雅黑" panose="020B0503020204020204" charset="-122"/>
                          <a:ea typeface="微软雅黑" panose="020B0503020204020204" charset="-122"/>
                        </a:rPr>
                        <a:t>资源目录</a:t>
                      </a:r>
                    </a:p>
                  </a:txBody>
                  <a:tcPr anchor="ctr">
                    <a:solidFill>
                      <a:schemeClr val="accent2">
                        <a:lumMod val="40000"/>
                        <a:lumOff val="60000"/>
                      </a:schemeClr>
                    </a:solidFill>
                  </a:tcPr>
                </a:tc>
                <a:tc>
                  <a:txBody>
                    <a:bodyPr/>
                    <a:lstStyle/>
                    <a:p>
                      <a:pPr algn="l">
                        <a:buNone/>
                      </a:pPr>
                      <a:r>
                        <a:rPr lang="zh-CN" altLang="en-US" sz="1200" spc="120">
                          <a:solidFill>
                            <a:srgbClr val="404040"/>
                          </a:solidFill>
                          <a:latin typeface="微软雅黑" panose="020B0503020204020204" charset="-122"/>
                          <a:ea typeface="微软雅黑" panose="020B0503020204020204" charset="-122"/>
                          <a:sym typeface="+mn-ea"/>
                        </a:rPr>
                        <a:t>资源存放位置无明显错误。</a:t>
                      </a:r>
                    </a:p>
                  </a:txBody>
                  <a:tcPr>
                    <a:solidFill>
                      <a:schemeClr val="accent2">
                        <a:lumMod val="40000"/>
                        <a:lumOff val="60000"/>
                      </a:schemeClr>
                    </a:solidFill>
                  </a:tcPr>
                </a:tc>
                <a:extLst>
                  <a:ext uri="{0D108BD9-81ED-4DB2-BD59-A6C34878D82A}">
                    <a16:rowId xmlns:a16="http://schemas.microsoft.com/office/drawing/2014/main" val="10001"/>
                  </a:ext>
                </a:extLst>
              </a:tr>
              <a:tr h="427990">
                <a:tc rowSpan="3">
                  <a:txBody>
                    <a:bodyPr/>
                    <a:lstStyle/>
                    <a:p>
                      <a:pPr algn="ctr">
                        <a:buNone/>
                      </a:pPr>
                      <a:r>
                        <a:rPr lang="zh-CN" altLang="en-US" sz="1400" b="0">
                          <a:latin typeface="微软雅黑" panose="020B0503020204020204" charset="-122"/>
                          <a:ea typeface="微软雅黑" panose="020B0503020204020204" charset="-122"/>
                        </a:rPr>
                        <a:t>资源属性</a:t>
                      </a:r>
                    </a:p>
                  </a:txBody>
                  <a:tcPr anchor="ctr">
                    <a:solidFill>
                      <a:schemeClr val="accent2">
                        <a:lumMod val="40000"/>
                        <a:lumOff val="60000"/>
                      </a:schemeClr>
                    </a:solidFill>
                  </a:tcPr>
                </a:tc>
                <a:tc>
                  <a:txBody>
                    <a:bodyPr/>
                    <a:lstStyle/>
                    <a:p>
                      <a:pPr algn="l">
                        <a:buNone/>
                      </a:pPr>
                      <a:r>
                        <a:rPr lang="zh-CN" sz="1200" spc="120">
                          <a:solidFill>
                            <a:srgbClr val="404040"/>
                          </a:solidFill>
                          <a:latin typeface="微软雅黑" panose="020B0503020204020204" charset="-122"/>
                          <a:ea typeface="微软雅黑" panose="020B0503020204020204" charset="-122"/>
                          <a:sym typeface="+mn-ea"/>
                        </a:rPr>
                        <a:t>标题、归属领域等必填项属性值不为空。</a:t>
                      </a:r>
                      <a:endParaRPr lang="zh-CN" altLang="en-US" sz="1200" spc="120">
                        <a:solidFill>
                          <a:srgbClr val="404040"/>
                        </a:solidFill>
                        <a:latin typeface="微软雅黑" panose="020B0503020204020204" charset="-122"/>
                        <a:ea typeface="微软雅黑" panose="020B0503020204020204" charset="-122"/>
                        <a:sym typeface="+mn-ea"/>
                      </a:endParaRPr>
                    </a:p>
                  </a:txBody>
                  <a:tcPr>
                    <a:solidFill>
                      <a:schemeClr val="accent2">
                        <a:lumMod val="40000"/>
                        <a:lumOff val="60000"/>
                      </a:schemeClr>
                    </a:solidFill>
                  </a:tcPr>
                </a:tc>
                <a:extLst>
                  <a:ext uri="{0D108BD9-81ED-4DB2-BD59-A6C34878D82A}">
                    <a16:rowId xmlns:a16="http://schemas.microsoft.com/office/drawing/2014/main" val="10002"/>
                  </a:ext>
                </a:extLst>
              </a:tr>
              <a:tr h="427990">
                <a:tc vMerge="1">
                  <a:txBody>
                    <a:bodyPr/>
                    <a:lstStyle/>
                    <a:p>
                      <a:endParaRPr lang="zh-CN"/>
                    </a:p>
                  </a:txBody>
                  <a:tcPr>
                    <a:solidFill>
                      <a:schemeClr val="accent2">
                        <a:lumMod val="40000"/>
                        <a:lumOff val="60000"/>
                      </a:schemeClr>
                    </a:solidFill>
                  </a:tcPr>
                </a:tc>
                <a:tc>
                  <a:txBody>
                    <a:bodyPr/>
                    <a:lstStyle/>
                    <a:p>
                      <a:pPr algn="l">
                        <a:buNone/>
                      </a:pPr>
                      <a:r>
                        <a:rPr lang="zh-CN" sz="1200" spc="120">
                          <a:solidFill>
                            <a:srgbClr val="404040"/>
                          </a:solidFill>
                          <a:latin typeface="微软雅黑" panose="020B0503020204020204" charset="-122"/>
                          <a:ea typeface="微软雅黑" panose="020B0503020204020204" charset="-122"/>
                          <a:sym typeface="+mn-ea"/>
                        </a:rPr>
                        <a:t>所有属性值不带省略号、问号、网页代码等异常字符，且信息正确。</a:t>
                      </a:r>
                      <a:endParaRPr lang="zh-CN" altLang="en-US" sz="1200">
                        <a:latin typeface="微软雅黑" panose="020B0503020204020204" charset="-122"/>
                        <a:ea typeface="微软雅黑" panose="020B0503020204020204" charset="-122"/>
                      </a:endParaRPr>
                    </a:p>
                  </a:txBody>
                  <a:tcPr>
                    <a:solidFill>
                      <a:schemeClr val="accent2">
                        <a:lumMod val="40000"/>
                        <a:lumOff val="60000"/>
                      </a:schemeClr>
                    </a:solidFill>
                  </a:tcPr>
                </a:tc>
                <a:extLst>
                  <a:ext uri="{0D108BD9-81ED-4DB2-BD59-A6C34878D82A}">
                    <a16:rowId xmlns:a16="http://schemas.microsoft.com/office/drawing/2014/main" val="10003"/>
                  </a:ext>
                </a:extLst>
              </a:tr>
              <a:tr h="427990">
                <a:tc vMerge="1">
                  <a:txBody>
                    <a:bodyPr/>
                    <a:lstStyle/>
                    <a:p>
                      <a:endParaRPr lang="zh-CN"/>
                    </a:p>
                  </a:txBody>
                  <a:tcPr>
                    <a:solidFill>
                      <a:schemeClr val="accent2">
                        <a:lumMod val="40000"/>
                        <a:lumOff val="60000"/>
                      </a:schemeClr>
                    </a:solidFill>
                  </a:tcPr>
                </a:tc>
                <a:tc>
                  <a:txBody>
                    <a:bodyPr/>
                    <a:lstStyle/>
                    <a:p>
                      <a:pPr algn="l">
                        <a:buNone/>
                      </a:pPr>
                      <a:r>
                        <a:rPr lang="zh-CN" sz="1200" spc="120">
                          <a:solidFill>
                            <a:srgbClr val="404040"/>
                          </a:solidFill>
                          <a:latin typeface="微软雅黑" panose="020B0503020204020204" charset="-122"/>
                          <a:ea typeface="微软雅黑" panose="020B0503020204020204" charset="-122"/>
                          <a:sym typeface="+mn-ea"/>
                        </a:rPr>
                        <a:t>颁布文号格式规范，无多余内容。</a:t>
                      </a:r>
                      <a:endParaRPr lang="zh-CN" altLang="en-US" sz="1200">
                        <a:latin typeface="微软雅黑" panose="020B0503020204020204" charset="-122"/>
                        <a:ea typeface="微软雅黑" panose="020B0503020204020204" charset="-122"/>
                      </a:endParaRPr>
                    </a:p>
                  </a:txBody>
                  <a:tcPr>
                    <a:solidFill>
                      <a:schemeClr val="accent2">
                        <a:lumMod val="40000"/>
                        <a:lumOff val="60000"/>
                      </a:schemeClr>
                    </a:solidFill>
                  </a:tcPr>
                </a:tc>
                <a:extLst>
                  <a:ext uri="{0D108BD9-81ED-4DB2-BD59-A6C34878D82A}">
                    <a16:rowId xmlns:a16="http://schemas.microsoft.com/office/drawing/2014/main" val="10004"/>
                  </a:ext>
                </a:extLst>
              </a:tr>
              <a:tr h="427990">
                <a:tc rowSpan="3">
                  <a:txBody>
                    <a:bodyPr/>
                    <a:lstStyle/>
                    <a:p>
                      <a:pPr algn="ctr">
                        <a:buNone/>
                      </a:pPr>
                      <a:r>
                        <a:rPr lang="zh-CN" altLang="en-US" sz="1400" b="0">
                          <a:latin typeface="微软雅黑" panose="020B0503020204020204" charset="-122"/>
                          <a:ea typeface="微软雅黑" panose="020B0503020204020204" charset="-122"/>
                        </a:rPr>
                        <a:t>资源正文</a:t>
                      </a:r>
                    </a:p>
                  </a:txBody>
                  <a:tcPr anchor="ctr">
                    <a:solidFill>
                      <a:schemeClr val="accent2">
                        <a:lumMod val="40000"/>
                        <a:lumOff val="60000"/>
                      </a:schemeClr>
                    </a:solidFill>
                  </a:tcPr>
                </a:tc>
                <a:tc>
                  <a:txBody>
                    <a:bodyPr/>
                    <a:lstStyle/>
                    <a:p>
                      <a:pPr algn="l">
                        <a:buNone/>
                      </a:pPr>
                      <a:r>
                        <a:rPr lang="zh-CN" altLang="en-US" sz="1200">
                          <a:latin typeface="微软雅黑" panose="020B0503020204020204" charset="-122"/>
                          <a:ea typeface="微软雅黑" panose="020B0503020204020204" charset="-122"/>
                        </a:rPr>
                        <a:t>正文内容完整，格式规范。</a:t>
                      </a:r>
                    </a:p>
                  </a:txBody>
                  <a:tcPr>
                    <a:solidFill>
                      <a:schemeClr val="accent2">
                        <a:lumMod val="40000"/>
                        <a:lumOff val="60000"/>
                      </a:schemeClr>
                    </a:solidFill>
                  </a:tcPr>
                </a:tc>
                <a:extLst>
                  <a:ext uri="{0D108BD9-81ED-4DB2-BD59-A6C34878D82A}">
                    <a16:rowId xmlns:a16="http://schemas.microsoft.com/office/drawing/2014/main" val="10005"/>
                  </a:ext>
                </a:extLst>
              </a:tr>
              <a:tr h="427990">
                <a:tc vMerge="1">
                  <a:txBody>
                    <a:bodyPr/>
                    <a:lstStyle/>
                    <a:p>
                      <a:endParaRPr lang="zh-CN"/>
                    </a:p>
                  </a:txBody>
                  <a:tcPr>
                    <a:solidFill>
                      <a:schemeClr val="accent2">
                        <a:lumMod val="40000"/>
                        <a:lumOff val="60000"/>
                      </a:schemeClr>
                    </a:solidFill>
                  </a:tcPr>
                </a:tc>
                <a:tc>
                  <a:txBody>
                    <a:bodyPr/>
                    <a:lstStyle/>
                    <a:p>
                      <a:pPr algn="l">
                        <a:buNone/>
                      </a:pPr>
                      <a:r>
                        <a:rPr lang="zh-CN" altLang="en-US" sz="1200">
                          <a:latin typeface="微软雅黑" panose="020B0503020204020204" charset="-122"/>
                          <a:ea typeface="微软雅黑" panose="020B0503020204020204" charset="-122"/>
                        </a:rPr>
                        <a:t>无多余符号。</a:t>
                      </a:r>
                    </a:p>
                  </a:txBody>
                  <a:tcPr>
                    <a:solidFill>
                      <a:schemeClr val="accent2">
                        <a:lumMod val="40000"/>
                        <a:lumOff val="60000"/>
                      </a:schemeClr>
                    </a:solidFill>
                  </a:tcPr>
                </a:tc>
                <a:extLst>
                  <a:ext uri="{0D108BD9-81ED-4DB2-BD59-A6C34878D82A}">
                    <a16:rowId xmlns:a16="http://schemas.microsoft.com/office/drawing/2014/main" val="10006"/>
                  </a:ext>
                </a:extLst>
              </a:tr>
              <a:tr h="427990">
                <a:tc vMerge="1">
                  <a:txBody>
                    <a:bodyPr/>
                    <a:lstStyle/>
                    <a:p>
                      <a:endParaRPr lang="zh-CN"/>
                    </a:p>
                  </a:txBody>
                  <a:tcPr>
                    <a:solidFill>
                      <a:schemeClr val="accent2">
                        <a:lumMod val="40000"/>
                        <a:lumOff val="60000"/>
                      </a:schemeClr>
                    </a:solidFill>
                  </a:tcPr>
                </a:tc>
                <a:tc>
                  <a:txBody>
                    <a:bodyPr/>
                    <a:lstStyle/>
                    <a:p>
                      <a:pPr algn="l">
                        <a:buNone/>
                      </a:pPr>
                      <a:r>
                        <a:rPr lang="zh-CN" sz="1200" spc="120">
                          <a:solidFill>
                            <a:srgbClr val="404040"/>
                          </a:solidFill>
                          <a:latin typeface="微软雅黑" panose="020B0503020204020204" charset="-122"/>
                          <a:ea typeface="微软雅黑" panose="020B0503020204020204" charset="-122"/>
                          <a:sym typeface="+mn-ea"/>
                        </a:rPr>
                        <a:t>表格、图片等显示正常。</a:t>
                      </a:r>
                      <a:endParaRPr lang="zh-CN" altLang="en-US" sz="1200">
                        <a:latin typeface="微软雅黑" panose="020B0503020204020204" charset="-122"/>
                        <a:ea typeface="微软雅黑" panose="020B0503020204020204" charset="-122"/>
                      </a:endParaRPr>
                    </a:p>
                  </a:txBody>
                  <a:tcPr>
                    <a:solidFill>
                      <a:schemeClr val="accent2">
                        <a:lumMod val="40000"/>
                        <a:lumOff val="60000"/>
                      </a:schemeClr>
                    </a:solidFill>
                  </a:tcPr>
                </a:tc>
                <a:extLst>
                  <a:ext uri="{0D108BD9-81ED-4DB2-BD59-A6C34878D82A}">
                    <a16:rowId xmlns:a16="http://schemas.microsoft.com/office/drawing/2014/main" val="10007"/>
                  </a:ext>
                </a:extLst>
              </a:tr>
              <a:tr h="427990">
                <a:tc rowSpan="2">
                  <a:txBody>
                    <a:bodyPr/>
                    <a:lstStyle/>
                    <a:p>
                      <a:pPr algn="ctr">
                        <a:buNone/>
                      </a:pPr>
                      <a:r>
                        <a:rPr lang="zh-CN" altLang="en-US" sz="1400" b="0">
                          <a:latin typeface="微软雅黑" panose="020B0503020204020204" charset="-122"/>
                          <a:ea typeface="微软雅黑" panose="020B0503020204020204" charset="-122"/>
                        </a:rPr>
                        <a:t>资源附件</a:t>
                      </a:r>
                    </a:p>
                  </a:txBody>
                  <a:tcPr anchor="ctr">
                    <a:solidFill>
                      <a:schemeClr val="accent2">
                        <a:lumMod val="40000"/>
                        <a:lumOff val="60000"/>
                      </a:schemeClr>
                    </a:solidFill>
                  </a:tcPr>
                </a:tc>
                <a:tc>
                  <a:txBody>
                    <a:bodyPr/>
                    <a:lstStyle/>
                    <a:p>
                      <a:pPr indent="0" algn="l">
                        <a:lnSpc>
                          <a:spcPct val="120000"/>
                        </a:lnSpc>
                        <a:spcBef>
                          <a:spcPts val="0"/>
                        </a:spcBef>
                        <a:spcAft>
                          <a:spcPts val="0"/>
                        </a:spcAft>
                        <a:buNone/>
                      </a:pPr>
                      <a:r>
                        <a:rPr lang="zh-CN" sz="1200" spc="120">
                          <a:solidFill>
                            <a:srgbClr val="404040"/>
                          </a:solidFill>
                          <a:latin typeface="微软雅黑" panose="020B0503020204020204" charset="-122"/>
                          <a:ea typeface="微软雅黑" panose="020B0503020204020204" charset="-122"/>
                          <a:sym typeface="+mn-ea"/>
                        </a:rPr>
                        <a:t>上传的附件与原文一致，数量无遗漏。</a:t>
                      </a:r>
                      <a:endParaRPr lang="zh-CN" altLang="en-US" sz="1200" b="0" spc="120">
                        <a:solidFill>
                          <a:srgbClr val="404040"/>
                        </a:solidFill>
                        <a:latin typeface="微软雅黑" panose="020B0503020204020204" charset="-122"/>
                        <a:ea typeface="微软雅黑" panose="020B0503020204020204" charset="-122"/>
                      </a:endParaRPr>
                    </a:p>
                  </a:txBody>
                  <a:tcPr marL="177800" marR="177800" marT="6350" marB="6350" anchor="ctr">
                    <a:solidFill>
                      <a:schemeClr val="accent2">
                        <a:lumMod val="40000"/>
                        <a:lumOff val="60000"/>
                      </a:schemeClr>
                    </a:solidFill>
                  </a:tcPr>
                </a:tc>
                <a:extLst>
                  <a:ext uri="{0D108BD9-81ED-4DB2-BD59-A6C34878D82A}">
                    <a16:rowId xmlns:a16="http://schemas.microsoft.com/office/drawing/2014/main" val="10008"/>
                  </a:ext>
                </a:extLst>
              </a:tr>
              <a:tr h="427990">
                <a:tc vMerge="1">
                  <a:txBody>
                    <a:bodyPr/>
                    <a:lstStyle/>
                    <a:p>
                      <a:endParaRPr lang="zh-CN"/>
                    </a:p>
                  </a:txBody>
                  <a:tcPr>
                    <a:solidFill>
                      <a:schemeClr val="accent2">
                        <a:lumMod val="40000"/>
                        <a:lumOff val="60000"/>
                      </a:schemeClr>
                    </a:solidFill>
                  </a:tcPr>
                </a:tc>
                <a:tc>
                  <a:txBody>
                    <a:bodyPr/>
                    <a:lstStyle/>
                    <a:p>
                      <a:pPr indent="0" algn="l">
                        <a:lnSpc>
                          <a:spcPct val="120000"/>
                        </a:lnSpc>
                        <a:spcBef>
                          <a:spcPts val="0"/>
                        </a:spcBef>
                        <a:spcAft>
                          <a:spcPts val="0"/>
                        </a:spcAft>
                        <a:buNone/>
                      </a:pPr>
                      <a:r>
                        <a:rPr lang="zh-CN" sz="1200" b="0" spc="120">
                          <a:solidFill>
                            <a:srgbClr val="404040"/>
                          </a:solidFill>
                          <a:latin typeface="微软雅黑" panose="020B0503020204020204" charset="-122"/>
                          <a:ea typeface="微软雅黑" panose="020B0503020204020204" charset="-122"/>
                        </a:rPr>
                        <a:t>附件下载后能正常打开且正文非空。</a:t>
                      </a:r>
                      <a:endParaRPr lang="zh-CN" altLang="en-US" sz="1200" b="0" spc="120">
                        <a:solidFill>
                          <a:srgbClr val="404040"/>
                        </a:solidFill>
                        <a:latin typeface="微软雅黑" panose="020B0503020204020204" charset="-122"/>
                        <a:ea typeface="微软雅黑" panose="020B0503020204020204" charset="-122"/>
                      </a:endParaRPr>
                    </a:p>
                  </a:txBody>
                  <a:tcPr marL="177800" marR="177800" marT="6350" marB="6350" anchor="ctr">
                    <a:solidFill>
                      <a:schemeClr val="accent2">
                        <a:lumMod val="40000"/>
                        <a:lumOff val="60000"/>
                      </a:schemeClr>
                    </a:solidFill>
                  </a:tcPr>
                </a:tc>
                <a:extLst>
                  <a:ext uri="{0D108BD9-81ED-4DB2-BD59-A6C34878D82A}">
                    <a16:rowId xmlns:a16="http://schemas.microsoft.com/office/drawing/2014/main" val="10009"/>
                  </a:ext>
                </a:extLst>
              </a:tr>
            </a:tbl>
          </a:graphicData>
        </a:graphic>
      </p:graphicFrame>
      <p:sp>
        <p:nvSpPr>
          <p:cNvPr id="46" name="文本框 45"/>
          <p:cNvSpPr txBox="1"/>
          <p:nvPr/>
        </p:nvSpPr>
        <p:spPr>
          <a:xfrm>
            <a:off x="118428" y="4826175"/>
            <a:ext cx="2438837" cy="1706880"/>
          </a:xfrm>
          <a:prstGeom prst="rect">
            <a:avLst/>
          </a:prstGeom>
          <a:noFill/>
        </p:spPr>
        <p:txBody>
          <a:bodyPr wrap="square">
            <a:spAutoFit/>
          </a:bodyPr>
          <a:lstStyle/>
          <a:p>
            <a:pPr>
              <a:lnSpc>
                <a:spcPct val="150000"/>
              </a:lnSpc>
            </a:pPr>
            <a:r>
              <a:rPr lang="zh-CN" altLang="en-US" sz="1400" b="1" kern="100" dirty="0">
                <a:solidFill>
                  <a:schemeClr val="accent2"/>
                </a:solidFill>
                <a:latin typeface="微软雅黑" panose="020B0503020204020204" charset="-122"/>
                <a:ea typeface="微软雅黑" panose="020B0503020204020204" charset="-122"/>
                <a:cs typeface="Times New Roman" panose="02020603050405020304" pitchFamily="18" charset="0"/>
              </a:rPr>
              <a:t>      信息资源库是某类信息的集合，既可直接转化为信息产品，也可为词、标签、语料、规则等知识的提炼提供原料。</a:t>
            </a:r>
          </a:p>
        </p:txBody>
      </p:sp>
      <p:sp>
        <p:nvSpPr>
          <p:cNvPr id="47" name="文本框 46"/>
          <p:cNvSpPr txBox="1"/>
          <p:nvPr/>
        </p:nvSpPr>
        <p:spPr>
          <a:xfrm>
            <a:off x="119063" y="1407883"/>
            <a:ext cx="2438400" cy="3322955"/>
          </a:xfrm>
          <a:prstGeom prst="rect">
            <a:avLst/>
          </a:prstGeom>
          <a:noFill/>
        </p:spPr>
        <p:txBody>
          <a:bodyPr wrap="square" rtlCol="0">
            <a:spAutoFit/>
          </a:bodyPr>
          <a:lstStyle/>
          <a:p>
            <a:pPr>
              <a:lnSpc>
                <a:spcPct val="150000"/>
              </a:lnSpc>
            </a:pPr>
            <a:r>
              <a:rPr lang="zh-CN" altLang="en-US" sz="1400" kern="100" dirty="0">
                <a:effectLst/>
                <a:latin typeface="微软雅黑" panose="020B0503020204020204" charset="-122"/>
                <a:ea typeface="微软雅黑" panose="020B0503020204020204" charset="-122"/>
                <a:cs typeface="Times New Roman" panose="02020603050405020304" pitchFamily="18" charset="0"/>
              </a:rPr>
              <a:t>      信息在客观上证明客观世界的存在。预置信息构件是任务范式内要完成角色行为数字化的关于实体世界的信息，既包括事实信息和知识信息，又包括两系统五要素等信息。信息构件为领域知识工程产品功能运行提供信息，是构成领域知识工程产品的重要部分之一。</a:t>
            </a:r>
          </a:p>
        </p:txBody>
      </p:sp>
      <p:cxnSp>
        <p:nvCxnSpPr>
          <p:cNvPr id="48" name="直接连接符 47"/>
          <p:cNvCxnSpPr/>
          <p:nvPr/>
        </p:nvCxnSpPr>
        <p:spPr>
          <a:xfrm flipH="1">
            <a:off x="119064" y="4778550"/>
            <a:ext cx="2438836" cy="0"/>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5450" y="170111"/>
            <a:ext cx="4971768" cy="478155"/>
          </a:xfrm>
        </p:spPr>
        <p:txBody>
          <a:bodyPr/>
          <a:lstStyle/>
          <a:p>
            <a:r>
              <a:rPr lang="zh-CN" altLang="en-US" dirty="0"/>
              <a:t>工程实践内容</a:t>
            </a:r>
          </a:p>
        </p:txBody>
      </p:sp>
      <p:cxnSp>
        <p:nvCxnSpPr>
          <p:cNvPr id="20" name="直接连接符 19"/>
          <p:cNvCxnSpPr/>
          <p:nvPr/>
        </p:nvCxnSpPr>
        <p:spPr>
          <a:xfrm>
            <a:off x="2557900" y="1399141"/>
            <a:ext cx="0" cy="5090559"/>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119380" y="781685"/>
            <a:ext cx="11772900" cy="617220"/>
            <a:chOff x="188" y="1231"/>
            <a:chExt cx="18540" cy="972"/>
          </a:xfrm>
        </p:grpSpPr>
        <p:sp>
          <p:nvSpPr>
            <p:cNvPr id="4" name="矩形: 圆角 87"/>
            <p:cNvSpPr/>
            <p:nvPr/>
          </p:nvSpPr>
          <p:spPr>
            <a:xfrm>
              <a:off x="4969" y="1440"/>
              <a:ext cx="3531"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信息资源</a:t>
              </a:r>
            </a:p>
          </p:txBody>
        </p:sp>
        <p:sp>
          <p:nvSpPr>
            <p:cNvPr id="5" name="矩形: 圆角 88"/>
            <p:cNvSpPr/>
            <p:nvPr/>
          </p:nvSpPr>
          <p:spPr>
            <a:xfrm>
              <a:off x="9507" y="1440"/>
              <a:ext cx="3246" cy="6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知识本体</a:t>
              </a:r>
            </a:p>
          </p:txBody>
        </p:sp>
        <p:sp>
          <p:nvSpPr>
            <p:cNvPr id="6" name="矩形: 圆角 90"/>
            <p:cNvSpPr/>
            <p:nvPr/>
          </p:nvSpPr>
          <p:spPr>
            <a:xfrm>
              <a:off x="14534" y="1446"/>
              <a:ext cx="3346"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智慧化能力</a:t>
              </a:r>
            </a:p>
          </p:txBody>
        </p:sp>
        <p:sp>
          <p:nvSpPr>
            <p:cNvPr id="7" name="矩形: 圆角 84"/>
            <p:cNvSpPr/>
            <p:nvPr/>
          </p:nvSpPr>
          <p:spPr>
            <a:xfrm>
              <a:off x="188" y="1231"/>
              <a:ext cx="18540" cy="973"/>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charset="-122"/>
                <a:ea typeface="微软雅黑" panose="020B0503020204020204" charset="-122"/>
              </a:endParaRPr>
            </a:p>
          </p:txBody>
        </p:sp>
        <p:sp>
          <p:nvSpPr>
            <p:cNvPr id="8" name="矩形: 圆角 92"/>
            <p:cNvSpPr/>
            <p:nvPr/>
          </p:nvSpPr>
          <p:spPr>
            <a:xfrm>
              <a:off x="904" y="1437"/>
              <a:ext cx="3082"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领域分类</a:t>
              </a:r>
            </a:p>
          </p:txBody>
        </p:sp>
        <p:sp>
          <p:nvSpPr>
            <p:cNvPr id="112" name="箭头: 右 111"/>
            <p:cNvSpPr/>
            <p:nvPr/>
          </p:nvSpPr>
          <p:spPr>
            <a:xfrm>
              <a:off x="4197" y="1575"/>
              <a:ext cx="505" cy="39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十字形 112"/>
            <p:cNvSpPr/>
            <p:nvPr/>
          </p:nvSpPr>
          <p:spPr>
            <a:xfrm>
              <a:off x="8780" y="1575"/>
              <a:ext cx="462" cy="390"/>
            </a:xfrm>
            <a:prstGeom prst="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箭头: 右 113"/>
            <p:cNvSpPr/>
            <p:nvPr/>
          </p:nvSpPr>
          <p:spPr>
            <a:xfrm>
              <a:off x="13321" y="1534"/>
              <a:ext cx="624" cy="454"/>
            </a:xfrm>
            <a:prstGeom prst="notch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圆角矩形 9"/>
          <p:cNvSpPr/>
          <p:nvPr/>
        </p:nvSpPr>
        <p:spPr>
          <a:xfrm>
            <a:off x="2756535" y="1800225"/>
            <a:ext cx="604520" cy="1346200"/>
          </a:xfrm>
          <a:prstGeom prst="roundRect">
            <a:avLst/>
          </a:prstGeom>
          <a:solidFill>
            <a:schemeClr val="accent2">
              <a:lumMod val="60000"/>
              <a:lumOff val="4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a:t>本体构建</a:t>
            </a:r>
          </a:p>
        </p:txBody>
      </p:sp>
      <p:sp>
        <p:nvSpPr>
          <p:cNvPr id="11" name="圆角矩形 10"/>
          <p:cNvSpPr/>
          <p:nvPr/>
        </p:nvSpPr>
        <p:spPr>
          <a:xfrm>
            <a:off x="2756535" y="3384550"/>
            <a:ext cx="604520" cy="1346200"/>
          </a:xfrm>
          <a:prstGeom prst="roundRect">
            <a:avLst/>
          </a:prstGeom>
          <a:solidFill>
            <a:schemeClr val="tx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知识地图</a:t>
            </a:r>
          </a:p>
        </p:txBody>
      </p:sp>
      <p:sp>
        <p:nvSpPr>
          <p:cNvPr id="12" name="圆角矩形 11"/>
          <p:cNvSpPr/>
          <p:nvPr/>
        </p:nvSpPr>
        <p:spPr>
          <a:xfrm>
            <a:off x="2756535" y="4968875"/>
            <a:ext cx="604520" cy="1346200"/>
          </a:xfrm>
          <a:prstGeom prst="roundRect">
            <a:avLst/>
          </a:prstGeom>
          <a:solidFill>
            <a:schemeClr val="tx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分类标引</a:t>
            </a:r>
          </a:p>
        </p:txBody>
      </p:sp>
      <p:sp>
        <p:nvSpPr>
          <p:cNvPr id="34" name="椭圆 33"/>
          <p:cNvSpPr/>
          <p:nvPr/>
        </p:nvSpPr>
        <p:spPr>
          <a:xfrm>
            <a:off x="5302141" y="2549132"/>
            <a:ext cx="864627" cy="61759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本体</a:t>
            </a:r>
          </a:p>
        </p:txBody>
      </p:sp>
      <p:sp>
        <p:nvSpPr>
          <p:cNvPr id="35" name="椭圆 34"/>
          <p:cNvSpPr/>
          <p:nvPr/>
        </p:nvSpPr>
        <p:spPr>
          <a:xfrm>
            <a:off x="5172075" y="5720080"/>
            <a:ext cx="864870" cy="617855"/>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实体</a:t>
            </a:r>
          </a:p>
        </p:txBody>
      </p:sp>
      <p:grpSp>
        <p:nvGrpSpPr>
          <p:cNvPr id="37" name="组合 36"/>
          <p:cNvGrpSpPr/>
          <p:nvPr/>
        </p:nvGrpSpPr>
        <p:grpSpPr>
          <a:xfrm>
            <a:off x="6175840" y="1940560"/>
            <a:ext cx="3055790" cy="1737360"/>
            <a:chOff x="3950328" y="1691492"/>
            <a:chExt cx="2960853" cy="1737508"/>
          </a:xfrm>
        </p:grpSpPr>
        <p:grpSp>
          <p:nvGrpSpPr>
            <p:cNvPr id="40" name="组合 39"/>
            <p:cNvGrpSpPr/>
            <p:nvPr/>
          </p:nvGrpSpPr>
          <p:grpSpPr>
            <a:xfrm>
              <a:off x="4549734" y="1691492"/>
              <a:ext cx="2361447" cy="1737508"/>
              <a:chOff x="3781682" y="4332857"/>
              <a:chExt cx="2361447" cy="1737508"/>
            </a:xfrm>
          </p:grpSpPr>
          <p:pic>
            <p:nvPicPr>
              <p:cNvPr id="42" name="图片 41"/>
              <p:cNvPicPr>
                <a:picLocks noChangeAspect="1"/>
              </p:cNvPicPr>
              <p:nvPr/>
            </p:nvPicPr>
            <p:blipFill>
              <a:blip r:embed="rId3"/>
              <a:stretch>
                <a:fillRect/>
              </a:stretch>
            </p:blipFill>
            <p:spPr>
              <a:xfrm>
                <a:off x="3781682" y="4502364"/>
                <a:ext cx="2361447" cy="1568001"/>
              </a:xfrm>
              <a:prstGeom prst="rect">
                <a:avLst/>
              </a:prstGeom>
            </p:spPr>
          </p:pic>
          <p:sp>
            <p:nvSpPr>
              <p:cNvPr id="44" name="文本框 43"/>
              <p:cNvSpPr txBox="1"/>
              <p:nvPr/>
            </p:nvSpPr>
            <p:spPr>
              <a:xfrm>
                <a:off x="4600353" y="4332857"/>
                <a:ext cx="619645" cy="344834"/>
              </a:xfrm>
              <a:prstGeom prst="rect">
                <a:avLst/>
              </a:prstGeom>
              <a:noFill/>
            </p:spPr>
            <p:txBody>
              <a:bodyPr wrap="square" rtlCol="0">
                <a:spAutoFit/>
              </a:bodyPr>
              <a:lstStyle/>
              <a:p>
                <a:pPr algn="ctr">
                  <a:lnSpc>
                    <a:spcPct val="150000"/>
                  </a:lnSpc>
                </a:pPr>
                <a:r>
                  <a:rPr lang="zh-CN" altLang="en-US" sz="1100" kern="100" dirty="0">
                    <a:latin typeface="微软雅黑" panose="020B0503020204020204" charset="-122"/>
                    <a:ea typeface="微软雅黑" panose="020B0503020204020204" charset="-122"/>
                    <a:cs typeface="Times New Roman" panose="02020603050405020304" pitchFamily="18" charset="0"/>
                  </a:rPr>
                  <a:t>本体网</a:t>
                </a:r>
                <a:endParaRPr lang="zh-CN" altLang="en-US" sz="1100" kern="100" dirty="0">
                  <a:effectLst/>
                  <a:latin typeface="微软雅黑" panose="020B0503020204020204" charset="-122"/>
                  <a:ea typeface="微软雅黑" panose="020B0503020204020204" charset="-122"/>
                  <a:cs typeface="Times New Roman" panose="02020603050405020304" pitchFamily="18" charset="0"/>
                </a:endParaRPr>
              </a:p>
            </p:txBody>
          </p:sp>
        </p:grpSp>
        <p:grpSp>
          <p:nvGrpSpPr>
            <p:cNvPr id="45" name="组合 44"/>
            <p:cNvGrpSpPr/>
            <p:nvPr/>
          </p:nvGrpSpPr>
          <p:grpSpPr>
            <a:xfrm>
              <a:off x="3950328" y="2408083"/>
              <a:ext cx="1059065" cy="509719"/>
              <a:chOff x="3950328" y="2408083"/>
              <a:chExt cx="1059065" cy="509719"/>
            </a:xfrm>
          </p:grpSpPr>
          <p:cxnSp>
            <p:nvCxnSpPr>
              <p:cNvPr id="46" name="直接箭头连接符 45"/>
              <p:cNvCxnSpPr>
                <a:stCxn id="34" idx="6"/>
              </p:cNvCxnSpPr>
              <p:nvPr/>
            </p:nvCxnSpPr>
            <p:spPr>
              <a:xfrm flipV="1">
                <a:off x="3950328" y="2408083"/>
                <a:ext cx="896972" cy="20097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34" idx="6"/>
              </p:cNvCxnSpPr>
              <p:nvPr/>
            </p:nvCxnSpPr>
            <p:spPr>
              <a:xfrm flipV="1">
                <a:off x="3950328" y="2560490"/>
                <a:ext cx="1049372" cy="48572"/>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34" idx="6"/>
              </p:cNvCxnSpPr>
              <p:nvPr/>
            </p:nvCxnSpPr>
            <p:spPr>
              <a:xfrm>
                <a:off x="3950496" y="2609007"/>
                <a:ext cx="1058897" cy="103822"/>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a:stCxn id="34" idx="6"/>
              </p:cNvCxnSpPr>
              <p:nvPr/>
            </p:nvCxnSpPr>
            <p:spPr>
              <a:xfrm>
                <a:off x="3950568" y="2609007"/>
                <a:ext cx="816233" cy="30879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73" name="组合 72"/>
          <p:cNvGrpSpPr/>
          <p:nvPr/>
        </p:nvGrpSpPr>
        <p:grpSpPr>
          <a:xfrm>
            <a:off x="6045835" y="5376629"/>
            <a:ext cx="1440778" cy="1410604"/>
            <a:chOff x="4143375" y="5127709"/>
            <a:chExt cx="1440778" cy="1410604"/>
          </a:xfrm>
        </p:grpSpPr>
        <p:sp>
          <p:nvSpPr>
            <p:cNvPr id="74" name="椭圆 73"/>
            <p:cNvSpPr/>
            <p:nvPr/>
          </p:nvSpPr>
          <p:spPr>
            <a:xfrm>
              <a:off x="4719526" y="5127709"/>
              <a:ext cx="864627" cy="61759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信息</a:t>
              </a:r>
              <a:endParaRPr lang="en-US" altLang="zh-CN" sz="1100" dirty="0">
                <a:latin typeface="微软雅黑" panose="020B0503020204020204" charset="-122"/>
                <a:ea typeface="微软雅黑" panose="020B0503020204020204" charset="-122"/>
              </a:endParaRPr>
            </a:p>
            <a:p>
              <a:pPr algn="ctr"/>
              <a:r>
                <a:rPr lang="zh-CN" altLang="en-US" sz="1100" dirty="0">
                  <a:latin typeface="微软雅黑" panose="020B0503020204020204" charset="-122"/>
                  <a:ea typeface="微软雅黑" panose="020B0503020204020204" charset="-122"/>
                </a:rPr>
                <a:t>实体</a:t>
              </a:r>
            </a:p>
          </p:txBody>
        </p:sp>
        <p:sp>
          <p:nvSpPr>
            <p:cNvPr id="75" name="椭圆 74"/>
            <p:cNvSpPr/>
            <p:nvPr/>
          </p:nvSpPr>
          <p:spPr>
            <a:xfrm>
              <a:off x="4719526" y="5920722"/>
              <a:ext cx="864627" cy="61759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物理</a:t>
              </a:r>
              <a:endParaRPr lang="en-US" altLang="zh-CN" sz="1100" dirty="0">
                <a:latin typeface="微软雅黑" panose="020B0503020204020204" charset="-122"/>
                <a:ea typeface="微软雅黑" panose="020B0503020204020204" charset="-122"/>
              </a:endParaRPr>
            </a:p>
            <a:p>
              <a:pPr algn="ctr"/>
              <a:r>
                <a:rPr lang="zh-CN" altLang="en-US" sz="1100" dirty="0">
                  <a:latin typeface="微软雅黑" panose="020B0503020204020204" charset="-122"/>
                  <a:ea typeface="微软雅黑" panose="020B0503020204020204" charset="-122"/>
                </a:rPr>
                <a:t>实体</a:t>
              </a:r>
            </a:p>
          </p:txBody>
        </p:sp>
        <p:cxnSp>
          <p:nvCxnSpPr>
            <p:cNvPr id="76" name="连接符: 肘形 49"/>
            <p:cNvCxnSpPr>
              <a:stCxn id="35" idx="6"/>
              <a:endCxn id="74" idx="2"/>
            </p:cNvCxnSpPr>
            <p:nvPr/>
          </p:nvCxnSpPr>
          <p:spPr>
            <a:xfrm flipV="1">
              <a:off x="4143375" y="5436870"/>
              <a:ext cx="575945" cy="343535"/>
            </a:xfrm>
            <a:prstGeom prst="bentConnector3">
              <a:avLst>
                <a:gd name="adj1" fmla="val 50055"/>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79" name="连接符: 肘形 52"/>
            <p:cNvCxnSpPr>
              <a:stCxn id="35" idx="6"/>
              <a:endCxn id="75" idx="2"/>
            </p:cNvCxnSpPr>
            <p:nvPr/>
          </p:nvCxnSpPr>
          <p:spPr>
            <a:xfrm>
              <a:off x="4143375" y="5780405"/>
              <a:ext cx="575945" cy="449580"/>
            </a:xfrm>
            <a:prstGeom prst="bentConnector3">
              <a:avLst>
                <a:gd name="adj1" fmla="val 50055"/>
              </a:avLst>
            </a:prstGeom>
            <a:ln w="28575">
              <a:tailEnd type="triangle"/>
            </a:ln>
          </p:spPr>
          <p:style>
            <a:lnRef idx="1">
              <a:schemeClr val="accent2"/>
            </a:lnRef>
            <a:fillRef idx="0">
              <a:schemeClr val="accent2"/>
            </a:fillRef>
            <a:effectRef idx="0">
              <a:schemeClr val="accent2"/>
            </a:effectRef>
            <a:fontRef idx="minor">
              <a:schemeClr val="tx1"/>
            </a:fontRef>
          </p:style>
        </p:cxnSp>
      </p:grpSp>
      <p:grpSp>
        <p:nvGrpSpPr>
          <p:cNvPr id="80" name="组合 79"/>
          <p:cNvGrpSpPr/>
          <p:nvPr/>
        </p:nvGrpSpPr>
        <p:grpSpPr>
          <a:xfrm>
            <a:off x="10704830" y="4700906"/>
            <a:ext cx="1291590" cy="984884"/>
            <a:chOff x="8802525" y="4451729"/>
            <a:chExt cx="1291312" cy="984653"/>
          </a:xfrm>
        </p:grpSpPr>
        <p:sp>
          <p:nvSpPr>
            <p:cNvPr id="81" name="矩形: 圆角 76"/>
            <p:cNvSpPr/>
            <p:nvPr/>
          </p:nvSpPr>
          <p:spPr>
            <a:xfrm>
              <a:off x="9105990" y="4451729"/>
              <a:ext cx="987847" cy="475630"/>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内容拆解</a:t>
              </a:r>
            </a:p>
          </p:txBody>
        </p:sp>
        <p:cxnSp>
          <p:nvCxnSpPr>
            <p:cNvPr id="83" name="连接符: 肘形 77"/>
            <p:cNvCxnSpPr>
              <a:stCxn id="94" idx="3"/>
              <a:endCxn id="81" idx="2"/>
            </p:cNvCxnSpPr>
            <p:nvPr/>
          </p:nvCxnSpPr>
          <p:spPr>
            <a:xfrm flipV="1">
              <a:off x="8802525" y="4927231"/>
              <a:ext cx="797388" cy="509151"/>
            </a:xfrm>
            <a:prstGeom prst="bentConnector2">
              <a:avLst/>
            </a:prstGeom>
            <a:ln w="28575">
              <a:tailEnd type="triangle"/>
            </a:ln>
          </p:spPr>
          <p:style>
            <a:lnRef idx="1">
              <a:schemeClr val="accent2"/>
            </a:lnRef>
            <a:fillRef idx="0">
              <a:schemeClr val="accent2"/>
            </a:fillRef>
            <a:effectRef idx="0">
              <a:schemeClr val="accent2"/>
            </a:effectRef>
            <a:fontRef idx="minor">
              <a:schemeClr val="tx1"/>
            </a:fontRef>
          </p:style>
        </p:cxnSp>
      </p:grpSp>
      <p:sp>
        <p:nvSpPr>
          <p:cNvPr id="85" name="矩形: 圆角 81"/>
          <p:cNvSpPr/>
          <p:nvPr/>
        </p:nvSpPr>
        <p:spPr>
          <a:xfrm>
            <a:off x="11008360" y="3900170"/>
            <a:ext cx="988060" cy="475615"/>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词语分解</a:t>
            </a:r>
          </a:p>
        </p:txBody>
      </p:sp>
      <p:cxnSp>
        <p:nvCxnSpPr>
          <p:cNvPr id="86" name="直接箭头连接符 85"/>
          <p:cNvCxnSpPr>
            <a:stCxn id="81" idx="0"/>
            <a:endCxn id="85" idx="2"/>
          </p:cNvCxnSpPr>
          <p:nvPr/>
        </p:nvCxnSpPr>
        <p:spPr>
          <a:xfrm flipV="1">
            <a:off x="11511280" y="4375785"/>
            <a:ext cx="0" cy="32512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87" name="椭圆 86"/>
          <p:cNvSpPr/>
          <p:nvPr/>
        </p:nvSpPr>
        <p:spPr>
          <a:xfrm>
            <a:off x="4833620" y="1638935"/>
            <a:ext cx="864870" cy="617855"/>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概念</a:t>
            </a:r>
          </a:p>
        </p:txBody>
      </p:sp>
      <p:sp>
        <p:nvSpPr>
          <p:cNvPr id="88" name="椭圆 87"/>
          <p:cNvSpPr/>
          <p:nvPr/>
        </p:nvSpPr>
        <p:spPr>
          <a:xfrm>
            <a:off x="5768975" y="1627505"/>
            <a:ext cx="864870" cy="617855"/>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关系</a:t>
            </a:r>
          </a:p>
        </p:txBody>
      </p:sp>
      <p:cxnSp>
        <p:nvCxnSpPr>
          <p:cNvPr id="89" name="连接符: 肘形 118"/>
          <p:cNvCxnSpPr>
            <a:stCxn id="34" idx="0"/>
            <a:endCxn id="87" idx="4"/>
          </p:cNvCxnSpPr>
          <p:nvPr/>
        </p:nvCxnSpPr>
        <p:spPr>
          <a:xfrm rot="16200000" flipV="1">
            <a:off x="5363210" y="2168525"/>
            <a:ext cx="292100" cy="468630"/>
          </a:xfrm>
          <a:prstGeom prst="bentConnector3">
            <a:avLst>
              <a:gd name="adj1" fmla="val 50000"/>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90" name="连接符: 肘形 121"/>
          <p:cNvCxnSpPr>
            <a:stCxn id="34" idx="0"/>
            <a:endCxn id="88" idx="4"/>
          </p:cNvCxnSpPr>
          <p:nvPr/>
        </p:nvCxnSpPr>
        <p:spPr>
          <a:xfrm rot="16200000">
            <a:off x="5825173" y="2163763"/>
            <a:ext cx="303530" cy="466725"/>
          </a:xfrm>
          <a:prstGeom prst="bentConnector3">
            <a:avLst>
              <a:gd name="adj1" fmla="val 50105"/>
            </a:avLst>
          </a:prstGeom>
          <a:ln w="28575">
            <a:tailEnd type="triangle"/>
          </a:ln>
        </p:spPr>
        <p:style>
          <a:lnRef idx="1">
            <a:schemeClr val="accent2"/>
          </a:lnRef>
          <a:fillRef idx="0">
            <a:schemeClr val="accent2"/>
          </a:fillRef>
          <a:effectRef idx="0">
            <a:schemeClr val="accent2"/>
          </a:effectRef>
          <a:fontRef idx="minor">
            <a:schemeClr val="tx1"/>
          </a:fontRef>
        </p:style>
      </p:cxnSp>
      <p:grpSp>
        <p:nvGrpSpPr>
          <p:cNvPr id="91" name="组合 90"/>
          <p:cNvGrpSpPr/>
          <p:nvPr/>
        </p:nvGrpSpPr>
        <p:grpSpPr>
          <a:xfrm>
            <a:off x="9240520" y="2575560"/>
            <a:ext cx="2270760" cy="1324610"/>
            <a:chOff x="6853757" y="2326491"/>
            <a:chExt cx="2756967" cy="1324759"/>
          </a:xfrm>
        </p:grpSpPr>
        <p:cxnSp>
          <p:nvCxnSpPr>
            <p:cNvPr id="92" name="连接符: 肘形 107"/>
            <p:cNvCxnSpPr>
              <a:stCxn id="85" idx="0"/>
              <a:endCxn id="42" idx="3"/>
            </p:cNvCxnSpPr>
            <p:nvPr/>
          </p:nvCxnSpPr>
          <p:spPr>
            <a:xfrm rot="16200000" flipV="1">
              <a:off x="7729264" y="1769790"/>
              <a:ext cx="1005953" cy="2756967"/>
            </a:xfrm>
            <a:prstGeom prst="bentConnector2">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93" name="文本框 92"/>
            <p:cNvSpPr txBox="1"/>
            <p:nvPr/>
          </p:nvSpPr>
          <p:spPr>
            <a:xfrm>
              <a:off x="7953922" y="2326491"/>
              <a:ext cx="1040801" cy="344844"/>
            </a:xfrm>
            <a:prstGeom prst="rect">
              <a:avLst/>
            </a:prstGeom>
            <a:noFill/>
          </p:spPr>
          <p:txBody>
            <a:bodyPr wrap="square" rtlCol="0">
              <a:spAutoFit/>
            </a:bodyPr>
            <a:lstStyle/>
            <a:p>
              <a:pPr algn="ctr">
                <a:lnSpc>
                  <a:spcPct val="150000"/>
                </a:lnSpc>
              </a:pPr>
              <a:r>
                <a:rPr lang="zh-CN" altLang="en-US" sz="1100" kern="100" dirty="0">
                  <a:latin typeface="微软雅黑" panose="020B0503020204020204" charset="-122"/>
                  <a:ea typeface="微软雅黑" panose="020B0503020204020204" charset="-122"/>
                  <a:cs typeface="Times New Roman" panose="02020603050405020304" pitchFamily="18" charset="0"/>
                </a:rPr>
                <a:t>相关相连</a:t>
              </a:r>
              <a:endParaRPr lang="zh-CN" altLang="en-US" sz="1100" kern="100" dirty="0">
                <a:effectLst/>
                <a:latin typeface="微软雅黑" panose="020B0503020204020204" charset="-122"/>
                <a:ea typeface="微软雅黑" panose="020B0503020204020204" charset="-122"/>
                <a:cs typeface="Times New Roman" panose="02020603050405020304" pitchFamily="18" charset="0"/>
              </a:endParaRPr>
            </a:p>
          </p:txBody>
        </p:sp>
      </p:grpSp>
      <p:sp>
        <p:nvSpPr>
          <p:cNvPr id="94" name="矩形: 圆角 55"/>
          <p:cNvSpPr/>
          <p:nvPr/>
        </p:nvSpPr>
        <p:spPr>
          <a:xfrm>
            <a:off x="9486265" y="5447665"/>
            <a:ext cx="1218565" cy="475615"/>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信息资源库</a:t>
            </a:r>
          </a:p>
        </p:txBody>
      </p:sp>
      <p:cxnSp>
        <p:nvCxnSpPr>
          <p:cNvPr id="95" name="直接箭头连接符 94"/>
          <p:cNvCxnSpPr/>
          <p:nvPr/>
        </p:nvCxnSpPr>
        <p:spPr>
          <a:xfrm>
            <a:off x="7486650" y="5633085"/>
            <a:ext cx="1999615"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96" name="椭圆 58"/>
          <p:cNvSpPr/>
          <p:nvPr/>
        </p:nvSpPr>
        <p:spPr>
          <a:xfrm>
            <a:off x="7832725" y="5447665"/>
            <a:ext cx="1189990" cy="475615"/>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形式化收集</a:t>
            </a:r>
          </a:p>
        </p:txBody>
      </p:sp>
      <p:sp>
        <p:nvSpPr>
          <p:cNvPr id="97" name="矩形: 圆角 67"/>
          <p:cNvSpPr/>
          <p:nvPr/>
        </p:nvSpPr>
        <p:spPr>
          <a:xfrm>
            <a:off x="11008360" y="3235960"/>
            <a:ext cx="988060" cy="424180"/>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1100" dirty="0">
                <a:latin typeface="微软雅黑" panose="020B0503020204020204" charset="-122"/>
                <a:ea typeface="微软雅黑" panose="020B0503020204020204" charset="-122"/>
              </a:rPr>
              <a:t>知识萃取</a:t>
            </a:r>
          </a:p>
        </p:txBody>
      </p:sp>
      <p:grpSp>
        <p:nvGrpSpPr>
          <p:cNvPr id="101" name="组合 100"/>
          <p:cNvGrpSpPr/>
          <p:nvPr/>
        </p:nvGrpSpPr>
        <p:grpSpPr>
          <a:xfrm>
            <a:off x="8296025" y="1604732"/>
            <a:ext cx="1757931" cy="1064656"/>
            <a:chOff x="5700145" y="1489162"/>
            <a:chExt cx="1757931" cy="1064656"/>
          </a:xfrm>
        </p:grpSpPr>
        <p:sp>
          <p:nvSpPr>
            <p:cNvPr id="102" name="椭圆 101"/>
            <p:cNvSpPr/>
            <p:nvPr/>
          </p:nvSpPr>
          <p:spPr>
            <a:xfrm>
              <a:off x="6324106" y="1489162"/>
              <a:ext cx="619645" cy="46213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rPr>
                <a:t>通用</a:t>
              </a:r>
              <a:endParaRPr lang="en-US" altLang="zh-CN" sz="1000" dirty="0">
                <a:latin typeface="微软雅黑" panose="020B0503020204020204" charset="-122"/>
                <a:ea typeface="微软雅黑" panose="020B0503020204020204" charset="-122"/>
              </a:endParaRPr>
            </a:p>
            <a:p>
              <a:pPr algn="ctr"/>
              <a:r>
                <a:rPr lang="zh-CN" altLang="en-US" sz="1000" dirty="0">
                  <a:latin typeface="微软雅黑" panose="020B0503020204020204" charset="-122"/>
                  <a:ea typeface="微软雅黑" panose="020B0503020204020204" charset="-122"/>
                </a:rPr>
                <a:t>本体</a:t>
              </a:r>
            </a:p>
          </p:txBody>
        </p:sp>
        <p:sp>
          <p:nvSpPr>
            <p:cNvPr id="103" name="椭圆 102"/>
            <p:cNvSpPr/>
            <p:nvPr/>
          </p:nvSpPr>
          <p:spPr>
            <a:xfrm>
              <a:off x="6838431" y="1938303"/>
              <a:ext cx="619645" cy="462134"/>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rPr>
                <a:t>领域本体</a:t>
              </a:r>
            </a:p>
          </p:txBody>
        </p:sp>
        <p:cxnSp>
          <p:nvCxnSpPr>
            <p:cNvPr id="104" name="直接箭头连接符 103"/>
            <p:cNvCxnSpPr>
              <a:endCxn id="102" idx="3"/>
            </p:cNvCxnSpPr>
            <p:nvPr/>
          </p:nvCxnSpPr>
          <p:spPr>
            <a:xfrm flipV="1">
              <a:off x="5700145" y="1883618"/>
              <a:ext cx="714706" cy="664383"/>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a:endCxn id="103" idx="2"/>
            </p:cNvCxnSpPr>
            <p:nvPr/>
          </p:nvCxnSpPr>
          <p:spPr>
            <a:xfrm flipV="1">
              <a:off x="5700145" y="2169370"/>
              <a:ext cx="1138286" cy="38444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pic>
        <p:nvPicPr>
          <p:cNvPr id="107" name="图片 106"/>
          <p:cNvPicPr>
            <a:picLocks noChangeAspect="1"/>
          </p:cNvPicPr>
          <p:nvPr/>
        </p:nvPicPr>
        <p:blipFill>
          <a:blip r:embed="rId4"/>
          <a:stretch>
            <a:fillRect/>
          </a:stretch>
        </p:blipFill>
        <p:spPr>
          <a:xfrm>
            <a:off x="3739515" y="3723640"/>
            <a:ext cx="2150745" cy="1226820"/>
          </a:xfrm>
          <a:prstGeom prst="rect">
            <a:avLst/>
          </a:prstGeom>
        </p:spPr>
      </p:pic>
      <p:cxnSp>
        <p:nvCxnSpPr>
          <p:cNvPr id="109" name="肘形连接符 108"/>
          <p:cNvCxnSpPr>
            <a:stCxn id="107" idx="0"/>
            <a:endCxn id="34" idx="2"/>
          </p:cNvCxnSpPr>
          <p:nvPr/>
        </p:nvCxnSpPr>
        <p:spPr>
          <a:xfrm rot="16200000">
            <a:off x="4634865" y="3047365"/>
            <a:ext cx="865505" cy="487045"/>
          </a:xfrm>
          <a:prstGeom prst="bentConnector2">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110" name="肘形连接符 109"/>
          <p:cNvCxnSpPr>
            <a:stCxn id="107" idx="2"/>
            <a:endCxn id="35" idx="2"/>
          </p:cNvCxnSpPr>
          <p:nvPr/>
        </p:nvCxnSpPr>
        <p:spPr>
          <a:xfrm rot="5400000" flipV="1">
            <a:off x="4463098" y="5311458"/>
            <a:ext cx="1078865" cy="356870"/>
          </a:xfrm>
          <a:prstGeom prst="bentConnector2">
            <a:avLst/>
          </a:prstGeom>
          <a:ln w="28575">
            <a:tailEnd type="arrow" w="med" len="med"/>
          </a:ln>
        </p:spPr>
        <p:style>
          <a:lnRef idx="1">
            <a:schemeClr val="accent2"/>
          </a:lnRef>
          <a:fillRef idx="0">
            <a:schemeClr val="accent2"/>
          </a:fillRef>
          <a:effectRef idx="0">
            <a:schemeClr val="accent2"/>
          </a:effectRef>
          <a:fontRef idx="minor">
            <a:schemeClr val="tx1"/>
          </a:fontRef>
        </p:style>
      </p:cxnSp>
      <p:sp>
        <p:nvSpPr>
          <p:cNvPr id="111" name="文本框 110"/>
          <p:cNvSpPr txBox="1"/>
          <p:nvPr/>
        </p:nvSpPr>
        <p:spPr>
          <a:xfrm>
            <a:off x="4447540" y="2961640"/>
            <a:ext cx="367030" cy="716280"/>
          </a:xfrm>
          <a:prstGeom prst="rect">
            <a:avLst/>
          </a:prstGeom>
          <a:noFill/>
        </p:spPr>
        <p:txBody>
          <a:bodyPr vert="eaVert" wrap="square" rtlCol="0">
            <a:spAutoFit/>
          </a:bodyPr>
          <a:lstStyle/>
          <a:p>
            <a:r>
              <a:rPr lang="zh-CN" altLang="en-US" sz="1200">
                <a:latin typeface="微软雅黑" panose="020B0503020204020204" charset="-122"/>
                <a:ea typeface="微软雅黑" panose="020B0503020204020204" charset="-122"/>
              </a:rPr>
              <a:t>范式元素</a:t>
            </a:r>
          </a:p>
        </p:txBody>
      </p:sp>
      <p:sp>
        <p:nvSpPr>
          <p:cNvPr id="115" name="文本框 114"/>
          <p:cNvSpPr txBox="1"/>
          <p:nvPr/>
        </p:nvSpPr>
        <p:spPr>
          <a:xfrm>
            <a:off x="4805680" y="2961640"/>
            <a:ext cx="367030" cy="716280"/>
          </a:xfrm>
          <a:prstGeom prst="rect">
            <a:avLst/>
          </a:prstGeom>
          <a:noFill/>
        </p:spPr>
        <p:txBody>
          <a:bodyPr vert="eaVert" wrap="square" rtlCol="0">
            <a:spAutoFit/>
          </a:bodyPr>
          <a:lstStyle/>
          <a:p>
            <a:r>
              <a:rPr lang="zh-CN" altLang="en-US" sz="1200">
                <a:latin typeface="微软雅黑" panose="020B0503020204020204" charset="-122"/>
                <a:ea typeface="微软雅黑" panose="020B0503020204020204" charset="-122"/>
              </a:rPr>
              <a:t>分类分级</a:t>
            </a:r>
          </a:p>
        </p:txBody>
      </p:sp>
      <p:cxnSp>
        <p:nvCxnSpPr>
          <p:cNvPr id="116" name="直接箭头连接符 115"/>
          <p:cNvCxnSpPr>
            <a:stCxn id="34" idx="5"/>
            <a:endCxn id="94" idx="0"/>
          </p:cNvCxnSpPr>
          <p:nvPr/>
        </p:nvCxnSpPr>
        <p:spPr>
          <a:xfrm>
            <a:off x="6049645" y="3076575"/>
            <a:ext cx="4055110" cy="2371090"/>
          </a:xfrm>
          <a:prstGeom prst="straightConnector1">
            <a:avLst/>
          </a:prstGeom>
          <a:ln w="28575">
            <a:tailEnd type="arrow" w="med" len="med"/>
          </a:ln>
        </p:spPr>
        <p:style>
          <a:lnRef idx="1">
            <a:schemeClr val="accent2"/>
          </a:lnRef>
          <a:fillRef idx="0">
            <a:schemeClr val="accent2"/>
          </a:fillRef>
          <a:effectRef idx="0">
            <a:schemeClr val="accent2"/>
          </a:effectRef>
          <a:fontRef idx="minor">
            <a:schemeClr val="tx1"/>
          </a:fontRef>
        </p:style>
      </p:cxnSp>
      <p:sp>
        <p:nvSpPr>
          <p:cNvPr id="120" name="文本框 119"/>
          <p:cNvSpPr txBox="1"/>
          <p:nvPr/>
        </p:nvSpPr>
        <p:spPr>
          <a:xfrm rot="1680000">
            <a:off x="7075170" y="4051300"/>
            <a:ext cx="930910" cy="275590"/>
          </a:xfrm>
          <a:prstGeom prst="rect">
            <a:avLst/>
          </a:prstGeom>
          <a:noFill/>
        </p:spPr>
        <p:txBody>
          <a:bodyPr wrap="square" rtlCol="0">
            <a:spAutoFit/>
          </a:bodyPr>
          <a:lstStyle/>
          <a:p>
            <a:r>
              <a:rPr lang="zh-CN" altLang="en-US" sz="1200">
                <a:latin typeface="微软雅黑" panose="020B0503020204020204" charset="-122"/>
                <a:ea typeface="微软雅黑" panose="020B0503020204020204" charset="-122"/>
              </a:rPr>
              <a:t>人工标引</a:t>
            </a:r>
          </a:p>
        </p:txBody>
      </p:sp>
      <p:sp>
        <p:nvSpPr>
          <p:cNvPr id="121" name="文本框 120"/>
          <p:cNvSpPr txBox="1"/>
          <p:nvPr/>
        </p:nvSpPr>
        <p:spPr>
          <a:xfrm rot="1680000">
            <a:off x="8081645" y="4223385"/>
            <a:ext cx="930910" cy="275590"/>
          </a:xfrm>
          <a:prstGeom prst="rect">
            <a:avLst/>
          </a:prstGeom>
          <a:noFill/>
        </p:spPr>
        <p:txBody>
          <a:bodyPr wrap="square" rtlCol="0">
            <a:spAutoFit/>
          </a:bodyPr>
          <a:lstStyle/>
          <a:p>
            <a:r>
              <a:rPr lang="zh-CN" altLang="en-US" sz="1200">
                <a:latin typeface="微软雅黑" panose="020B0503020204020204" charset="-122"/>
                <a:ea typeface="微软雅黑" panose="020B0503020204020204" charset="-122"/>
              </a:rPr>
              <a:t>机器标引</a:t>
            </a:r>
          </a:p>
        </p:txBody>
      </p:sp>
      <p:sp>
        <p:nvSpPr>
          <p:cNvPr id="125" name="椭圆 124"/>
          <p:cNvSpPr/>
          <p:nvPr/>
        </p:nvSpPr>
        <p:spPr>
          <a:xfrm>
            <a:off x="10245090" y="3925570"/>
            <a:ext cx="660400" cy="424180"/>
          </a:xfrm>
          <a:prstGeom prst="ellipse">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指标</a:t>
            </a:r>
          </a:p>
        </p:txBody>
      </p:sp>
      <p:sp>
        <p:nvSpPr>
          <p:cNvPr id="126" name="椭圆 125"/>
          <p:cNvSpPr/>
          <p:nvPr/>
        </p:nvSpPr>
        <p:spPr>
          <a:xfrm>
            <a:off x="9306560" y="3384550"/>
            <a:ext cx="660400" cy="424180"/>
          </a:xfrm>
          <a:prstGeom prst="ellipse">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问题</a:t>
            </a:r>
          </a:p>
        </p:txBody>
      </p:sp>
      <p:sp>
        <p:nvSpPr>
          <p:cNvPr id="127" name="椭圆 126"/>
          <p:cNvSpPr/>
          <p:nvPr/>
        </p:nvSpPr>
        <p:spPr>
          <a:xfrm>
            <a:off x="9539605" y="3882390"/>
            <a:ext cx="660400" cy="424180"/>
          </a:xfrm>
          <a:prstGeom prst="ellipse">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目标</a:t>
            </a:r>
          </a:p>
        </p:txBody>
      </p:sp>
      <p:sp>
        <p:nvSpPr>
          <p:cNvPr id="128" name="椭圆 127"/>
          <p:cNvSpPr/>
          <p:nvPr/>
        </p:nvSpPr>
        <p:spPr>
          <a:xfrm>
            <a:off x="9596755" y="2961640"/>
            <a:ext cx="838200" cy="424180"/>
          </a:xfrm>
          <a:prstGeom prst="ellipse">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两系统五要素</a:t>
            </a:r>
          </a:p>
        </p:txBody>
      </p:sp>
      <p:cxnSp>
        <p:nvCxnSpPr>
          <p:cNvPr id="129" name="直接连接符 128"/>
          <p:cNvCxnSpPr>
            <a:stCxn id="97" idx="1"/>
            <a:endCxn id="128" idx="5"/>
          </p:cNvCxnSpPr>
          <p:nvPr/>
        </p:nvCxnSpPr>
        <p:spPr>
          <a:xfrm flipH="1" flipV="1">
            <a:off x="10312400" y="3323590"/>
            <a:ext cx="695960" cy="12446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0" name="直接连接符 129"/>
          <p:cNvCxnSpPr>
            <a:stCxn id="97" idx="1"/>
            <a:endCxn id="126" idx="6"/>
          </p:cNvCxnSpPr>
          <p:nvPr/>
        </p:nvCxnSpPr>
        <p:spPr>
          <a:xfrm flipH="1">
            <a:off x="9966960" y="3448050"/>
            <a:ext cx="1041400" cy="14859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1" name="直接连接符 130"/>
          <p:cNvCxnSpPr>
            <a:stCxn id="97" idx="1"/>
            <a:endCxn id="127" idx="7"/>
          </p:cNvCxnSpPr>
          <p:nvPr/>
        </p:nvCxnSpPr>
        <p:spPr>
          <a:xfrm flipH="1">
            <a:off x="10103485" y="3448050"/>
            <a:ext cx="904875" cy="49657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2" name="直接连接符 131"/>
          <p:cNvCxnSpPr>
            <a:stCxn id="97" idx="1"/>
            <a:endCxn id="125" idx="0"/>
          </p:cNvCxnSpPr>
          <p:nvPr/>
        </p:nvCxnSpPr>
        <p:spPr>
          <a:xfrm flipH="1">
            <a:off x="10575290" y="3448050"/>
            <a:ext cx="433070" cy="477520"/>
          </a:xfrm>
          <a:prstGeom prst="line">
            <a:avLst/>
          </a:prstGeom>
        </p:spPr>
        <p:style>
          <a:lnRef idx="1">
            <a:schemeClr val="accent2"/>
          </a:lnRef>
          <a:fillRef idx="0">
            <a:schemeClr val="accent2"/>
          </a:fillRef>
          <a:effectRef idx="0">
            <a:schemeClr val="accent2"/>
          </a:effectRef>
          <a:fontRef idx="minor">
            <a:schemeClr val="tx1"/>
          </a:fontRef>
        </p:style>
      </p:cxnSp>
      <p:sp>
        <p:nvSpPr>
          <p:cNvPr id="137" name="文本框 136"/>
          <p:cNvSpPr txBox="1"/>
          <p:nvPr/>
        </p:nvSpPr>
        <p:spPr>
          <a:xfrm>
            <a:off x="118428" y="4826175"/>
            <a:ext cx="2438837" cy="2030095"/>
          </a:xfrm>
          <a:prstGeom prst="rect">
            <a:avLst/>
          </a:prstGeom>
          <a:noFill/>
        </p:spPr>
        <p:txBody>
          <a:bodyPr wrap="square">
            <a:spAutoFit/>
          </a:bodyPr>
          <a:lstStyle/>
          <a:p>
            <a:pPr>
              <a:lnSpc>
                <a:spcPct val="150000"/>
              </a:lnSpc>
            </a:pPr>
            <a:r>
              <a:rPr lang="zh-CN" altLang="en-US" sz="1400" b="1" kern="100" dirty="0">
                <a:solidFill>
                  <a:schemeClr val="accent2"/>
                </a:solidFill>
                <a:latin typeface="微软雅黑" panose="020B0503020204020204" charset="-122"/>
                <a:ea typeface="微软雅黑" panose="020B0503020204020204" charset="-122"/>
                <a:cs typeface="Times New Roman" panose="02020603050405020304" pitchFamily="18" charset="0"/>
              </a:rPr>
              <a:t>      知识本体包括概念、关系、标签、规则、模型等，在信息系统中发挥引导、制约的作用，在与软件的共同作用下，完成任务的过程制导、结果精准、效率倍增。</a:t>
            </a:r>
          </a:p>
        </p:txBody>
      </p:sp>
      <p:sp>
        <p:nvSpPr>
          <p:cNvPr id="139" name="文本框 138"/>
          <p:cNvSpPr txBox="1"/>
          <p:nvPr/>
        </p:nvSpPr>
        <p:spPr>
          <a:xfrm>
            <a:off x="119063" y="1407883"/>
            <a:ext cx="2438400" cy="3322955"/>
          </a:xfrm>
          <a:prstGeom prst="rect">
            <a:avLst/>
          </a:prstGeom>
          <a:noFill/>
        </p:spPr>
        <p:txBody>
          <a:bodyPr wrap="square" rtlCol="0">
            <a:spAutoFit/>
          </a:bodyPr>
          <a:lstStyle/>
          <a:p>
            <a:pPr>
              <a:lnSpc>
                <a:spcPct val="150000"/>
              </a:lnSpc>
            </a:pPr>
            <a:r>
              <a:rPr lang="zh-CN" altLang="en-US" sz="1400" kern="100" dirty="0">
                <a:effectLst/>
                <a:latin typeface="微软雅黑" panose="020B0503020204020204" charset="-122"/>
                <a:ea typeface="微软雅黑" panose="020B0503020204020204" charset="-122"/>
                <a:cs typeface="Times New Roman" panose="02020603050405020304" pitchFamily="18" charset="0"/>
              </a:rPr>
              <a:t>      信息在客观上证明客观世界的存在。预置信息构件是任务范式内要完成角色行为数字化的关于实体世界的信息，既包括事实信息和知识信息，又包括两系统五要素等信息。信息构件为领域知识工程产品功能运行提供信息，是构成领域知识工程产品的重要部分之一。</a:t>
            </a:r>
          </a:p>
        </p:txBody>
      </p:sp>
      <p:cxnSp>
        <p:nvCxnSpPr>
          <p:cNvPr id="140" name="直接连接符 139"/>
          <p:cNvCxnSpPr/>
          <p:nvPr/>
        </p:nvCxnSpPr>
        <p:spPr>
          <a:xfrm flipH="1">
            <a:off x="119064" y="4778550"/>
            <a:ext cx="2438836" cy="0"/>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left)">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wipe(left)">
                                      <p:cBhvr>
                                        <p:cTn id="17" dur="500"/>
                                        <p:tgtEl>
                                          <p:spTgt spid="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91"/>
                                        </p:tgtEl>
                                        <p:attrNameLst>
                                          <p:attrName>style.visibility</p:attrName>
                                        </p:attrNameLst>
                                      </p:cBhvr>
                                      <p:to>
                                        <p:strVal val="visible"/>
                                      </p:to>
                                    </p:set>
                                    <p:animEffect transition="in" filter="wipe(right)">
                                      <p:cBhvr>
                                        <p:cTn id="22" dur="500"/>
                                        <p:tgtEl>
                                          <p:spTgt spid="9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7"/>
                                        </p:tgtEl>
                                        <p:attrNameLst>
                                          <p:attrName>style.visibility</p:attrName>
                                        </p:attrNameLst>
                                      </p:cBhvr>
                                      <p:to>
                                        <p:strVal val="visible"/>
                                      </p:to>
                                    </p:set>
                                    <p:animEffect transition="in" filter="fade">
                                      <p:cBhvr>
                                        <p:cTn id="25" dur="500"/>
                                        <p:tgtEl>
                                          <p:spTgt spid="9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01"/>
                                        </p:tgtEl>
                                        <p:attrNameLst>
                                          <p:attrName>style.visibility</p:attrName>
                                        </p:attrNameLst>
                                      </p:cBhvr>
                                      <p:to>
                                        <p:strVal val="visible"/>
                                      </p:to>
                                    </p:set>
                                    <p:animEffect transition="in" filter="wipe(left)">
                                      <p:cBhvr>
                                        <p:cTn id="30" dur="500"/>
                                        <p:tgtEl>
                                          <p:spTgt spid="10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9"/>
                                        </p:tgtEl>
                                        <p:attrNameLst>
                                          <p:attrName>style.visibility</p:attrName>
                                        </p:attrNameLst>
                                      </p:cBhvr>
                                      <p:to>
                                        <p:strVal val="visible"/>
                                      </p:to>
                                    </p:set>
                                    <p:animEffect transition="in" filter="fade">
                                      <p:cBhvr>
                                        <p:cTn id="35" dur="500"/>
                                        <p:tgtEl>
                                          <p:spTgt spid="13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7"/>
                                        </p:tgtEl>
                                        <p:attrNameLst>
                                          <p:attrName>style.visibility</p:attrName>
                                        </p:attrNameLst>
                                      </p:cBhvr>
                                      <p:to>
                                        <p:strVal val="visible"/>
                                      </p:to>
                                    </p:set>
                                    <p:animEffect transition="in" filter="fade">
                                      <p:cBhvr>
                                        <p:cTn id="40" dur="5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97" grpId="0" bldLvl="0" animBg="1"/>
      <p:bldP spid="137" grpId="0"/>
      <p:bldP spid="13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5450" y="170111"/>
            <a:ext cx="4971768" cy="478155"/>
          </a:xfrm>
        </p:spPr>
        <p:txBody>
          <a:bodyPr/>
          <a:lstStyle/>
          <a:p>
            <a:r>
              <a:rPr lang="zh-CN" altLang="en-US" dirty="0"/>
              <a:t>工程实践内容</a:t>
            </a:r>
          </a:p>
        </p:txBody>
      </p:sp>
      <p:cxnSp>
        <p:nvCxnSpPr>
          <p:cNvPr id="20" name="直接连接符 19"/>
          <p:cNvCxnSpPr/>
          <p:nvPr/>
        </p:nvCxnSpPr>
        <p:spPr>
          <a:xfrm>
            <a:off x="2557900" y="1399141"/>
            <a:ext cx="0" cy="5090559"/>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119380" y="781685"/>
            <a:ext cx="11772900" cy="617220"/>
            <a:chOff x="188" y="1231"/>
            <a:chExt cx="18540" cy="972"/>
          </a:xfrm>
        </p:grpSpPr>
        <p:sp>
          <p:nvSpPr>
            <p:cNvPr id="4" name="矩形: 圆角 87"/>
            <p:cNvSpPr/>
            <p:nvPr/>
          </p:nvSpPr>
          <p:spPr>
            <a:xfrm>
              <a:off x="4969" y="1440"/>
              <a:ext cx="3531"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信息资源</a:t>
              </a:r>
            </a:p>
          </p:txBody>
        </p:sp>
        <p:sp>
          <p:nvSpPr>
            <p:cNvPr id="5" name="矩形: 圆角 88"/>
            <p:cNvSpPr/>
            <p:nvPr/>
          </p:nvSpPr>
          <p:spPr>
            <a:xfrm>
              <a:off x="9507" y="1440"/>
              <a:ext cx="3246" cy="6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知识本体</a:t>
              </a:r>
            </a:p>
          </p:txBody>
        </p:sp>
        <p:sp>
          <p:nvSpPr>
            <p:cNvPr id="6" name="矩形: 圆角 90"/>
            <p:cNvSpPr/>
            <p:nvPr/>
          </p:nvSpPr>
          <p:spPr>
            <a:xfrm>
              <a:off x="14534" y="1446"/>
              <a:ext cx="3346"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智慧化能力</a:t>
              </a:r>
            </a:p>
          </p:txBody>
        </p:sp>
        <p:sp>
          <p:nvSpPr>
            <p:cNvPr id="7" name="矩形: 圆角 84"/>
            <p:cNvSpPr/>
            <p:nvPr/>
          </p:nvSpPr>
          <p:spPr>
            <a:xfrm>
              <a:off x="188" y="1231"/>
              <a:ext cx="18540" cy="973"/>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charset="-122"/>
                <a:ea typeface="微软雅黑" panose="020B0503020204020204" charset="-122"/>
              </a:endParaRPr>
            </a:p>
          </p:txBody>
        </p:sp>
        <p:sp>
          <p:nvSpPr>
            <p:cNvPr id="8" name="矩形: 圆角 92"/>
            <p:cNvSpPr/>
            <p:nvPr/>
          </p:nvSpPr>
          <p:spPr>
            <a:xfrm>
              <a:off x="904" y="1437"/>
              <a:ext cx="3082"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领域分类</a:t>
              </a:r>
            </a:p>
          </p:txBody>
        </p:sp>
        <p:sp>
          <p:nvSpPr>
            <p:cNvPr id="112" name="箭头: 右 111"/>
            <p:cNvSpPr/>
            <p:nvPr/>
          </p:nvSpPr>
          <p:spPr>
            <a:xfrm>
              <a:off x="4197" y="1575"/>
              <a:ext cx="505" cy="39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十字形 112"/>
            <p:cNvSpPr/>
            <p:nvPr/>
          </p:nvSpPr>
          <p:spPr>
            <a:xfrm>
              <a:off x="8780" y="1575"/>
              <a:ext cx="462" cy="390"/>
            </a:xfrm>
            <a:prstGeom prst="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箭头: 右 113"/>
            <p:cNvSpPr/>
            <p:nvPr/>
          </p:nvSpPr>
          <p:spPr>
            <a:xfrm>
              <a:off x="13321" y="1534"/>
              <a:ext cx="624" cy="454"/>
            </a:xfrm>
            <a:prstGeom prst="notch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圆角矩形 9"/>
          <p:cNvSpPr/>
          <p:nvPr/>
        </p:nvSpPr>
        <p:spPr>
          <a:xfrm>
            <a:off x="2756535" y="1800225"/>
            <a:ext cx="604520" cy="1346200"/>
          </a:xfrm>
          <a:prstGeom prst="roundRect">
            <a:avLst/>
          </a:prstGeom>
          <a:solidFill>
            <a:schemeClr val="tx2">
              <a:lumMod val="20000"/>
              <a:lumOff val="8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a:t>本体构建</a:t>
            </a:r>
          </a:p>
        </p:txBody>
      </p:sp>
      <p:sp>
        <p:nvSpPr>
          <p:cNvPr id="11" name="圆角矩形 10"/>
          <p:cNvSpPr/>
          <p:nvPr/>
        </p:nvSpPr>
        <p:spPr>
          <a:xfrm>
            <a:off x="2756535" y="3384550"/>
            <a:ext cx="604520" cy="1346200"/>
          </a:xfrm>
          <a:prstGeom prst="roundRect">
            <a:avLst/>
          </a:prstGeom>
          <a:solidFill>
            <a:schemeClr val="accent2">
              <a:lumMod val="60000"/>
              <a:lumOff val="4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知识地图</a:t>
            </a:r>
          </a:p>
        </p:txBody>
      </p:sp>
      <p:sp>
        <p:nvSpPr>
          <p:cNvPr id="12" name="圆角矩形 11"/>
          <p:cNvSpPr/>
          <p:nvPr/>
        </p:nvSpPr>
        <p:spPr>
          <a:xfrm>
            <a:off x="2756535" y="4968875"/>
            <a:ext cx="604520" cy="1346200"/>
          </a:xfrm>
          <a:prstGeom prst="roundRect">
            <a:avLst/>
          </a:prstGeom>
          <a:solidFill>
            <a:schemeClr val="tx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分类标引</a:t>
            </a:r>
          </a:p>
        </p:txBody>
      </p:sp>
      <p:sp>
        <p:nvSpPr>
          <p:cNvPr id="15" name="文本框 14"/>
          <p:cNvSpPr txBox="1"/>
          <p:nvPr/>
        </p:nvSpPr>
        <p:spPr>
          <a:xfrm>
            <a:off x="91758" y="4562650"/>
            <a:ext cx="2438837" cy="2030095"/>
          </a:xfrm>
          <a:prstGeom prst="rect">
            <a:avLst/>
          </a:prstGeom>
          <a:noFill/>
        </p:spPr>
        <p:txBody>
          <a:bodyPr wrap="square">
            <a:spAutoFit/>
          </a:bodyPr>
          <a:lstStyle/>
          <a:p>
            <a:pPr>
              <a:lnSpc>
                <a:spcPct val="150000"/>
              </a:lnSpc>
            </a:pPr>
            <a:r>
              <a:rPr lang="zh-CN" altLang="en-US" sz="1400" b="1" kern="100" dirty="0">
                <a:solidFill>
                  <a:schemeClr val="accent2"/>
                </a:solidFill>
                <a:latin typeface="微软雅黑" panose="020B0503020204020204" charset="-122"/>
                <a:ea typeface="微软雅黑" panose="020B0503020204020204" charset="-122"/>
                <a:cs typeface="Times New Roman" panose="02020603050405020304" pitchFamily="18" charset="0"/>
              </a:rPr>
              <a:t>      </a:t>
            </a:r>
            <a:r>
              <a:rPr lang="zh-CN" altLang="en-US" sz="1400" b="1" kern="100" dirty="0">
                <a:solidFill>
                  <a:schemeClr val="accent2"/>
                </a:solidFill>
                <a:latin typeface="微软雅黑" panose="020B0503020204020204" charset="-122"/>
                <a:ea typeface="微软雅黑" panose="020B0503020204020204" charset="-122"/>
                <a:cs typeface="Times New Roman" panose="02020603050405020304" pitchFamily="18" charset="0"/>
                <a:sym typeface="+mn-ea"/>
              </a:rPr>
              <a:t> 知识本体包括概念、关系、标签、规则、模型等，在信息系统中发挥引导、制约的作用，在与软件的共同作用下，完成任务的过程制导、结果精准、效率倍增。</a:t>
            </a:r>
            <a:endParaRPr lang="zh-CN" altLang="en-US" sz="1400" b="1" kern="100" dirty="0">
              <a:solidFill>
                <a:schemeClr val="accent2"/>
              </a:solidFill>
              <a:latin typeface="微软雅黑" panose="020B0503020204020204" charset="-122"/>
              <a:ea typeface="微软雅黑" panose="020B0503020204020204" charset="-122"/>
              <a:cs typeface="Times New Roman" panose="02020603050405020304" pitchFamily="18" charset="0"/>
            </a:endParaRPr>
          </a:p>
        </p:txBody>
      </p:sp>
      <p:sp>
        <p:nvSpPr>
          <p:cNvPr id="16" name="文本框 15"/>
          <p:cNvSpPr txBox="1"/>
          <p:nvPr/>
        </p:nvSpPr>
        <p:spPr>
          <a:xfrm>
            <a:off x="119063" y="1407883"/>
            <a:ext cx="2438400" cy="2999740"/>
          </a:xfrm>
          <a:prstGeom prst="rect">
            <a:avLst/>
          </a:prstGeom>
          <a:noFill/>
        </p:spPr>
        <p:txBody>
          <a:bodyPr wrap="square" rtlCol="0">
            <a:spAutoFit/>
          </a:bodyPr>
          <a:lstStyle/>
          <a:p>
            <a:pPr>
              <a:lnSpc>
                <a:spcPct val="150000"/>
              </a:lnSpc>
            </a:pPr>
            <a:r>
              <a:rPr lang="zh-CN" altLang="en-US" sz="1400" kern="100" dirty="0">
                <a:effectLst/>
                <a:latin typeface="微软雅黑" panose="020B0503020204020204" charset="-122"/>
                <a:ea typeface="微软雅黑" panose="020B0503020204020204" charset="-122"/>
                <a:cs typeface="Times New Roman" panose="02020603050405020304" pitchFamily="18" charset="0"/>
              </a:rPr>
              <a:t>      </a:t>
            </a:r>
            <a:r>
              <a:rPr lang="zh-CN" altLang="en-US" sz="1400" kern="100" dirty="0">
                <a:effectLst/>
                <a:latin typeface="微软雅黑" panose="020B0503020204020204" charset="-122"/>
                <a:ea typeface="微软雅黑" panose="020B0503020204020204" charset="-122"/>
                <a:cs typeface="Times New Roman" panose="02020603050405020304" pitchFamily="18" charset="0"/>
                <a:sym typeface="+mn-ea"/>
              </a:rPr>
              <a:t>在任务范式顶层概念构建好的前提下，通过构建本体，从“线”上进行分级分类，从顶层“类”的概念逐步走向实例，完成顶层抽象的、一般的概念到现实具象的、个别的工程化应用的转换，实现范式向工程实践的演化、过渡。</a:t>
            </a:r>
            <a:endParaRPr lang="zh-CN" altLang="en-US" sz="1400" kern="100" dirty="0">
              <a:effectLst/>
              <a:latin typeface="微软雅黑" panose="020B0503020204020204" charset="-122"/>
              <a:ea typeface="微软雅黑" panose="020B0503020204020204" charset="-122"/>
              <a:cs typeface="Times New Roman" panose="02020603050405020304" pitchFamily="18" charset="0"/>
            </a:endParaRPr>
          </a:p>
        </p:txBody>
      </p:sp>
      <p:cxnSp>
        <p:nvCxnSpPr>
          <p:cNvPr id="17" name="直接连接符 16"/>
          <p:cNvCxnSpPr/>
          <p:nvPr/>
        </p:nvCxnSpPr>
        <p:spPr>
          <a:xfrm flipH="1">
            <a:off x="119064" y="4485180"/>
            <a:ext cx="2438836" cy="0"/>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3818890" y="4269105"/>
            <a:ext cx="915035" cy="6997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本体</a:t>
            </a:r>
          </a:p>
        </p:txBody>
      </p:sp>
      <p:sp>
        <p:nvSpPr>
          <p:cNvPr id="19" name="椭圆 18"/>
          <p:cNvSpPr/>
          <p:nvPr/>
        </p:nvSpPr>
        <p:spPr>
          <a:xfrm>
            <a:off x="3818890" y="3146425"/>
            <a:ext cx="915035" cy="6997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信息资源</a:t>
            </a:r>
          </a:p>
        </p:txBody>
      </p:sp>
      <p:sp>
        <p:nvSpPr>
          <p:cNvPr id="23" name="圆角矩形 22"/>
          <p:cNvSpPr/>
          <p:nvPr/>
        </p:nvSpPr>
        <p:spPr>
          <a:xfrm>
            <a:off x="7022465" y="3719830"/>
            <a:ext cx="1188000" cy="56134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知识导航</a:t>
            </a:r>
          </a:p>
        </p:txBody>
      </p:sp>
      <p:sp>
        <p:nvSpPr>
          <p:cNvPr id="33" name="圆角矩形 32"/>
          <p:cNvSpPr/>
          <p:nvPr/>
        </p:nvSpPr>
        <p:spPr>
          <a:xfrm>
            <a:off x="5397500" y="1958340"/>
            <a:ext cx="1188000" cy="56134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分类资源</a:t>
            </a:r>
          </a:p>
        </p:txBody>
      </p:sp>
      <p:sp>
        <p:nvSpPr>
          <p:cNvPr id="34" name="圆角矩形 33"/>
          <p:cNvSpPr/>
          <p:nvPr/>
        </p:nvSpPr>
        <p:spPr>
          <a:xfrm>
            <a:off x="5412105" y="4338320"/>
            <a:ext cx="1188000" cy="56134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文件模板</a:t>
            </a:r>
          </a:p>
        </p:txBody>
      </p:sp>
      <p:sp>
        <p:nvSpPr>
          <p:cNvPr id="35" name="圆角矩形 34"/>
          <p:cNvSpPr/>
          <p:nvPr/>
        </p:nvSpPr>
        <p:spPr>
          <a:xfrm>
            <a:off x="5397500" y="3148330"/>
            <a:ext cx="1188000" cy="56134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标签</a:t>
            </a:r>
          </a:p>
        </p:txBody>
      </p:sp>
      <p:sp>
        <p:nvSpPr>
          <p:cNvPr id="36" name="圆角矩形 35"/>
          <p:cNvSpPr/>
          <p:nvPr/>
        </p:nvSpPr>
        <p:spPr>
          <a:xfrm>
            <a:off x="8624570" y="3154680"/>
            <a:ext cx="1188000" cy="56134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主题规划</a:t>
            </a:r>
          </a:p>
        </p:txBody>
      </p:sp>
      <p:sp>
        <p:nvSpPr>
          <p:cNvPr id="37" name="圆角矩形 36"/>
          <p:cNvSpPr/>
          <p:nvPr/>
        </p:nvSpPr>
        <p:spPr>
          <a:xfrm>
            <a:off x="8624570" y="4195445"/>
            <a:ext cx="1188000" cy="56134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节点构建</a:t>
            </a:r>
          </a:p>
        </p:txBody>
      </p:sp>
      <p:sp>
        <p:nvSpPr>
          <p:cNvPr id="38" name="圆角矩形 37"/>
          <p:cNvSpPr/>
          <p:nvPr/>
        </p:nvSpPr>
        <p:spPr>
          <a:xfrm>
            <a:off x="5397500" y="5543550"/>
            <a:ext cx="1188000" cy="56134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业务流程</a:t>
            </a:r>
          </a:p>
        </p:txBody>
      </p:sp>
      <p:sp>
        <p:nvSpPr>
          <p:cNvPr id="49" name="圆角矩形 48"/>
          <p:cNvSpPr/>
          <p:nvPr/>
        </p:nvSpPr>
        <p:spPr>
          <a:xfrm>
            <a:off x="3559175" y="2519680"/>
            <a:ext cx="1368425" cy="3216910"/>
          </a:xfrm>
          <a:prstGeom prst="roundRect">
            <a:avLst/>
          </a:prstGeom>
          <a:noFill/>
          <a:ln>
            <a:solidFill>
              <a:schemeClr val="accent2"/>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9" name="文本框 38"/>
          <p:cNvSpPr txBox="1"/>
          <p:nvPr/>
        </p:nvSpPr>
        <p:spPr>
          <a:xfrm>
            <a:off x="9547860" y="5015230"/>
            <a:ext cx="1071880" cy="306705"/>
          </a:xfrm>
          <a:prstGeom prst="rect">
            <a:avLst/>
          </a:prstGeom>
          <a:solidFill>
            <a:schemeClr val="accent2"/>
          </a:solidFill>
        </p:spPr>
        <p:txBody>
          <a:bodyPr wrap="none" rtlCol="0" anchor="t">
            <a:spAutoFit/>
          </a:bodyPr>
          <a:lstStyle/>
          <a:p>
            <a:r>
              <a:rPr lang="zh-CN" altLang="en-US" sz="1400">
                <a:solidFill>
                  <a:schemeClr val="bg1"/>
                </a:solidFill>
                <a:latin typeface="微软雅黑" panose="020B0503020204020204" charset="-122"/>
                <a:ea typeface="微软雅黑" panose="020B0503020204020204" charset="-122"/>
                <a:sym typeface="+mn-ea"/>
              </a:rPr>
              <a:t>按目录设置</a:t>
            </a:r>
          </a:p>
        </p:txBody>
      </p:sp>
      <p:sp>
        <p:nvSpPr>
          <p:cNvPr id="40" name="文本框 39"/>
          <p:cNvSpPr txBox="1"/>
          <p:nvPr/>
        </p:nvSpPr>
        <p:spPr>
          <a:xfrm>
            <a:off x="9547860" y="5558790"/>
            <a:ext cx="1071880" cy="306705"/>
          </a:xfrm>
          <a:prstGeom prst="rect">
            <a:avLst/>
          </a:prstGeom>
          <a:solidFill>
            <a:schemeClr val="accent2"/>
          </a:solidFill>
        </p:spPr>
        <p:txBody>
          <a:bodyPr wrap="none" rtlCol="0" anchor="t">
            <a:spAutoFit/>
          </a:bodyPr>
          <a:lstStyle/>
          <a:p>
            <a:r>
              <a:rPr lang="zh-CN" altLang="en-US" sz="1400">
                <a:solidFill>
                  <a:schemeClr val="bg1"/>
                </a:solidFill>
                <a:latin typeface="微软雅黑" panose="020B0503020204020204" charset="-122"/>
                <a:ea typeface="微软雅黑" panose="020B0503020204020204" charset="-122"/>
                <a:sym typeface="+mn-ea"/>
              </a:rPr>
              <a:t>按标签设置</a:t>
            </a:r>
          </a:p>
        </p:txBody>
      </p:sp>
      <p:sp>
        <p:nvSpPr>
          <p:cNvPr id="41" name="文本框 40"/>
          <p:cNvSpPr txBox="1"/>
          <p:nvPr/>
        </p:nvSpPr>
        <p:spPr>
          <a:xfrm>
            <a:off x="9547860" y="6102350"/>
            <a:ext cx="1071880" cy="306705"/>
          </a:xfrm>
          <a:prstGeom prst="rect">
            <a:avLst/>
          </a:prstGeom>
          <a:solidFill>
            <a:schemeClr val="accent2"/>
          </a:solidFill>
        </p:spPr>
        <p:txBody>
          <a:bodyPr wrap="none" rtlCol="0" anchor="t">
            <a:spAutoFit/>
          </a:bodyPr>
          <a:lstStyle/>
          <a:p>
            <a:r>
              <a:rPr lang="zh-CN" altLang="en-US" sz="1400">
                <a:solidFill>
                  <a:schemeClr val="bg1"/>
                </a:solidFill>
                <a:latin typeface="微软雅黑" panose="020B0503020204020204" charset="-122"/>
                <a:ea typeface="微软雅黑" panose="020B0503020204020204" charset="-122"/>
                <a:sym typeface="+mn-ea"/>
              </a:rPr>
              <a:t>按文件链接</a:t>
            </a:r>
          </a:p>
        </p:txBody>
      </p:sp>
      <p:cxnSp>
        <p:nvCxnSpPr>
          <p:cNvPr id="42" name="肘形连接符 41"/>
          <p:cNvCxnSpPr>
            <a:stCxn id="37" idx="2"/>
            <a:endCxn id="39" idx="1"/>
          </p:cNvCxnSpPr>
          <p:nvPr/>
        </p:nvCxnSpPr>
        <p:spPr>
          <a:xfrm rot="5400000" flipV="1">
            <a:off x="9168448" y="4798378"/>
            <a:ext cx="412115" cy="328930"/>
          </a:xfrm>
          <a:prstGeom prst="bentConnector2">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43" name="肘形连接符 42"/>
          <p:cNvCxnSpPr>
            <a:stCxn id="37" idx="2"/>
            <a:endCxn id="40" idx="1"/>
          </p:cNvCxnSpPr>
          <p:nvPr/>
        </p:nvCxnSpPr>
        <p:spPr>
          <a:xfrm rot="5400000" flipV="1">
            <a:off x="8896668" y="5070158"/>
            <a:ext cx="955675" cy="328930"/>
          </a:xfrm>
          <a:prstGeom prst="bentConnector2">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45" name="肘形连接符 44"/>
          <p:cNvCxnSpPr>
            <a:stCxn id="37" idx="2"/>
            <a:endCxn id="41" idx="1"/>
          </p:cNvCxnSpPr>
          <p:nvPr/>
        </p:nvCxnSpPr>
        <p:spPr>
          <a:xfrm rot="5400000" flipV="1">
            <a:off x="8624888" y="5341938"/>
            <a:ext cx="1499235" cy="328930"/>
          </a:xfrm>
          <a:prstGeom prst="bentConnector2">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46" name="肘形连接符 45"/>
          <p:cNvCxnSpPr>
            <a:stCxn id="23" idx="3"/>
            <a:endCxn id="36" idx="1"/>
          </p:cNvCxnSpPr>
          <p:nvPr/>
        </p:nvCxnSpPr>
        <p:spPr>
          <a:xfrm flipV="1">
            <a:off x="8201660" y="3435350"/>
            <a:ext cx="414020" cy="565150"/>
          </a:xfrm>
          <a:prstGeom prst="bentConnector3">
            <a:avLst>
              <a:gd name="adj1" fmla="val 50000"/>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48" name="肘形连接符 47"/>
          <p:cNvCxnSpPr>
            <a:stCxn id="23" idx="3"/>
            <a:endCxn id="37" idx="1"/>
          </p:cNvCxnSpPr>
          <p:nvPr/>
        </p:nvCxnSpPr>
        <p:spPr>
          <a:xfrm>
            <a:off x="8201660" y="4000500"/>
            <a:ext cx="414020" cy="475615"/>
          </a:xfrm>
          <a:prstGeom prst="bentConnector3">
            <a:avLst>
              <a:gd name="adj1" fmla="val 50000"/>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50" name="直接箭头连接符 49"/>
          <p:cNvCxnSpPr>
            <a:stCxn id="49" idx="3"/>
            <a:endCxn id="33" idx="1"/>
          </p:cNvCxnSpPr>
          <p:nvPr/>
        </p:nvCxnSpPr>
        <p:spPr>
          <a:xfrm flipV="1">
            <a:off x="4927600" y="2239010"/>
            <a:ext cx="469900" cy="1889125"/>
          </a:xfrm>
          <a:prstGeom prst="straightConnector1">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51" name="直接箭头连接符 50"/>
          <p:cNvCxnSpPr>
            <a:stCxn id="49" idx="3"/>
          </p:cNvCxnSpPr>
          <p:nvPr/>
        </p:nvCxnSpPr>
        <p:spPr>
          <a:xfrm flipV="1">
            <a:off x="4927600" y="3496310"/>
            <a:ext cx="469900" cy="631825"/>
          </a:xfrm>
          <a:prstGeom prst="straightConnector1">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52" name="直接箭头连接符 51"/>
          <p:cNvCxnSpPr>
            <a:stCxn id="49" idx="3"/>
            <a:endCxn id="34" idx="1"/>
          </p:cNvCxnSpPr>
          <p:nvPr/>
        </p:nvCxnSpPr>
        <p:spPr>
          <a:xfrm>
            <a:off x="4927600" y="4128135"/>
            <a:ext cx="484505" cy="490855"/>
          </a:xfrm>
          <a:prstGeom prst="straightConnector1">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53" name="直接箭头连接符 52"/>
          <p:cNvCxnSpPr>
            <a:stCxn id="49" idx="3"/>
            <a:endCxn id="38" idx="1"/>
          </p:cNvCxnSpPr>
          <p:nvPr/>
        </p:nvCxnSpPr>
        <p:spPr>
          <a:xfrm>
            <a:off x="4927600" y="4128135"/>
            <a:ext cx="469900" cy="1696085"/>
          </a:xfrm>
          <a:prstGeom prst="straightConnector1">
            <a:avLst/>
          </a:prstGeom>
          <a:ln w="28575">
            <a:tailEnd type="arrow" w="med" len="med"/>
          </a:ln>
        </p:spPr>
        <p:style>
          <a:lnRef idx="1">
            <a:schemeClr val="accent2"/>
          </a:lnRef>
          <a:fillRef idx="0">
            <a:schemeClr val="accent2"/>
          </a:fillRef>
          <a:effectRef idx="0">
            <a:schemeClr val="accent2"/>
          </a:effectRef>
          <a:fontRef idx="minor">
            <a:schemeClr val="tx1"/>
          </a:fontRef>
        </p:style>
      </p:cxnSp>
      <p:sp>
        <p:nvSpPr>
          <p:cNvPr id="54" name="右大括号 53"/>
          <p:cNvSpPr/>
          <p:nvPr/>
        </p:nvSpPr>
        <p:spPr>
          <a:xfrm>
            <a:off x="6626225" y="2239010"/>
            <a:ext cx="288000" cy="3585210"/>
          </a:xfrm>
          <a:prstGeom prst="rightBrace">
            <a:avLst>
              <a:gd name="adj1" fmla="val 8333"/>
              <a:gd name="adj2" fmla="val 50000"/>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93" name="文本框 92"/>
          <p:cNvSpPr txBox="1"/>
          <p:nvPr/>
        </p:nvSpPr>
        <p:spPr>
          <a:xfrm>
            <a:off x="10838815" y="5757545"/>
            <a:ext cx="684000" cy="344805"/>
          </a:xfrm>
          <a:prstGeom prst="rect">
            <a:avLst/>
          </a:prstGeom>
          <a:solidFill>
            <a:schemeClr val="accent2"/>
          </a:solidFill>
        </p:spPr>
        <p:txBody>
          <a:bodyPr wrap="square" rtlCol="0" anchor="ctr" anchorCtr="0">
            <a:spAutoFit/>
          </a:bodyPr>
          <a:lstStyle/>
          <a:p>
            <a:pPr algn="ctr">
              <a:lnSpc>
                <a:spcPct val="150000"/>
              </a:lnSpc>
            </a:pPr>
            <a:r>
              <a:rPr lang="zh-CN" altLang="en-US" sz="1100" kern="100" dirty="0">
                <a:solidFill>
                  <a:schemeClr val="bg1"/>
                </a:solidFill>
                <a:latin typeface="微软雅黑" panose="020B0503020204020204" charset="-122"/>
                <a:ea typeface="微软雅黑" panose="020B0503020204020204" charset="-122"/>
                <a:cs typeface="Times New Roman" panose="02020603050405020304" pitchFamily="18" charset="0"/>
              </a:rPr>
              <a:t>流程图</a:t>
            </a:r>
            <a:endParaRPr lang="zh-CN" altLang="en-US" sz="1100" kern="100" dirty="0">
              <a:solidFill>
                <a:schemeClr val="bg1"/>
              </a:solidFill>
              <a:effectLst/>
              <a:latin typeface="微软雅黑" panose="020B0503020204020204" charset="-122"/>
              <a:ea typeface="微软雅黑" panose="020B0503020204020204" charset="-122"/>
              <a:cs typeface="Times New Roman" panose="02020603050405020304" pitchFamily="18" charset="0"/>
            </a:endParaRPr>
          </a:p>
        </p:txBody>
      </p:sp>
      <p:sp>
        <p:nvSpPr>
          <p:cNvPr id="55" name="文本框 54"/>
          <p:cNvSpPr txBox="1"/>
          <p:nvPr/>
        </p:nvSpPr>
        <p:spPr>
          <a:xfrm>
            <a:off x="10838815" y="6409055"/>
            <a:ext cx="684000" cy="344805"/>
          </a:xfrm>
          <a:prstGeom prst="rect">
            <a:avLst/>
          </a:prstGeom>
          <a:solidFill>
            <a:schemeClr val="accent2"/>
          </a:solidFill>
        </p:spPr>
        <p:txBody>
          <a:bodyPr wrap="square" rtlCol="0">
            <a:spAutoFit/>
          </a:bodyPr>
          <a:lstStyle/>
          <a:p>
            <a:pPr algn="ctr">
              <a:lnSpc>
                <a:spcPct val="150000"/>
              </a:lnSpc>
            </a:pPr>
            <a:r>
              <a:rPr lang="zh-CN" altLang="en-US" sz="1100" kern="100" dirty="0">
                <a:solidFill>
                  <a:schemeClr val="bg1"/>
                </a:solidFill>
                <a:latin typeface="微软雅黑" panose="020B0503020204020204" charset="-122"/>
                <a:ea typeface="微软雅黑" panose="020B0503020204020204" charset="-122"/>
                <a:cs typeface="Times New Roman" panose="02020603050405020304" pitchFamily="18" charset="0"/>
              </a:rPr>
              <a:t>模板</a:t>
            </a:r>
            <a:endParaRPr lang="zh-CN" altLang="en-US" sz="1100" kern="100" dirty="0">
              <a:solidFill>
                <a:schemeClr val="bg1"/>
              </a:solidFill>
              <a:effectLst/>
              <a:latin typeface="微软雅黑" panose="020B0503020204020204" charset="-122"/>
              <a:ea typeface="微软雅黑" panose="020B0503020204020204" charset="-122"/>
              <a:cs typeface="Times New Roman" panose="02020603050405020304" pitchFamily="18" charset="0"/>
            </a:endParaRPr>
          </a:p>
        </p:txBody>
      </p:sp>
      <p:cxnSp>
        <p:nvCxnSpPr>
          <p:cNvPr id="56" name="直接连接符 55"/>
          <p:cNvCxnSpPr>
            <a:stCxn id="41" idx="3"/>
            <a:endCxn id="93" idx="1"/>
          </p:cNvCxnSpPr>
          <p:nvPr/>
        </p:nvCxnSpPr>
        <p:spPr>
          <a:xfrm flipV="1">
            <a:off x="10610850" y="5930265"/>
            <a:ext cx="219075" cy="325755"/>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57" name="直接连接符 56"/>
          <p:cNvCxnSpPr>
            <a:endCxn id="55" idx="1"/>
          </p:cNvCxnSpPr>
          <p:nvPr/>
        </p:nvCxnSpPr>
        <p:spPr>
          <a:xfrm>
            <a:off x="10610850" y="6211570"/>
            <a:ext cx="219075" cy="370205"/>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61" name="文本框 60"/>
          <p:cNvSpPr txBox="1"/>
          <p:nvPr/>
        </p:nvSpPr>
        <p:spPr>
          <a:xfrm>
            <a:off x="10634345" y="1591945"/>
            <a:ext cx="1116000" cy="275590"/>
          </a:xfrm>
          <a:prstGeom prst="rect">
            <a:avLst/>
          </a:prstGeom>
          <a:solidFill>
            <a:schemeClr val="accent2"/>
          </a:solidFill>
        </p:spPr>
        <p:txBody>
          <a:bodyPr wrap="square" rtlCol="0">
            <a:spAutoFit/>
          </a:bodyPr>
          <a:lstStyle/>
          <a:p>
            <a:pPr algn="ctr"/>
            <a:r>
              <a:rPr lang="zh-CN" altLang="en-US" sz="1200">
                <a:solidFill>
                  <a:schemeClr val="bg1"/>
                </a:solidFill>
                <a:latin typeface="微软雅黑" panose="020B0503020204020204" charset="-122"/>
                <a:ea typeface="微软雅黑" panose="020B0503020204020204" charset="-122"/>
              </a:rPr>
              <a:t>项目管理</a:t>
            </a:r>
          </a:p>
        </p:txBody>
      </p:sp>
      <p:sp>
        <p:nvSpPr>
          <p:cNvPr id="62" name="文本框 61"/>
          <p:cNvSpPr txBox="1"/>
          <p:nvPr/>
        </p:nvSpPr>
        <p:spPr>
          <a:xfrm>
            <a:off x="10634345" y="1932305"/>
            <a:ext cx="1116000" cy="275590"/>
          </a:xfrm>
          <a:prstGeom prst="rect">
            <a:avLst/>
          </a:prstGeom>
          <a:solidFill>
            <a:schemeClr val="accent2"/>
          </a:solidFill>
        </p:spPr>
        <p:txBody>
          <a:bodyPr wrap="square" rtlCol="0">
            <a:spAutoFit/>
          </a:bodyPr>
          <a:lstStyle/>
          <a:p>
            <a:pPr algn="ctr"/>
            <a:r>
              <a:rPr lang="zh-CN" altLang="en-US" sz="1200">
                <a:solidFill>
                  <a:schemeClr val="bg1"/>
                </a:solidFill>
                <a:latin typeface="微软雅黑" panose="020B0503020204020204" charset="-122"/>
                <a:ea typeface="微软雅黑" panose="020B0503020204020204" charset="-122"/>
              </a:rPr>
              <a:t>信息化工作</a:t>
            </a:r>
          </a:p>
        </p:txBody>
      </p:sp>
      <p:sp>
        <p:nvSpPr>
          <p:cNvPr id="63" name="文本框 62"/>
          <p:cNvSpPr txBox="1"/>
          <p:nvPr/>
        </p:nvSpPr>
        <p:spPr>
          <a:xfrm>
            <a:off x="10634345" y="2272665"/>
            <a:ext cx="1116000" cy="275590"/>
          </a:xfrm>
          <a:prstGeom prst="rect">
            <a:avLst/>
          </a:prstGeom>
          <a:solidFill>
            <a:schemeClr val="accent2"/>
          </a:solidFill>
        </p:spPr>
        <p:txBody>
          <a:bodyPr wrap="square" rtlCol="0">
            <a:spAutoFit/>
          </a:bodyPr>
          <a:lstStyle/>
          <a:p>
            <a:pPr algn="ctr"/>
            <a:r>
              <a:rPr lang="zh-CN" altLang="en-US" sz="1200">
                <a:solidFill>
                  <a:schemeClr val="bg1"/>
                </a:solidFill>
                <a:latin typeface="微软雅黑" panose="020B0503020204020204" charset="-122"/>
                <a:ea typeface="微软雅黑" panose="020B0503020204020204" charset="-122"/>
              </a:rPr>
              <a:t>人事管理</a:t>
            </a:r>
          </a:p>
        </p:txBody>
      </p:sp>
      <p:sp>
        <p:nvSpPr>
          <p:cNvPr id="64" name="文本框 63"/>
          <p:cNvSpPr txBox="1"/>
          <p:nvPr/>
        </p:nvSpPr>
        <p:spPr>
          <a:xfrm>
            <a:off x="10643235" y="2613025"/>
            <a:ext cx="1116000" cy="275590"/>
          </a:xfrm>
          <a:prstGeom prst="rect">
            <a:avLst/>
          </a:prstGeom>
          <a:solidFill>
            <a:schemeClr val="accent2"/>
          </a:solidFill>
        </p:spPr>
        <p:txBody>
          <a:bodyPr wrap="square" rtlCol="0">
            <a:spAutoFit/>
          </a:bodyPr>
          <a:lstStyle/>
          <a:p>
            <a:pPr algn="ctr"/>
            <a:r>
              <a:rPr lang="zh-CN" altLang="en-US" sz="1200">
                <a:solidFill>
                  <a:schemeClr val="bg1"/>
                </a:solidFill>
                <a:latin typeface="微软雅黑" panose="020B0503020204020204" charset="-122"/>
                <a:ea typeface="微软雅黑" panose="020B0503020204020204" charset="-122"/>
              </a:rPr>
              <a:t>知识产权审核</a:t>
            </a:r>
          </a:p>
        </p:txBody>
      </p:sp>
      <p:sp>
        <p:nvSpPr>
          <p:cNvPr id="65" name="文本框 64"/>
          <p:cNvSpPr txBox="1"/>
          <p:nvPr/>
        </p:nvSpPr>
        <p:spPr>
          <a:xfrm>
            <a:off x="10634345" y="2953385"/>
            <a:ext cx="1116000" cy="275590"/>
          </a:xfrm>
          <a:prstGeom prst="rect">
            <a:avLst/>
          </a:prstGeom>
          <a:solidFill>
            <a:schemeClr val="accent2"/>
          </a:solidFill>
        </p:spPr>
        <p:txBody>
          <a:bodyPr wrap="square" rtlCol="0">
            <a:spAutoFit/>
          </a:bodyPr>
          <a:lstStyle/>
          <a:p>
            <a:pPr algn="ctr"/>
            <a:r>
              <a:rPr lang="en-US" altLang="zh-CN" sz="1200">
                <a:solidFill>
                  <a:schemeClr val="bg1"/>
                </a:solidFill>
                <a:latin typeface="微软雅黑" panose="020B0503020204020204" charset="-122"/>
                <a:ea typeface="微软雅黑" panose="020B0503020204020204" charset="-122"/>
              </a:rPr>
              <a:t>......</a:t>
            </a:r>
          </a:p>
        </p:txBody>
      </p:sp>
      <p:sp>
        <p:nvSpPr>
          <p:cNvPr id="67" name="文本框 66"/>
          <p:cNvSpPr txBox="1"/>
          <p:nvPr/>
        </p:nvSpPr>
        <p:spPr>
          <a:xfrm>
            <a:off x="9379585" y="2149475"/>
            <a:ext cx="828000" cy="521970"/>
          </a:xfrm>
          <a:prstGeom prst="rect">
            <a:avLst/>
          </a:prstGeom>
          <a:solidFill>
            <a:schemeClr val="accent2"/>
          </a:solidFill>
        </p:spPr>
        <p:txBody>
          <a:bodyPr wrap="square" rtlCol="0">
            <a:spAutoFit/>
          </a:bodyPr>
          <a:lstStyle/>
          <a:p>
            <a:pPr algn="ctr"/>
            <a:r>
              <a:rPr lang="zh-CN" altLang="en-US" sz="1400">
                <a:solidFill>
                  <a:schemeClr val="bg1"/>
                </a:solidFill>
                <a:latin typeface="微软雅黑" panose="020B0503020204020204" charset="-122"/>
                <a:ea typeface="微软雅黑" panose="020B0503020204020204" charset="-122"/>
              </a:rPr>
              <a:t>工作</a:t>
            </a:r>
          </a:p>
          <a:p>
            <a:pPr algn="ctr"/>
            <a:r>
              <a:rPr lang="zh-CN" altLang="en-US" sz="1400">
                <a:solidFill>
                  <a:schemeClr val="bg1"/>
                </a:solidFill>
                <a:latin typeface="微软雅黑" panose="020B0503020204020204" charset="-122"/>
                <a:ea typeface="微软雅黑" panose="020B0503020204020204" charset="-122"/>
              </a:rPr>
              <a:t>业务</a:t>
            </a:r>
          </a:p>
        </p:txBody>
      </p:sp>
      <p:cxnSp>
        <p:nvCxnSpPr>
          <p:cNvPr id="68" name="肘形连接符 67"/>
          <p:cNvCxnSpPr>
            <a:stCxn id="36" idx="0"/>
            <a:endCxn id="67" idx="1"/>
          </p:cNvCxnSpPr>
          <p:nvPr/>
        </p:nvCxnSpPr>
        <p:spPr>
          <a:xfrm rot="16200000">
            <a:off x="8918258" y="2702243"/>
            <a:ext cx="744220" cy="160655"/>
          </a:xfrm>
          <a:prstGeom prst="bentConnector2">
            <a:avLst/>
          </a:prstGeom>
          <a:ln w="28575"/>
        </p:spPr>
        <p:style>
          <a:lnRef idx="1">
            <a:schemeClr val="accent2"/>
          </a:lnRef>
          <a:fillRef idx="0">
            <a:schemeClr val="accent2"/>
          </a:fillRef>
          <a:effectRef idx="0">
            <a:schemeClr val="accent2"/>
          </a:effectRef>
          <a:fontRef idx="minor">
            <a:schemeClr val="tx1"/>
          </a:fontRef>
        </p:style>
      </p:cxnSp>
      <p:cxnSp>
        <p:nvCxnSpPr>
          <p:cNvPr id="69" name="直接连接符 68"/>
          <p:cNvCxnSpPr>
            <a:stCxn id="67" idx="3"/>
            <a:endCxn id="61" idx="1"/>
          </p:cNvCxnSpPr>
          <p:nvPr/>
        </p:nvCxnSpPr>
        <p:spPr>
          <a:xfrm flipV="1">
            <a:off x="10198735" y="1729740"/>
            <a:ext cx="426720" cy="68072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72" name="直接连接符 71"/>
          <p:cNvCxnSpPr>
            <a:stCxn id="67" idx="3"/>
            <a:endCxn id="62" idx="1"/>
          </p:cNvCxnSpPr>
          <p:nvPr/>
        </p:nvCxnSpPr>
        <p:spPr>
          <a:xfrm flipV="1">
            <a:off x="10198735" y="2070100"/>
            <a:ext cx="426720" cy="34036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73" name="直接连接符 72"/>
          <p:cNvCxnSpPr>
            <a:stCxn id="67" idx="3"/>
          </p:cNvCxnSpPr>
          <p:nvPr/>
        </p:nvCxnSpPr>
        <p:spPr>
          <a:xfrm>
            <a:off x="10198735" y="2410460"/>
            <a:ext cx="435610" cy="635"/>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74" name="直接连接符 73"/>
          <p:cNvCxnSpPr>
            <a:stCxn id="67" idx="3"/>
            <a:endCxn id="64" idx="1"/>
          </p:cNvCxnSpPr>
          <p:nvPr/>
        </p:nvCxnSpPr>
        <p:spPr>
          <a:xfrm>
            <a:off x="10198735" y="2410460"/>
            <a:ext cx="435610" cy="34036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75" name="直接连接符 74"/>
          <p:cNvCxnSpPr>
            <a:stCxn id="67" idx="3"/>
            <a:endCxn id="65" idx="1"/>
          </p:cNvCxnSpPr>
          <p:nvPr/>
        </p:nvCxnSpPr>
        <p:spPr>
          <a:xfrm>
            <a:off x="10198735" y="2410460"/>
            <a:ext cx="426720" cy="680720"/>
          </a:xfrm>
          <a:prstGeom prst="line">
            <a:avLst/>
          </a:prstGeom>
          <a:ln w="28575"/>
        </p:spPr>
        <p:style>
          <a:lnRef idx="1">
            <a:schemeClr val="accent2"/>
          </a:lnRef>
          <a:fillRef idx="0">
            <a:schemeClr val="accent2"/>
          </a:fillRef>
          <a:effectRef idx="0">
            <a:schemeClr val="accent2"/>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圆角矩形 70"/>
          <p:cNvSpPr/>
          <p:nvPr/>
        </p:nvSpPr>
        <p:spPr>
          <a:xfrm>
            <a:off x="6986905" y="1800225"/>
            <a:ext cx="1489710" cy="4558030"/>
          </a:xfrm>
          <a:prstGeom prst="roundRect">
            <a:avLst/>
          </a:prstGeom>
          <a:noFill/>
          <a:ln w="19050">
            <a:solidFill>
              <a:schemeClr val="accent2"/>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425450" y="170111"/>
            <a:ext cx="4971768" cy="478155"/>
          </a:xfrm>
        </p:spPr>
        <p:txBody>
          <a:bodyPr/>
          <a:lstStyle/>
          <a:p>
            <a:r>
              <a:rPr lang="zh-CN" altLang="en-US" dirty="0"/>
              <a:t>工程实践内容</a:t>
            </a:r>
          </a:p>
        </p:txBody>
      </p:sp>
      <p:cxnSp>
        <p:nvCxnSpPr>
          <p:cNvPr id="20" name="直接连接符 19"/>
          <p:cNvCxnSpPr/>
          <p:nvPr/>
        </p:nvCxnSpPr>
        <p:spPr>
          <a:xfrm>
            <a:off x="2557900" y="1399141"/>
            <a:ext cx="0" cy="5090559"/>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119380" y="781685"/>
            <a:ext cx="11772900" cy="617220"/>
            <a:chOff x="188" y="1231"/>
            <a:chExt cx="18540" cy="972"/>
          </a:xfrm>
        </p:grpSpPr>
        <p:sp>
          <p:nvSpPr>
            <p:cNvPr id="4" name="矩形: 圆角 87"/>
            <p:cNvSpPr/>
            <p:nvPr/>
          </p:nvSpPr>
          <p:spPr>
            <a:xfrm>
              <a:off x="4969" y="1440"/>
              <a:ext cx="3531"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信息资源</a:t>
              </a:r>
            </a:p>
          </p:txBody>
        </p:sp>
        <p:sp>
          <p:nvSpPr>
            <p:cNvPr id="5" name="矩形: 圆角 88"/>
            <p:cNvSpPr/>
            <p:nvPr/>
          </p:nvSpPr>
          <p:spPr>
            <a:xfrm>
              <a:off x="9507" y="1440"/>
              <a:ext cx="3246" cy="6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知识本体</a:t>
              </a:r>
            </a:p>
          </p:txBody>
        </p:sp>
        <p:sp>
          <p:nvSpPr>
            <p:cNvPr id="6" name="矩形: 圆角 90"/>
            <p:cNvSpPr/>
            <p:nvPr/>
          </p:nvSpPr>
          <p:spPr>
            <a:xfrm>
              <a:off x="14534" y="1446"/>
              <a:ext cx="3346"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智慧化能力</a:t>
              </a:r>
            </a:p>
          </p:txBody>
        </p:sp>
        <p:sp>
          <p:nvSpPr>
            <p:cNvPr id="7" name="矩形: 圆角 84"/>
            <p:cNvSpPr/>
            <p:nvPr/>
          </p:nvSpPr>
          <p:spPr>
            <a:xfrm>
              <a:off x="188" y="1231"/>
              <a:ext cx="18540" cy="973"/>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charset="-122"/>
                <a:ea typeface="微软雅黑" panose="020B0503020204020204" charset="-122"/>
              </a:endParaRPr>
            </a:p>
          </p:txBody>
        </p:sp>
        <p:sp>
          <p:nvSpPr>
            <p:cNvPr id="8" name="矩形: 圆角 92"/>
            <p:cNvSpPr/>
            <p:nvPr/>
          </p:nvSpPr>
          <p:spPr>
            <a:xfrm>
              <a:off x="904" y="1437"/>
              <a:ext cx="3082"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领域分类</a:t>
              </a:r>
            </a:p>
          </p:txBody>
        </p:sp>
        <p:sp>
          <p:nvSpPr>
            <p:cNvPr id="112" name="箭头: 右 111"/>
            <p:cNvSpPr/>
            <p:nvPr/>
          </p:nvSpPr>
          <p:spPr>
            <a:xfrm>
              <a:off x="4197" y="1575"/>
              <a:ext cx="505" cy="39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十字形 112"/>
            <p:cNvSpPr/>
            <p:nvPr/>
          </p:nvSpPr>
          <p:spPr>
            <a:xfrm>
              <a:off x="8780" y="1575"/>
              <a:ext cx="462" cy="390"/>
            </a:xfrm>
            <a:prstGeom prst="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箭头: 右 113"/>
            <p:cNvSpPr/>
            <p:nvPr/>
          </p:nvSpPr>
          <p:spPr>
            <a:xfrm>
              <a:off x="13321" y="1534"/>
              <a:ext cx="624" cy="454"/>
            </a:xfrm>
            <a:prstGeom prst="notch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圆角矩形 9"/>
          <p:cNvSpPr/>
          <p:nvPr/>
        </p:nvSpPr>
        <p:spPr>
          <a:xfrm>
            <a:off x="2756535" y="1800225"/>
            <a:ext cx="604520" cy="1346200"/>
          </a:xfrm>
          <a:prstGeom prst="roundRect">
            <a:avLst/>
          </a:prstGeom>
          <a:solidFill>
            <a:schemeClr val="tx2">
              <a:lumMod val="20000"/>
              <a:lumOff val="80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a:t>本体构建</a:t>
            </a:r>
          </a:p>
        </p:txBody>
      </p:sp>
      <p:sp>
        <p:nvSpPr>
          <p:cNvPr id="11" name="圆角矩形 10"/>
          <p:cNvSpPr/>
          <p:nvPr/>
        </p:nvSpPr>
        <p:spPr>
          <a:xfrm>
            <a:off x="2756535" y="3384550"/>
            <a:ext cx="604520" cy="1346200"/>
          </a:xfrm>
          <a:prstGeom prst="roundRect">
            <a:avLst/>
          </a:prstGeom>
          <a:solidFill>
            <a:schemeClr val="tx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知识地图</a:t>
            </a:r>
          </a:p>
        </p:txBody>
      </p:sp>
      <p:sp>
        <p:nvSpPr>
          <p:cNvPr id="12" name="圆角矩形 11"/>
          <p:cNvSpPr/>
          <p:nvPr/>
        </p:nvSpPr>
        <p:spPr>
          <a:xfrm>
            <a:off x="2756535" y="4968875"/>
            <a:ext cx="604520" cy="1346200"/>
          </a:xfrm>
          <a:prstGeom prst="roundRect">
            <a:avLst/>
          </a:prstGeom>
          <a:solidFill>
            <a:schemeClr val="accent2"/>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a:t>分类标引</a:t>
            </a:r>
          </a:p>
        </p:txBody>
      </p:sp>
      <p:sp>
        <p:nvSpPr>
          <p:cNvPr id="15" name="文本框 14"/>
          <p:cNvSpPr txBox="1"/>
          <p:nvPr/>
        </p:nvSpPr>
        <p:spPr>
          <a:xfrm>
            <a:off x="91758" y="4562650"/>
            <a:ext cx="2438837" cy="2030095"/>
          </a:xfrm>
          <a:prstGeom prst="rect">
            <a:avLst/>
          </a:prstGeom>
          <a:noFill/>
        </p:spPr>
        <p:txBody>
          <a:bodyPr wrap="square">
            <a:spAutoFit/>
          </a:bodyPr>
          <a:lstStyle/>
          <a:p>
            <a:pPr>
              <a:lnSpc>
                <a:spcPct val="150000"/>
              </a:lnSpc>
            </a:pPr>
            <a:r>
              <a:rPr lang="zh-CN" altLang="en-US" sz="1400" b="1" kern="100" dirty="0">
                <a:solidFill>
                  <a:schemeClr val="accent2"/>
                </a:solidFill>
                <a:latin typeface="微软雅黑" panose="020B0503020204020204" charset="-122"/>
                <a:ea typeface="微软雅黑" panose="020B0503020204020204" charset="-122"/>
                <a:cs typeface="Times New Roman" panose="02020603050405020304" pitchFamily="18" charset="0"/>
              </a:rPr>
              <a:t>      </a:t>
            </a:r>
            <a:r>
              <a:rPr lang="zh-CN" altLang="en-US" sz="1400" b="1" kern="100" dirty="0">
                <a:solidFill>
                  <a:schemeClr val="accent2"/>
                </a:solidFill>
                <a:latin typeface="微软雅黑" panose="020B0503020204020204" charset="-122"/>
                <a:ea typeface="微软雅黑" panose="020B0503020204020204" charset="-122"/>
                <a:cs typeface="Times New Roman" panose="02020603050405020304" pitchFamily="18" charset="0"/>
                <a:sym typeface="+mn-ea"/>
              </a:rPr>
              <a:t> 知识本体包括概念、关系、标签、规则、模型等，在信息系统中发挥引导、制约的作用，在与软件的共同作用下，完成任务的过程制导、结果精准、效率倍增。</a:t>
            </a:r>
            <a:endParaRPr lang="zh-CN" altLang="en-US" sz="1400" b="1" kern="100" dirty="0">
              <a:solidFill>
                <a:schemeClr val="accent2"/>
              </a:solidFill>
              <a:latin typeface="微软雅黑" panose="020B0503020204020204" charset="-122"/>
              <a:ea typeface="微软雅黑" panose="020B0503020204020204" charset="-122"/>
              <a:cs typeface="Times New Roman" panose="02020603050405020304" pitchFamily="18" charset="0"/>
            </a:endParaRPr>
          </a:p>
        </p:txBody>
      </p:sp>
      <p:sp>
        <p:nvSpPr>
          <p:cNvPr id="16" name="文本框 15"/>
          <p:cNvSpPr txBox="1"/>
          <p:nvPr/>
        </p:nvSpPr>
        <p:spPr>
          <a:xfrm>
            <a:off x="119063" y="1407883"/>
            <a:ext cx="2438400" cy="2999740"/>
          </a:xfrm>
          <a:prstGeom prst="rect">
            <a:avLst/>
          </a:prstGeom>
          <a:noFill/>
        </p:spPr>
        <p:txBody>
          <a:bodyPr wrap="square" rtlCol="0">
            <a:spAutoFit/>
          </a:bodyPr>
          <a:lstStyle/>
          <a:p>
            <a:pPr>
              <a:lnSpc>
                <a:spcPct val="150000"/>
              </a:lnSpc>
            </a:pPr>
            <a:r>
              <a:rPr lang="zh-CN" altLang="en-US" sz="1400" kern="100" dirty="0">
                <a:effectLst/>
                <a:latin typeface="微软雅黑" panose="020B0503020204020204" charset="-122"/>
                <a:ea typeface="微软雅黑" panose="020B0503020204020204" charset="-122"/>
                <a:cs typeface="Times New Roman" panose="02020603050405020304" pitchFamily="18" charset="0"/>
              </a:rPr>
              <a:t>      </a:t>
            </a:r>
            <a:r>
              <a:rPr lang="zh-CN" altLang="en-US" sz="1400" kern="100" dirty="0">
                <a:effectLst/>
                <a:latin typeface="微软雅黑" panose="020B0503020204020204" charset="-122"/>
                <a:ea typeface="微软雅黑" panose="020B0503020204020204" charset="-122"/>
                <a:cs typeface="Times New Roman" panose="02020603050405020304" pitchFamily="18" charset="0"/>
                <a:sym typeface="+mn-ea"/>
              </a:rPr>
              <a:t>在任务范式顶层概念构建好的前提下，通过构建本体，从“线”上进行分级分类，从顶层“类”的概念逐步走向实例，完成顶层抽象的、一般的概念到现实具象的、个别的工程化应用的转换，实现范式向工程实践的演化、过渡。</a:t>
            </a:r>
            <a:endParaRPr lang="zh-CN" altLang="en-US" sz="1400" kern="100" dirty="0">
              <a:effectLst/>
              <a:latin typeface="微软雅黑" panose="020B0503020204020204" charset="-122"/>
              <a:ea typeface="微软雅黑" panose="020B0503020204020204" charset="-122"/>
              <a:cs typeface="Times New Roman" panose="02020603050405020304" pitchFamily="18" charset="0"/>
            </a:endParaRPr>
          </a:p>
        </p:txBody>
      </p:sp>
      <p:cxnSp>
        <p:nvCxnSpPr>
          <p:cNvPr id="17" name="直接连接符 16"/>
          <p:cNvCxnSpPr/>
          <p:nvPr/>
        </p:nvCxnSpPr>
        <p:spPr>
          <a:xfrm flipH="1">
            <a:off x="119064" y="4485180"/>
            <a:ext cx="2438836" cy="0"/>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3818890" y="4269105"/>
            <a:ext cx="915035" cy="6997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本体</a:t>
            </a:r>
          </a:p>
        </p:txBody>
      </p:sp>
      <p:sp>
        <p:nvSpPr>
          <p:cNvPr id="19" name="椭圆 18"/>
          <p:cNvSpPr/>
          <p:nvPr/>
        </p:nvSpPr>
        <p:spPr>
          <a:xfrm>
            <a:off x="3818890" y="3146425"/>
            <a:ext cx="915035" cy="6997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信息资源</a:t>
            </a:r>
          </a:p>
        </p:txBody>
      </p:sp>
      <p:sp>
        <p:nvSpPr>
          <p:cNvPr id="24" name="圆角矩形 23"/>
          <p:cNvSpPr/>
          <p:nvPr/>
        </p:nvSpPr>
        <p:spPr>
          <a:xfrm>
            <a:off x="5412105" y="3776980"/>
            <a:ext cx="1188000" cy="56134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知识标引</a:t>
            </a:r>
          </a:p>
        </p:txBody>
      </p:sp>
      <p:sp>
        <p:nvSpPr>
          <p:cNvPr id="25" name="圆角矩形 24"/>
          <p:cNvSpPr/>
          <p:nvPr/>
        </p:nvSpPr>
        <p:spPr>
          <a:xfrm>
            <a:off x="7186295" y="2092960"/>
            <a:ext cx="1188000" cy="56134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600">
                <a:latin typeface="微软雅黑" panose="020B0503020204020204" charset="-122"/>
                <a:ea typeface="微软雅黑" panose="020B0503020204020204" charset="-122"/>
              </a:rPr>
              <a:t>领域分类语料训练</a:t>
            </a:r>
          </a:p>
        </p:txBody>
      </p:sp>
      <p:sp>
        <p:nvSpPr>
          <p:cNvPr id="26" name="圆角矩形 25"/>
          <p:cNvSpPr/>
          <p:nvPr/>
        </p:nvSpPr>
        <p:spPr>
          <a:xfrm>
            <a:off x="7186295" y="3215640"/>
            <a:ext cx="1188000" cy="56134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600">
                <a:latin typeface="微软雅黑" panose="020B0503020204020204" charset="-122"/>
                <a:ea typeface="微软雅黑" panose="020B0503020204020204" charset="-122"/>
              </a:rPr>
              <a:t>体裁分类语料训练</a:t>
            </a:r>
          </a:p>
        </p:txBody>
      </p:sp>
      <p:sp>
        <p:nvSpPr>
          <p:cNvPr id="27" name="圆角矩形 26"/>
          <p:cNvSpPr/>
          <p:nvPr/>
        </p:nvSpPr>
        <p:spPr>
          <a:xfrm>
            <a:off x="5418455" y="2585085"/>
            <a:ext cx="1188000" cy="56134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语料库</a:t>
            </a:r>
          </a:p>
        </p:txBody>
      </p:sp>
      <p:sp>
        <p:nvSpPr>
          <p:cNvPr id="28" name="圆角矩形 27"/>
          <p:cNvSpPr/>
          <p:nvPr/>
        </p:nvSpPr>
        <p:spPr>
          <a:xfrm>
            <a:off x="7186295" y="4338320"/>
            <a:ext cx="1188000" cy="56134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600">
                <a:latin typeface="微软雅黑" panose="020B0503020204020204" charset="-122"/>
                <a:ea typeface="微软雅黑" panose="020B0503020204020204" charset="-122"/>
              </a:rPr>
              <a:t>知识单元数据标注</a:t>
            </a:r>
          </a:p>
        </p:txBody>
      </p:sp>
      <p:sp>
        <p:nvSpPr>
          <p:cNvPr id="30" name="圆角矩形 29"/>
          <p:cNvSpPr/>
          <p:nvPr/>
        </p:nvSpPr>
        <p:spPr>
          <a:xfrm>
            <a:off x="7186295" y="5461000"/>
            <a:ext cx="1188000" cy="56134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600">
                <a:latin typeface="微软雅黑" panose="020B0503020204020204" charset="-122"/>
                <a:ea typeface="微软雅黑" panose="020B0503020204020204" charset="-122"/>
              </a:rPr>
              <a:t>问答知识抽取</a:t>
            </a:r>
          </a:p>
        </p:txBody>
      </p:sp>
      <p:sp>
        <p:nvSpPr>
          <p:cNvPr id="49" name="圆角矩形 48"/>
          <p:cNvSpPr/>
          <p:nvPr/>
        </p:nvSpPr>
        <p:spPr>
          <a:xfrm>
            <a:off x="3559175" y="2519680"/>
            <a:ext cx="1368425" cy="3216910"/>
          </a:xfrm>
          <a:prstGeom prst="roundRect">
            <a:avLst/>
          </a:prstGeom>
          <a:noFill/>
          <a:ln>
            <a:solidFill>
              <a:schemeClr val="accent2"/>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455" y="4968875"/>
            <a:ext cx="1188000" cy="56134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规则库</a:t>
            </a:r>
          </a:p>
        </p:txBody>
      </p:sp>
      <p:sp>
        <p:nvSpPr>
          <p:cNvPr id="9" name="右箭头 8"/>
          <p:cNvSpPr/>
          <p:nvPr/>
        </p:nvSpPr>
        <p:spPr>
          <a:xfrm>
            <a:off x="4927600" y="3848735"/>
            <a:ext cx="469900" cy="42037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上箭头 13"/>
          <p:cNvSpPr/>
          <p:nvPr/>
        </p:nvSpPr>
        <p:spPr>
          <a:xfrm>
            <a:off x="5861050" y="3181350"/>
            <a:ext cx="302260" cy="396000"/>
          </a:xfrm>
          <a:prstGeom prst="up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1" name="下箭头 20"/>
          <p:cNvSpPr/>
          <p:nvPr/>
        </p:nvSpPr>
        <p:spPr>
          <a:xfrm>
            <a:off x="5861050" y="4483735"/>
            <a:ext cx="302260" cy="396000"/>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cxnSp>
        <p:nvCxnSpPr>
          <p:cNvPr id="22" name="直接箭头连接符 21"/>
          <p:cNvCxnSpPr>
            <a:stCxn id="24" idx="3"/>
            <a:endCxn id="25" idx="1"/>
          </p:cNvCxnSpPr>
          <p:nvPr/>
        </p:nvCxnSpPr>
        <p:spPr>
          <a:xfrm flipV="1">
            <a:off x="6600190" y="2373630"/>
            <a:ext cx="586105" cy="1684020"/>
          </a:xfrm>
          <a:prstGeom prst="straightConnector1">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33" name="直接箭头连接符 32"/>
          <p:cNvCxnSpPr>
            <a:stCxn id="24" idx="3"/>
            <a:endCxn id="26" idx="1"/>
          </p:cNvCxnSpPr>
          <p:nvPr/>
        </p:nvCxnSpPr>
        <p:spPr>
          <a:xfrm flipV="1">
            <a:off x="6600190" y="3496310"/>
            <a:ext cx="586105" cy="561340"/>
          </a:xfrm>
          <a:prstGeom prst="straightConnector1">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34" name="直接箭头连接符 33"/>
          <p:cNvCxnSpPr>
            <a:stCxn id="24" idx="3"/>
            <a:endCxn id="28" idx="1"/>
          </p:cNvCxnSpPr>
          <p:nvPr/>
        </p:nvCxnSpPr>
        <p:spPr>
          <a:xfrm>
            <a:off x="6600190" y="4057650"/>
            <a:ext cx="586105" cy="561340"/>
          </a:xfrm>
          <a:prstGeom prst="straightConnector1">
            <a:avLst/>
          </a:prstGeom>
          <a:ln w="28575">
            <a:tailEnd type="arrow" w="med" len="med"/>
          </a:ln>
        </p:spPr>
        <p:style>
          <a:lnRef idx="1">
            <a:schemeClr val="accent2"/>
          </a:lnRef>
          <a:fillRef idx="0">
            <a:schemeClr val="accent2"/>
          </a:fillRef>
          <a:effectRef idx="0">
            <a:schemeClr val="accent2"/>
          </a:effectRef>
          <a:fontRef idx="minor">
            <a:schemeClr val="tx1"/>
          </a:fontRef>
        </p:style>
      </p:cxnSp>
      <p:cxnSp>
        <p:nvCxnSpPr>
          <p:cNvPr id="35" name="直接箭头连接符 34"/>
          <p:cNvCxnSpPr>
            <a:stCxn id="24" idx="3"/>
            <a:endCxn id="30" idx="1"/>
          </p:cNvCxnSpPr>
          <p:nvPr/>
        </p:nvCxnSpPr>
        <p:spPr>
          <a:xfrm>
            <a:off x="6600190" y="4057650"/>
            <a:ext cx="586105" cy="1684020"/>
          </a:xfrm>
          <a:prstGeom prst="straightConnector1">
            <a:avLst/>
          </a:prstGeom>
          <a:ln w="28575">
            <a:tailEnd type="arrow" w="med" len="med"/>
          </a:ln>
        </p:spPr>
        <p:style>
          <a:lnRef idx="1">
            <a:schemeClr val="accent2"/>
          </a:lnRef>
          <a:fillRef idx="0">
            <a:schemeClr val="accent2"/>
          </a:fillRef>
          <a:effectRef idx="0">
            <a:schemeClr val="accent2"/>
          </a:effectRef>
          <a:fontRef idx="minor">
            <a:schemeClr val="tx1"/>
          </a:fontRef>
        </p:style>
      </p:cxnSp>
      <p:sp>
        <p:nvSpPr>
          <p:cNvPr id="43" name="右大括号 42"/>
          <p:cNvSpPr/>
          <p:nvPr/>
        </p:nvSpPr>
        <p:spPr>
          <a:xfrm>
            <a:off x="8362950" y="2373630"/>
            <a:ext cx="455930" cy="2245360"/>
          </a:xfrm>
          <a:prstGeom prst="rightBrace">
            <a:avLst>
              <a:gd name="adj1" fmla="val 8333"/>
              <a:gd name="adj2" fmla="val 49604"/>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sz="1600">
              <a:latin typeface="微软雅黑" panose="020B0503020204020204" charset="-122"/>
              <a:ea typeface="微软雅黑" panose="020B0503020204020204" charset="-122"/>
            </a:endParaRPr>
          </a:p>
        </p:txBody>
      </p:sp>
      <p:graphicFrame>
        <p:nvGraphicFramePr>
          <p:cNvPr id="55" name="图示 54"/>
          <p:cNvGraphicFramePr/>
          <p:nvPr/>
        </p:nvGraphicFramePr>
        <p:xfrm>
          <a:off x="8903335" y="1381125"/>
          <a:ext cx="3147695" cy="35502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7" name="文本框 56"/>
          <p:cNvSpPr txBox="1"/>
          <p:nvPr/>
        </p:nvSpPr>
        <p:spPr>
          <a:xfrm>
            <a:off x="8855075" y="4920615"/>
            <a:ext cx="1008000" cy="337185"/>
          </a:xfrm>
          <a:prstGeom prst="rect">
            <a:avLst/>
          </a:prstGeom>
          <a:solidFill>
            <a:schemeClr val="accent2"/>
          </a:solidFill>
        </p:spPr>
        <p:txBody>
          <a:bodyPr wrap="none" rtlCol="0" anchor="t">
            <a:spAutoFit/>
          </a:bodyPr>
          <a:lstStyle/>
          <a:p>
            <a:r>
              <a:rPr lang="zh-CN" altLang="en-US" sz="1600">
                <a:solidFill>
                  <a:schemeClr val="bg1"/>
                </a:solidFill>
                <a:latin typeface="微软雅黑" panose="020B0503020204020204" charset="-122"/>
                <a:ea typeface="微软雅黑" panose="020B0503020204020204" charset="-122"/>
                <a:sym typeface="+mn-ea"/>
              </a:rPr>
              <a:t>问答范围</a:t>
            </a:r>
          </a:p>
        </p:txBody>
      </p:sp>
      <p:sp>
        <p:nvSpPr>
          <p:cNvPr id="58" name="文本框 57"/>
          <p:cNvSpPr txBox="1"/>
          <p:nvPr/>
        </p:nvSpPr>
        <p:spPr>
          <a:xfrm>
            <a:off x="8855075" y="5572760"/>
            <a:ext cx="1008000" cy="337185"/>
          </a:xfrm>
          <a:prstGeom prst="rect">
            <a:avLst/>
          </a:prstGeom>
          <a:solidFill>
            <a:schemeClr val="accent2"/>
          </a:solidFill>
        </p:spPr>
        <p:txBody>
          <a:bodyPr wrap="square" rtlCol="0" anchor="t">
            <a:spAutoFit/>
          </a:bodyPr>
          <a:lstStyle/>
          <a:p>
            <a:r>
              <a:rPr lang="zh-CN" altLang="en-US" sz="1600">
                <a:solidFill>
                  <a:schemeClr val="bg1"/>
                </a:solidFill>
                <a:latin typeface="微软雅黑" panose="020B0503020204020204" charset="-122"/>
                <a:ea typeface="微软雅黑" panose="020B0503020204020204" charset="-122"/>
                <a:sym typeface="+mn-ea"/>
              </a:rPr>
              <a:t>问答知识</a:t>
            </a:r>
          </a:p>
        </p:txBody>
      </p:sp>
      <p:sp>
        <p:nvSpPr>
          <p:cNvPr id="59" name="文本框 58"/>
          <p:cNvSpPr txBox="1"/>
          <p:nvPr/>
        </p:nvSpPr>
        <p:spPr>
          <a:xfrm>
            <a:off x="8855075" y="6217285"/>
            <a:ext cx="1008000" cy="337185"/>
          </a:xfrm>
          <a:prstGeom prst="rect">
            <a:avLst/>
          </a:prstGeom>
          <a:solidFill>
            <a:schemeClr val="accent2"/>
          </a:solidFill>
        </p:spPr>
        <p:txBody>
          <a:bodyPr wrap="square" rtlCol="0" anchor="t">
            <a:spAutoFit/>
          </a:bodyPr>
          <a:lstStyle/>
          <a:p>
            <a:r>
              <a:rPr lang="zh-CN" altLang="en-US" sz="1600">
                <a:solidFill>
                  <a:schemeClr val="bg1"/>
                </a:solidFill>
                <a:latin typeface="微软雅黑" panose="020B0503020204020204" charset="-122"/>
                <a:ea typeface="微软雅黑" panose="020B0503020204020204" charset="-122"/>
                <a:sym typeface="+mn-ea"/>
              </a:rPr>
              <a:t>问答标签</a:t>
            </a:r>
          </a:p>
        </p:txBody>
      </p:sp>
      <p:sp>
        <p:nvSpPr>
          <p:cNvPr id="60" name="文本框 59"/>
          <p:cNvSpPr txBox="1"/>
          <p:nvPr/>
        </p:nvSpPr>
        <p:spPr>
          <a:xfrm>
            <a:off x="10165080" y="4859020"/>
            <a:ext cx="1791335" cy="460375"/>
          </a:xfrm>
          <a:prstGeom prst="rect">
            <a:avLst/>
          </a:prstGeom>
          <a:solidFill>
            <a:schemeClr val="accent2"/>
          </a:solidFill>
        </p:spPr>
        <p:txBody>
          <a:bodyPr wrap="square" rtlCol="0" anchor="t">
            <a:spAutoFit/>
          </a:bodyPr>
          <a:lstStyle/>
          <a:p>
            <a:r>
              <a:rPr lang="zh-CN" altLang="en-US" sz="1200">
                <a:solidFill>
                  <a:schemeClr val="bg1"/>
                </a:solidFill>
                <a:latin typeface="微软雅黑" panose="020B0503020204020204" charset="-122"/>
                <a:ea typeface="微软雅黑" panose="020B0503020204020204" charset="-122"/>
                <a:sym typeface="+mn-ea"/>
              </a:rPr>
              <a:t>项目管理</a:t>
            </a:r>
            <a:r>
              <a:rPr lang="en-US" altLang="zh-CN" sz="1200">
                <a:solidFill>
                  <a:schemeClr val="bg1"/>
                </a:solidFill>
                <a:latin typeface="微软雅黑" panose="020B0503020204020204" charset="-122"/>
                <a:ea typeface="微软雅黑" panose="020B0503020204020204" charset="-122"/>
                <a:sym typeface="+mn-ea"/>
              </a:rPr>
              <a:t> | IT</a:t>
            </a:r>
            <a:r>
              <a:rPr lang="zh-CN" altLang="en-US" sz="1200">
                <a:solidFill>
                  <a:schemeClr val="bg1"/>
                </a:solidFill>
                <a:latin typeface="微软雅黑" panose="020B0503020204020204" charset="-122"/>
                <a:ea typeface="微软雅黑" panose="020B0503020204020204" charset="-122"/>
                <a:sym typeface="+mn-ea"/>
              </a:rPr>
              <a:t>运维</a:t>
            </a:r>
            <a:r>
              <a:rPr lang="en-US" altLang="zh-CN" sz="1200">
                <a:solidFill>
                  <a:schemeClr val="bg1"/>
                </a:solidFill>
                <a:latin typeface="微软雅黑" panose="020B0503020204020204" charset="-122"/>
                <a:ea typeface="微软雅黑" panose="020B0503020204020204" charset="-122"/>
                <a:sym typeface="+mn-ea"/>
              </a:rPr>
              <a:t> | </a:t>
            </a:r>
            <a:r>
              <a:rPr lang="zh-CN" altLang="en-US" sz="1200">
                <a:solidFill>
                  <a:schemeClr val="bg1"/>
                </a:solidFill>
                <a:latin typeface="微软雅黑" panose="020B0503020204020204" charset="-122"/>
                <a:ea typeface="微软雅黑" panose="020B0503020204020204" charset="-122"/>
                <a:sym typeface="+mn-ea"/>
              </a:rPr>
              <a:t>党务管理</a:t>
            </a:r>
            <a:r>
              <a:rPr lang="en-US" altLang="zh-CN" sz="1200">
                <a:solidFill>
                  <a:schemeClr val="bg1"/>
                </a:solidFill>
                <a:latin typeface="微软雅黑" panose="020B0503020204020204" charset="-122"/>
                <a:ea typeface="微软雅黑" panose="020B0503020204020204" charset="-122"/>
                <a:sym typeface="+mn-ea"/>
              </a:rPr>
              <a:t> | </a:t>
            </a:r>
            <a:r>
              <a:rPr lang="zh-CN" altLang="en-US" sz="1200">
                <a:solidFill>
                  <a:schemeClr val="bg1"/>
                </a:solidFill>
                <a:latin typeface="微软雅黑" panose="020B0503020204020204" charset="-122"/>
                <a:ea typeface="微软雅黑" panose="020B0503020204020204" charset="-122"/>
                <a:sym typeface="+mn-ea"/>
              </a:rPr>
              <a:t>国家安全</a:t>
            </a:r>
            <a:r>
              <a:rPr lang="en-US" altLang="zh-CN" sz="1200">
                <a:solidFill>
                  <a:schemeClr val="bg1"/>
                </a:solidFill>
                <a:latin typeface="微软雅黑" panose="020B0503020204020204" charset="-122"/>
                <a:ea typeface="微软雅黑" panose="020B0503020204020204" charset="-122"/>
                <a:sym typeface="+mn-ea"/>
              </a:rPr>
              <a:t> | ......</a:t>
            </a:r>
          </a:p>
        </p:txBody>
      </p:sp>
      <p:sp>
        <p:nvSpPr>
          <p:cNvPr id="61" name="文本框 60"/>
          <p:cNvSpPr txBox="1"/>
          <p:nvPr/>
        </p:nvSpPr>
        <p:spPr>
          <a:xfrm>
            <a:off x="10165080" y="5511800"/>
            <a:ext cx="1791335" cy="460375"/>
          </a:xfrm>
          <a:prstGeom prst="rect">
            <a:avLst/>
          </a:prstGeom>
          <a:solidFill>
            <a:schemeClr val="accent2"/>
          </a:solidFill>
        </p:spPr>
        <p:txBody>
          <a:bodyPr wrap="square" rtlCol="0" anchor="t">
            <a:spAutoFit/>
          </a:bodyPr>
          <a:lstStyle/>
          <a:p>
            <a:r>
              <a:rPr lang="zh-CN" altLang="en-US" sz="1200">
                <a:solidFill>
                  <a:schemeClr val="bg1"/>
                </a:solidFill>
                <a:latin typeface="微软雅黑" panose="020B0503020204020204" charset="-122"/>
                <a:ea typeface="微软雅黑" panose="020B0503020204020204" charset="-122"/>
                <a:sym typeface="+mn-ea"/>
              </a:rPr>
              <a:t>定义类</a:t>
            </a:r>
            <a:r>
              <a:rPr lang="en-US" altLang="zh-CN" sz="1200">
                <a:solidFill>
                  <a:schemeClr val="bg1"/>
                </a:solidFill>
                <a:latin typeface="微软雅黑" panose="020B0503020204020204" charset="-122"/>
                <a:ea typeface="微软雅黑" panose="020B0503020204020204" charset="-122"/>
                <a:sym typeface="+mn-ea"/>
              </a:rPr>
              <a:t> | </a:t>
            </a:r>
            <a:r>
              <a:rPr lang="zh-CN" altLang="en-US" sz="1200">
                <a:solidFill>
                  <a:schemeClr val="bg1"/>
                </a:solidFill>
                <a:latin typeface="微软雅黑" panose="020B0503020204020204" charset="-122"/>
                <a:ea typeface="微软雅黑" panose="020B0503020204020204" charset="-122"/>
                <a:sym typeface="+mn-ea"/>
              </a:rPr>
              <a:t>原因类</a:t>
            </a:r>
            <a:r>
              <a:rPr lang="en-US" altLang="zh-CN" sz="1200">
                <a:solidFill>
                  <a:schemeClr val="bg1"/>
                </a:solidFill>
                <a:latin typeface="微软雅黑" panose="020B0503020204020204" charset="-122"/>
                <a:ea typeface="微软雅黑" panose="020B0503020204020204" charset="-122"/>
                <a:sym typeface="+mn-ea"/>
              </a:rPr>
              <a:t> | </a:t>
            </a:r>
            <a:r>
              <a:rPr lang="zh-CN" altLang="en-US" sz="1200">
                <a:solidFill>
                  <a:schemeClr val="bg1"/>
                </a:solidFill>
                <a:latin typeface="微软雅黑" panose="020B0503020204020204" charset="-122"/>
                <a:ea typeface="微软雅黑" panose="020B0503020204020204" charset="-122"/>
                <a:sym typeface="+mn-ea"/>
              </a:rPr>
              <a:t>方式类</a:t>
            </a:r>
            <a:r>
              <a:rPr lang="en-US" altLang="zh-CN" sz="1200">
                <a:solidFill>
                  <a:schemeClr val="bg1"/>
                </a:solidFill>
                <a:latin typeface="微软雅黑" panose="020B0503020204020204" charset="-122"/>
                <a:ea typeface="微软雅黑" panose="020B0503020204020204" charset="-122"/>
                <a:sym typeface="+mn-ea"/>
              </a:rPr>
              <a:t> | </a:t>
            </a:r>
            <a:r>
              <a:rPr lang="zh-CN" altLang="en-US" sz="1200">
                <a:solidFill>
                  <a:schemeClr val="bg1"/>
                </a:solidFill>
                <a:latin typeface="微软雅黑" panose="020B0503020204020204" charset="-122"/>
                <a:ea typeface="微软雅黑" panose="020B0503020204020204" charset="-122"/>
                <a:sym typeface="+mn-ea"/>
              </a:rPr>
              <a:t>判断类</a:t>
            </a:r>
            <a:r>
              <a:rPr lang="en-US" altLang="zh-CN" sz="1200">
                <a:solidFill>
                  <a:schemeClr val="bg1"/>
                </a:solidFill>
                <a:latin typeface="微软雅黑" panose="020B0503020204020204" charset="-122"/>
                <a:ea typeface="微软雅黑" panose="020B0503020204020204" charset="-122"/>
                <a:sym typeface="+mn-ea"/>
              </a:rPr>
              <a:t> | </a:t>
            </a:r>
            <a:r>
              <a:rPr lang="zh-CN" altLang="en-US" sz="1200">
                <a:solidFill>
                  <a:schemeClr val="bg1"/>
                </a:solidFill>
                <a:latin typeface="微软雅黑" panose="020B0503020204020204" charset="-122"/>
                <a:ea typeface="微软雅黑" panose="020B0503020204020204" charset="-122"/>
                <a:sym typeface="+mn-ea"/>
              </a:rPr>
              <a:t>文件类</a:t>
            </a:r>
            <a:r>
              <a:rPr lang="en-US" altLang="zh-CN" sz="1200">
                <a:solidFill>
                  <a:schemeClr val="bg1"/>
                </a:solidFill>
                <a:latin typeface="微软雅黑" panose="020B0503020204020204" charset="-122"/>
                <a:ea typeface="微软雅黑" panose="020B0503020204020204" charset="-122"/>
                <a:sym typeface="+mn-ea"/>
              </a:rPr>
              <a:t> |......</a:t>
            </a:r>
          </a:p>
        </p:txBody>
      </p:sp>
      <p:sp>
        <p:nvSpPr>
          <p:cNvPr id="62" name="文本框 61"/>
          <p:cNvSpPr txBox="1"/>
          <p:nvPr/>
        </p:nvSpPr>
        <p:spPr>
          <a:xfrm>
            <a:off x="10165080" y="6155690"/>
            <a:ext cx="1791335" cy="460375"/>
          </a:xfrm>
          <a:prstGeom prst="rect">
            <a:avLst/>
          </a:prstGeom>
          <a:solidFill>
            <a:schemeClr val="accent2"/>
          </a:solidFill>
        </p:spPr>
        <p:txBody>
          <a:bodyPr wrap="square" rtlCol="0" anchor="t">
            <a:spAutoFit/>
          </a:bodyPr>
          <a:lstStyle/>
          <a:p>
            <a:r>
              <a:rPr lang="zh-CN" altLang="en-US" sz="1200">
                <a:solidFill>
                  <a:schemeClr val="bg1"/>
                </a:solidFill>
                <a:latin typeface="微软雅黑" panose="020B0503020204020204" charset="-122"/>
                <a:ea typeface="微软雅黑" panose="020B0503020204020204" charset="-122"/>
                <a:sym typeface="+mn-ea"/>
              </a:rPr>
              <a:t>主体</a:t>
            </a:r>
            <a:r>
              <a:rPr lang="en-US" altLang="zh-CN" sz="1200">
                <a:solidFill>
                  <a:schemeClr val="bg1"/>
                </a:solidFill>
                <a:latin typeface="微软雅黑" panose="020B0503020204020204" charset="-122"/>
                <a:ea typeface="微软雅黑" panose="020B0503020204020204" charset="-122"/>
                <a:sym typeface="+mn-ea"/>
              </a:rPr>
              <a:t> | </a:t>
            </a:r>
            <a:r>
              <a:rPr lang="zh-CN" altLang="en-US" sz="1200">
                <a:solidFill>
                  <a:schemeClr val="bg1"/>
                </a:solidFill>
                <a:latin typeface="微软雅黑" panose="020B0503020204020204" charset="-122"/>
                <a:ea typeface="微软雅黑" panose="020B0503020204020204" charset="-122"/>
                <a:sym typeface="+mn-ea"/>
              </a:rPr>
              <a:t>行为</a:t>
            </a:r>
            <a:r>
              <a:rPr lang="en-US" altLang="zh-CN" sz="1200">
                <a:solidFill>
                  <a:schemeClr val="bg1"/>
                </a:solidFill>
                <a:latin typeface="微软雅黑" panose="020B0503020204020204" charset="-122"/>
                <a:ea typeface="微软雅黑" panose="020B0503020204020204" charset="-122"/>
                <a:sym typeface="+mn-ea"/>
              </a:rPr>
              <a:t> | </a:t>
            </a:r>
            <a:r>
              <a:rPr lang="zh-CN" altLang="en-US" sz="1200">
                <a:solidFill>
                  <a:schemeClr val="bg1"/>
                </a:solidFill>
                <a:latin typeface="微软雅黑" panose="020B0503020204020204" charset="-122"/>
                <a:ea typeface="微软雅黑" panose="020B0503020204020204" charset="-122"/>
                <a:sym typeface="+mn-ea"/>
              </a:rPr>
              <a:t>客体</a:t>
            </a:r>
            <a:r>
              <a:rPr lang="en-US" altLang="zh-CN" sz="1200">
                <a:solidFill>
                  <a:schemeClr val="bg1"/>
                </a:solidFill>
                <a:latin typeface="微软雅黑" panose="020B0503020204020204" charset="-122"/>
                <a:ea typeface="微软雅黑" panose="020B0503020204020204" charset="-122"/>
                <a:sym typeface="+mn-ea"/>
              </a:rPr>
              <a:t> | </a:t>
            </a:r>
            <a:r>
              <a:rPr lang="zh-CN" altLang="en-US" sz="1200">
                <a:solidFill>
                  <a:schemeClr val="bg1"/>
                </a:solidFill>
                <a:latin typeface="微软雅黑" panose="020B0503020204020204" charset="-122"/>
                <a:ea typeface="微软雅黑" panose="020B0503020204020204" charset="-122"/>
                <a:sym typeface="+mn-ea"/>
              </a:rPr>
              <a:t>时间</a:t>
            </a:r>
            <a:r>
              <a:rPr lang="en-US" altLang="zh-CN" sz="1200">
                <a:solidFill>
                  <a:schemeClr val="bg1"/>
                </a:solidFill>
                <a:latin typeface="微软雅黑" panose="020B0503020204020204" charset="-122"/>
                <a:ea typeface="微软雅黑" panose="020B0503020204020204" charset="-122"/>
                <a:sym typeface="+mn-ea"/>
              </a:rPr>
              <a:t> | </a:t>
            </a:r>
            <a:r>
              <a:rPr lang="zh-CN" altLang="en-US" sz="1200">
                <a:solidFill>
                  <a:schemeClr val="bg1"/>
                </a:solidFill>
                <a:latin typeface="微软雅黑" panose="020B0503020204020204" charset="-122"/>
                <a:ea typeface="微软雅黑" panose="020B0503020204020204" charset="-122"/>
                <a:sym typeface="+mn-ea"/>
              </a:rPr>
              <a:t>空间</a:t>
            </a:r>
            <a:r>
              <a:rPr lang="en-US" altLang="zh-CN" sz="1200">
                <a:solidFill>
                  <a:schemeClr val="bg1"/>
                </a:solidFill>
                <a:latin typeface="微软雅黑" panose="020B0503020204020204" charset="-122"/>
                <a:ea typeface="微软雅黑" panose="020B0503020204020204" charset="-122"/>
                <a:sym typeface="+mn-ea"/>
              </a:rPr>
              <a:t> | </a:t>
            </a:r>
            <a:r>
              <a:rPr lang="zh-CN" altLang="en-US" sz="1200">
                <a:solidFill>
                  <a:schemeClr val="bg1"/>
                </a:solidFill>
                <a:latin typeface="微软雅黑" panose="020B0503020204020204" charset="-122"/>
                <a:ea typeface="微软雅黑" panose="020B0503020204020204" charset="-122"/>
                <a:sym typeface="+mn-ea"/>
              </a:rPr>
              <a:t>问题</a:t>
            </a:r>
            <a:r>
              <a:rPr lang="en-US" altLang="zh-CN" sz="1200">
                <a:solidFill>
                  <a:schemeClr val="bg1"/>
                </a:solidFill>
                <a:latin typeface="微软雅黑" panose="020B0503020204020204" charset="-122"/>
                <a:ea typeface="微软雅黑" panose="020B0503020204020204" charset="-122"/>
                <a:sym typeface="+mn-ea"/>
              </a:rPr>
              <a:t> | </a:t>
            </a:r>
            <a:r>
              <a:rPr lang="zh-CN" altLang="en-US" sz="1200">
                <a:solidFill>
                  <a:schemeClr val="bg1"/>
                </a:solidFill>
                <a:latin typeface="微软雅黑" panose="020B0503020204020204" charset="-122"/>
                <a:ea typeface="微软雅黑" panose="020B0503020204020204" charset="-122"/>
                <a:sym typeface="+mn-ea"/>
              </a:rPr>
              <a:t>指标</a:t>
            </a:r>
          </a:p>
        </p:txBody>
      </p:sp>
      <p:cxnSp>
        <p:nvCxnSpPr>
          <p:cNvPr id="64" name="直接连接符 63"/>
          <p:cNvCxnSpPr>
            <a:stCxn id="30" idx="3"/>
            <a:endCxn id="57" idx="1"/>
          </p:cNvCxnSpPr>
          <p:nvPr/>
        </p:nvCxnSpPr>
        <p:spPr>
          <a:xfrm flipV="1">
            <a:off x="8374380" y="5089525"/>
            <a:ext cx="480695" cy="652145"/>
          </a:xfrm>
          <a:prstGeom prst="line">
            <a:avLst/>
          </a:prstGeom>
          <a:ln w="28575">
            <a:tailEnd type="arrow"/>
          </a:ln>
        </p:spPr>
        <p:style>
          <a:lnRef idx="1">
            <a:schemeClr val="accent2"/>
          </a:lnRef>
          <a:fillRef idx="0">
            <a:schemeClr val="accent2"/>
          </a:fillRef>
          <a:effectRef idx="0">
            <a:schemeClr val="accent2"/>
          </a:effectRef>
          <a:fontRef idx="minor">
            <a:schemeClr val="tx1"/>
          </a:fontRef>
        </p:style>
      </p:cxnSp>
      <p:cxnSp>
        <p:nvCxnSpPr>
          <p:cNvPr id="65" name="直接连接符 64"/>
          <p:cNvCxnSpPr>
            <a:stCxn id="30" idx="3"/>
            <a:endCxn id="58" idx="1"/>
          </p:cNvCxnSpPr>
          <p:nvPr/>
        </p:nvCxnSpPr>
        <p:spPr>
          <a:xfrm>
            <a:off x="8374380" y="5741670"/>
            <a:ext cx="480695" cy="0"/>
          </a:xfrm>
          <a:prstGeom prst="line">
            <a:avLst/>
          </a:prstGeom>
          <a:ln w="28575">
            <a:tailEnd type="arrow"/>
          </a:ln>
        </p:spPr>
        <p:style>
          <a:lnRef idx="1">
            <a:schemeClr val="accent2"/>
          </a:lnRef>
          <a:fillRef idx="0">
            <a:schemeClr val="accent2"/>
          </a:fillRef>
          <a:effectRef idx="0">
            <a:schemeClr val="accent2"/>
          </a:effectRef>
          <a:fontRef idx="minor">
            <a:schemeClr val="tx1"/>
          </a:fontRef>
        </p:style>
      </p:cxnSp>
      <p:cxnSp>
        <p:nvCxnSpPr>
          <p:cNvPr id="66" name="直接连接符 65"/>
          <p:cNvCxnSpPr>
            <a:endCxn id="59" idx="1"/>
          </p:cNvCxnSpPr>
          <p:nvPr/>
        </p:nvCxnSpPr>
        <p:spPr>
          <a:xfrm>
            <a:off x="8374380" y="5768340"/>
            <a:ext cx="480695" cy="617855"/>
          </a:xfrm>
          <a:prstGeom prst="line">
            <a:avLst/>
          </a:prstGeom>
          <a:ln w="28575">
            <a:tailEnd type="arrow"/>
          </a:ln>
        </p:spPr>
        <p:style>
          <a:lnRef idx="1">
            <a:schemeClr val="accent2"/>
          </a:lnRef>
          <a:fillRef idx="0">
            <a:schemeClr val="accent2"/>
          </a:fillRef>
          <a:effectRef idx="0">
            <a:schemeClr val="accent2"/>
          </a:effectRef>
          <a:fontRef idx="minor">
            <a:schemeClr val="tx1"/>
          </a:fontRef>
        </p:style>
      </p:cxnSp>
      <p:cxnSp>
        <p:nvCxnSpPr>
          <p:cNvPr id="67" name="直接连接符 66"/>
          <p:cNvCxnSpPr>
            <a:stCxn id="57" idx="3"/>
            <a:endCxn id="60" idx="1"/>
          </p:cNvCxnSpPr>
          <p:nvPr/>
        </p:nvCxnSpPr>
        <p:spPr>
          <a:xfrm>
            <a:off x="9862820" y="5089525"/>
            <a:ext cx="302260" cy="0"/>
          </a:xfrm>
          <a:prstGeom prst="line">
            <a:avLst/>
          </a:prstGeom>
          <a:ln w="28575">
            <a:tailEnd type="arrow"/>
          </a:ln>
        </p:spPr>
        <p:style>
          <a:lnRef idx="1">
            <a:schemeClr val="accent2"/>
          </a:lnRef>
          <a:fillRef idx="0">
            <a:schemeClr val="accent2"/>
          </a:fillRef>
          <a:effectRef idx="0">
            <a:schemeClr val="accent2"/>
          </a:effectRef>
          <a:fontRef idx="minor">
            <a:schemeClr val="tx1"/>
          </a:fontRef>
        </p:style>
      </p:cxnSp>
      <p:cxnSp>
        <p:nvCxnSpPr>
          <p:cNvPr id="68" name="直接连接符 67"/>
          <p:cNvCxnSpPr>
            <a:stCxn id="58" idx="3"/>
            <a:endCxn id="61" idx="1"/>
          </p:cNvCxnSpPr>
          <p:nvPr/>
        </p:nvCxnSpPr>
        <p:spPr>
          <a:xfrm>
            <a:off x="9862820" y="5741670"/>
            <a:ext cx="302260" cy="635"/>
          </a:xfrm>
          <a:prstGeom prst="line">
            <a:avLst/>
          </a:prstGeom>
          <a:ln w="28575">
            <a:tailEnd type="arrow"/>
          </a:ln>
        </p:spPr>
        <p:style>
          <a:lnRef idx="1">
            <a:schemeClr val="accent2"/>
          </a:lnRef>
          <a:fillRef idx="0">
            <a:schemeClr val="accent2"/>
          </a:fillRef>
          <a:effectRef idx="0">
            <a:schemeClr val="accent2"/>
          </a:effectRef>
          <a:fontRef idx="minor">
            <a:schemeClr val="tx1"/>
          </a:fontRef>
        </p:style>
      </p:cxnSp>
      <p:cxnSp>
        <p:nvCxnSpPr>
          <p:cNvPr id="69" name="直接连接符 68"/>
          <p:cNvCxnSpPr>
            <a:stCxn id="59" idx="3"/>
            <a:endCxn id="62" idx="1"/>
          </p:cNvCxnSpPr>
          <p:nvPr/>
        </p:nvCxnSpPr>
        <p:spPr>
          <a:xfrm>
            <a:off x="9862820" y="6395085"/>
            <a:ext cx="302260" cy="0"/>
          </a:xfrm>
          <a:prstGeom prst="line">
            <a:avLst/>
          </a:prstGeom>
          <a:ln w="28575">
            <a:tailEnd type="arrow"/>
          </a:ln>
        </p:spPr>
        <p:style>
          <a:lnRef idx="1">
            <a:schemeClr val="accent2"/>
          </a:lnRef>
          <a:fillRef idx="0">
            <a:schemeClr val="accent2"/>
          </a:fillRef>
          <a:effectRef idx="0">
            <a:schemeClr val="accent2"/>
          </a:effectRef>
          <a:fontRef idx="minor">
            <a:schemeClr val="tx1"/>
          </a:fontRef>
        </p:style>
      </p:cxnSp>
      <p:cxnSp>
        <p:nvCxnSpPr>
          <p:cNvPr id="73" name="曲线连接符 72"/>
          <p:cNvCxnSpPr>
            <a:stCxn id="71" idx="0"/>
            <a:endCxn id="27" idx="0"/>
          </p:cNvCxnSpPr>
          <p:nvPr/>
        </p:nvCxnSpPr>
        <p:spPr>
          <a:xfrm rot="16200000" flipH="1" flipV="1">
            <a:off x="6479540" y="1333500"/>
            <a:ext cx="784860" cy="1718945"/>
          </a:xfrm>
          <a:prstGeom prst="curvedConnector3">
            <a:avLst>
              <a:gd name="adj1" fmla="val -22046"/>
            </a:avLst>
          </a:prstGeom>
          <a:ln w="44450">
            <a:headEnd type="triangl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74" name="曲线连接符 73"/>
          <p:cNvCxnSpPr>
            <a:stCxn id="71" idx="2"/>
            <a:endCxn id="3" idx="2"/>
          </p:cNvCxnSpPr>
          <p:nvPr/>
        </p:nvCxnSpPr>
        <p:spPr>
          <a:xfrm rot="5400000" flipH="1">
            <a:off x="6457950" y="5084445"/>
            <a:ext cx="828040" cy="1718945"/>
          </a:xfrm>
          <a:prstGeom prst="curvedConnector3">
            <a:avLst>
              <a:gd name="adj1" fmla="val -16679"/>
            </a:avLst>
          </a:prstGeom>
          <a:ln w="44450">
            <a:headEnd type="triangle" w="med" len="med"/>
            <a:tailEnd type="triangle" w="med" len="med"/>
          </a:ln>
        </p:spPr>
        <p:style>
          <a:lnRef idx="1">
            <a:schemeClr val="accent2"/>
          </a:lnRef>
          <a:fillRef idx="0">
            <a:schemeClr val="accent2"/>
          </a:fillRef>
          <a:effectRef idx="0">
            <a:schemeClr val="accent2"/>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2557900" y="1399141"/>
            <a:ext cx="0" cy="5090559"/>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119064" y="4485180"/>
            <a:ext cx="2438836" cy="0"/>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4" name="椭圆 3"/>
          <p:cNvSpPr/>
          <p:nvPr/>
        </p:nvSpPr>
        <p:spPr>
          <a:xfrm>
            <a:off x="4393371" y="2023161"/>
            <a:ext cx="864627" cy="61759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指标</a:t>
            </a:r>
          </a:p>
        </p:txBody>
      </p:sp>
      <p:grpSp>
        <p:nvGrpSpPr>
          <p:cNvPr id="54" name="组合 53"/>
          <p:cNvGrpSpPr/>
          <p:nvPr/>
        </p:nvGrpSpPr>
        <p:grpSpPr>
          <a:xfrm>
            <a:off x="5257998" y="2015774"/>
            <a:ext cx="4920268" cy="617591"/>
            <a:chOff x="5257998" y="2015774"/>
            <a:chExt cx="4920268" cy="617591"/>
          </a:xfrm>
        </p:grpSpPr>
        <p:sp>
          <p:nvSpPr>
            <p:cNvPr id="18" name="椭圆 17"/>
            <p:cNvSpPr/>
            <p:nvPr/>
          </p:nvSpPr>
          <p:spPr>
            <a:xfrm>
              <a:off x="9313639" y="2015774"/>
              <a:ext cx="864627" cy="61759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指标值</a:t>
              </a:r>
            </a:p>
          </p:txBody>
        </p:sp>
        <p:cxnSp>
          <p:nvCxnSpPr>
            <p:cNvPr id="13" name="直接箭头连接符 12"/>
            <p:cNvCxnSpPr>
              <a:stCxn id="4" idx="6"/>
              <a:endCxn id="18" idx="2"/>
            </p:cNvCxnSpPr>
            <p:nvPr/>
          </p:nvCxnSpPr>
          <p:spPr>
            <a:xfrm flipV="1">
              <a:off x="5257998" y="2324570"/>
              <a:ext cx="4055641" cy="7387"/>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nvGrpSpPr>
        <p:grpSpPr>
          <a:xfrm>
            <a:off x="8871604" y="1454660"/>
            <a:ext cx="2975298" cy="2473828"/>
            <a:chOff x="8871604" y="1454660"/>
            <a:chExt cx="2975298" cy="2473828"/>
          </a:xfrm>
        </p:grpSpPr>
        <p:sp>
          <p:nvSpPr>
            <p:cNvPr id="19" name="椭圆 18"/>
            <p:cNvSpPr/>
            <p:nvPr/>
          </p:nvSpPr>
          <p:spPr>
            <a:xfrm>
              <a:off x="10549962" y="1454660"/>
              <a:ext cx="864626" cy="61759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理想值</a:t>
              </a:r>
            </a:p>
          </p:txBody>
        </p:sp>
        <p:sp>
          <p:nvSpPr>
            <p:cNvPr id="20" name="椭圆 19"/>
            <p:cNvSpPr/>
            <p:nvPr/>
          </p:nvSpPr>
          <p:spPr>
            <a:xfrm>
              <a:off x="10982276" y="2085783"/>
              <a:ext cx="864626" cy="61759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现状值</a:t>
              </a:r>
            </a:p>
          </p:txBody>
        </p:sp>
        <p:sp>
          <p:nvSpPr>
            <p:cNvPr id="21" name="椭圆 20"/>
            <p:cNvSpPr/>
            <p:nvPr/>
          </p:nvSpPr>
          <p:spPr>
            <a:xfrm>
              <a:off x="10534893" y="2777224"/>
              <a:ext cx="864626" cy="61759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问题值</a:t>
              </a:r>
            </a:p>
          </p:txBody>
        </p:sp>
        <p:sp>
          <p:nvSpPr>
            <p:cNvPr id="22" name="椭圆 21"/>
            <p:cNvSpPr/>
            <p:nvPr/>
          </p:nvSpPr>
          <p:spPr>
            <a:xfrm>
              <a:off x="9763861" y="3310898"/>
              <a:ext cx="864626" cy="61759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目标值</a:t>
              </a:r>
            </a:p>
          </p:txBody>
        </p:sp>
        <p:sp>
          <p:nvSpPr>
            <p:cNvPr id="23" name="椭圆 22"/>
            <p:cNvSpPr/>
            <p:nvPr/>
          </p:nvSpPr>
          <p:spPr>
            <a:xfrm>
              <a:off x="8871604" y="3002103"/>
              <a:ext cx="864626" cy="61759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对标值</a:t>
              </a:r>
            </a:p>
          </p:txBody>
        </p:sp>
        <p:cxnSp>
          <p:nvCxnSpPr>
            <p:cNvPr id="24" name="直接箭头连接符 23"/>
            <p:cNvCxnSpPr>
              <a:stCxn id="18" idx="6"/>
              <a:endCxn id="19" idx="3"/>
            </p:cNvCxnSpPr>
            <p:nvPr/>
          </p:nvCxnSpPr>
          <p:spPr>
            <a:xfrm flipV="1">
              <a:off x="10178266" y="1981806"/>
              <a:ext cx="498318" cy="342764"/>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8" idx="6"/>
              <a:endCxn id="20" idx="2"/>
            </p:cNvCxnSpPr>
            <p:nvPr/>
          </p:nvCxnSpPr>
          <p:spPr>
            <a:xfrm>
              <a:off x="10178266" y="2324570"/>
              <a:ext cx="804010" cy="7000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18" idx="5"/>
              <a:endCxn id="21" idx="1"/>
            </p:cNvCxnSpPr>
            <p:nvPr/>
          </p:nvCxnSpPr>
          <p:spPr>
            <a:xfrm>
              <a:off x="10051644" y="2542921"/>
              <a:ext cx="609871" cy="324747"/>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18" idx="5"/>
              <a:endCxn id="22" idx="0"/>
            </p:cNvCxnSpPr>
            <p:nvPr/>
          </p:nvCxnSpPr>
          <p:spPr>
            <a:xfrm>
              <a:off x="10051644" y="2542921"/>
              <a:ext cx="144530" cy="767977"/>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18" idx="4"/>
              <a:endCxn id="23" idx="0"/>
            </p:cNvCxnSpPr>
            <p:nvPr/>
          </p:nvCxnSpPr>
          <p:spPr>
            <a:xfrm flipH="1">
              <a:off x="9303917" y="2633365"/>
              <a:ext cx="442036" cy="36873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对话气泡: 圆角矩形 44"/>
          <p:cNvSpPr/>
          <p:nvPr/>
        </p:nvSpPr>
        <p:spPr>
          <a:xfrm>
            <a:off x="3333152" y="1740125"/>
            <a:ext cx="430320" cy="241681"/>
          </a:xfrm>
          <a:prstGeom prst="wedgeRoundRectCallout">
            <a:avLst>
              <a:gd name="adj1" fmla="val -64013"/>
              <a:gd name="adj2" fmla="val 51712"/>
              <a:gd name="adj3" fmla="val 16667"/>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lumMod val="65000"/>
                    <a:lumOff val="35000"/>
                  </a:schemeClr>
                </a:solidFill>
                <a:latin typeface="微软雅黑" panose="020B0503020204020204" charset="-122"/>
                <a:ea typeface="微软雅黑" panose="020B0503020204020204" charset="-122"/>
              </a:rPr>
              <a:t>定性</a:t>
            </a:r>
          </a:p>
        </p:txBody>
      </p:sp>
      <p:sp>
        <p:nvSpPr>
          <p:cNvPr id="47" name="椭圆 46"/>
          <p:cNvSpPr/>
          <p:nvPr/>
        </p:nvSpPr>
        <p:spPr>
          <a:xfrm>
            <a:off x="2709490" y="2023161"/>
            <a:ext cx="864627" cy="61759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任务</a:t>
            </a:r>
          </a:p>
        </p:txBody>
      </p:sp>
      <p:sp>
        <p:nvSpPr>
          <p:cNvPr id="48" name="对话气泡: 圆角矩形 47"/>
          <p:cNvSpPr/>
          <p:nvPr/>
        </p:nvSpPr>
        <p:spPr>
          <a:xfrm>
            <a:off x="5096479" y="1747923"/>
            <a:ext cx="430320" cy="241681"/>
          </a:xfrm>
          <a:prstGeom prst="wedgeRoundRectCallout">
            <a:avLst>
              <a:gd name="adj1" fmla="val -64013"/>
              <a:gd name="adj2" fmla="val 51712"/>
              <a:gd name="adj3" fmla="val 16667"/>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lumMod val="65000"/>
                    <a:lumOff val="35000"/>
                  </a:schemeClr>
                </a:solidFill>
                <a:latin typeface="微软雅黑" panose="020B0503020204020204" charset="-122"/>
                <a:ea typeface="微软雅黑" panose="020B0503020204020204" charset="-122"/>
              </a:rPr>
              <a:t>定量</a:t>
            </a:r>
          </a:p>
        </p:txBody>
      </p:sp>
      <p:cxnSp>
        <p:nvCxnSpPr>
          <p:cNvPr id="49" name="直接箭头连接符 48"/>
          <p:cNvCxnSpPr>
            <a:stCxn id="47" idx="6"/>
            <a:endCxn id="4" idx="2"/>
          </p:cNvCxnSpPr>
          <p:nvPr/>
        </p:nvCxnSpPr>
        <p:spPr>
          <a:xfrm>
            <a:off x="3574117" y="2331957"/>
            <a:ext cx="819254" cy="0"/>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3103360" y="2550308"/>
            <a:ext cx="1416633" cy="1092273"/>
            <a:chOff x="3103360" y="2550308"/>
            <a:chExt cx="1416633" cy="1092273"/>
          </a:xfrm>
        </p:grpSpPr>
        <p:sp>
          <p:nvSpPr>
            <p:cNvPr id="52" name="椭圆 51"/>
            <p:cNvSpPr/>
            <p:nvPr/>
          </p:nvSpPr>
          <p:spPr>
            <a:xfrm>
              <a:off x="3103360" y="3024990"/>
              <a:ext cx="864627" cy="61759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指标</a:t>
              </a:r>
              <a:endParaRPr lang="en-US" altLang="zh-CN" sz="1100" dirty="0">
                <a:latin typeface="微软雅黑" panose="020B0503020204020204" charset="-122"/>
                <a:ea typeface="微软雅黑" panose="020B0503020204020204" charset="-122"/>
              </a:endParaRPr>
            </a:p>
            <a:p>
              <a:pPr algn="ctr"/>
              <a:r>
                <a:rPr lang="zh-CN" altLang="en-US" sz="1100" dirty="0">
                  <a:latin typeface="微软雅黑" panose="020B0503020204020204" charset="-122"/>
                  <a:ea typeface="微软雅黑" panose="020B0503020204020204" charset="-122"/>
                </a:rPr>
                <a:t>分类</a:t>
              </a:r>
            </a:p>
          </p:txBody>
        </p:sp>
        <p:cxnSp>
          <p:nvCxnSpPr>
            <p:cNvPr id="53" name="直接箭头连接符 52"/>
            <p:cNvCxnSpPr>
              <a:stCxn id="4" idx="3"/>
              <a:endCxn id="52" idx="7"/>
            </p:cNvCxnSpPr>
            <p:nvPr/>
          </p:nvCxnSpPr>
          <p:spPr>
            <a:xfrm flipH="1">
              <a:off x="3841365" y="2550308"/>
              <a:ext cx="678628" cy="56512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2671047" y="3642581"/>
            <a:ext cx="864627" cy="1245233"/>
            <a:chOff x="2671047" y="3642581"/>
            <a:chExt cx="864627" cy="1245233"/>
          </a:xfrm>
        </p:grpSpPr>
        <p:sp>
          <p:nvSpPr>
            <p:cNvPr id="57" name="椭圆 56"/>
            <p:cNvSpPr/>
            <p:nvPr/>
          </p:nvSpPr>
          <p:spPr>
            <a:xfrm>
              <a:off x="2671047" y="4270223"/>
              <a:ext cx="662105" cy="61759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绝对指标</a:t>
              </a:r>
            </a:p>
          </p:txBody>
        </p:sp>
        <p:cxnSp>
          <p:nvCxnSpPr>
            <p:cNvPr id="61" name="直接箭头连接符 60"/>
            <p:cNvCxnSpPr>
              <a:stCxn id="52" idx="4"/>
              <a:endCxn id="57" idx="0"/>
            </p:cNvCxnSpPr>
            <p:nvPr/>
          </p:nvCxnSpPr>
          <p:spPr>
            <a:xfrm flipH="1">
              <a:off x="3002100" y="3642581"/>
              <a:ext cx="533574" cy="62764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2709490" y="4887814"/>
            <a:ext cx="596900" cy="1400511"/>
            <a:chOff x="2709490" y="4887814"/>
            <a:chExt cx="596900" cy="1400511"/>
          </a:xfrm>
        </p:grpSpPr>
        <p:pic>
          <p:nvPicPr>
            <p:cNvPr id="60" name="图片 59" descr="\sum_{i=1}^n X_i"/>
            <p:cNvPicPr/>
            <p:nvPr/>
          </p:nvPicPr>
          <p:blipFill>
            <a:blip r:embed="rId3">
              <a:extLst>
                <a:ext uri="{28A0092B-C50C-407E-A947-70E740481C1C}">
                  <a14:useLocalDpi xmlns:a14="http://schemas.microsoft.com/office/drawing/2010/main" val="0"/>
                </a:ext>
              </a:extLst>
            </a:blip>
            <a:srcRect/>
            <a:stretch>
              <a:fillRect/>
            </a:stretch>
          </p:blipFill>
          <p:spPr>
            <a:xfrm>
              <a:off x="2709490" y="5676185"/>
              <a:ext cx="596900" cy="612140"/>
            </a:xfrm>
            <a:prstGeom prst="rect">
              <a:avLst/>
            </a:prstGeom>
            <a:noFill/>
            <a:ln>
              <a:solidFill>
                <a:schemeClr val="accent2"/>
              </a:solidFill>
            </a:ln>
          </p:spPr>
        </p:pic>
        <p:cxnSp>
          <p:nvCxnSpPr>
            <p:cNvPr id="63" name="直接箭头连接符 62"/>
            <p:cNvCxnSpPr>
              <a:stCxn id="57" idx="4"/>
              <a:endCxn id="60" idx="0"/>
            </p:cNvCxnSpPr>
            <p:nvPr/>
          </p:nvCxnSpPr>
          <p:spPr>
            <a:xfrm>
              <a:off x="3002100" y="4887814"/>
              <a:ext cx="5840" cy="78837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3535674" y="3642581"/>
            <a:ext cx="779122" cy="1245233"/>
            <a:chOff x="3535674" y="3642581"/>
            <a:chExt cx="779122" cy="1245233"/>
          </a:xfrm>
        </p:grpSpPr>
        <p:sp>
          <p:nvSpPr>
            <p:cNvPr id="58" name="椭圆 57"/>
            <p:cNvSpPr/>
            <p:nvPr/>
          </p:nvSpPr>
          <p:spPr>
            <a:xfrm>
              <a:off x="3652691" y="4270223"/>
              <a:ext cx="662105" cy="61759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相对指标</a:t>
              </a:r>
            </a:p>
          </p:txBody>
        </p:sp>
        <p:cxnSp>
          <p:nvCxnSpPr>
            <p:cNvPr id="70" name="直接箭头连接符 69"/>
            <p:cNvCxnSpPr>
              <a:stCxn id="52" idx="4"/>
              <a:endCxn id="58" idx="0"/>
            </p:cNvCxnSpPr>
            <p:nvPr/>
          </p:nvCxnSpPr>
          <p:spPr>
            <a:xfrm>
              <a:off x="3535674" y="3642581"/>
              <a:ext cx="448070" cy="62764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a:off x="3704344" y="4887814"/>
            <a:ext cx="3017733" cy="1929279"/>
            <a:chOff x="3704344" y="4887814"/>
            <a:chExt cx="3017733" cy="1929279"/>
          </a:xfrm>
        </p:grpSpPr>
        <p:pic>
          <p:nvPicPr>
            <p:cNvPr id="80" name="图片 79" descr="相对指标">
              <a:hlinkClick r:id="rId4" tooltip="&quot;相对指标&quot;"/>
            </p:cNvPr>
            <p:cNvPicPr/>
            <p:nvPr/>
          </p:nvPicPr>
          <p:blipFill>
            <a:blip r:embed="rId5">
              <a:extLst>
                <a:ext uri="{28A0092B-C50C-407E-A947-70E740481C1C}">
                  <a14:useLocalDpi xmlns:a14="http://schemas.microsoft.com/office/drawing/2010/main" val="0"/>
                </a:ext>
              </a:extLst>
            </a:blip>
            <a:srcRect/>
            <a:stretch>
              <a:fillRect/>
            </a:stretch>
          </p:blipFill>
          <p:spPr>
            <a:xfrm>
              <a:off x="3704345" y="5377201"/>
              <a:ext cx="3017732" cy="457200"/>
            </a:xfrm>
            <a:prstGeom prst="rect">
              <a:avLst/>
            </a:prstGeom>
            <a:noFill/>
            <a:ln>
              <a:solidFill>
                <a:schemeClr val="accent2"/>
              </a:solidFill>
            </a:ln>
          </p:spPr>
        </p:pic>
        <p:pic>
          <p:nvPicPr>
            <p:cNvPr id="81" name="图片 80" descr="结构相对指标">
              <a:hlinkClick r:id="rId6" tooltip="&quot;结构相对指标&quot;"/>
            </p:cNvPr>
            <p:cNvPicPr/>
            <p:nvPr/>
          </p:nvPicPr>
          <p:blipFill>
            <a:blip r:embed="rId7">
              <a:extLst>
                <a:ext uri="{28A0092B-C50C-407E-A947-70E740481C1C}">
                  <a14:useLocalDpi xmlns:a14="http://schemas.microsoft.com/office/drawing/2010/main" val="0"/>
                </a:ext>
              </a:extLst>
            </a:blip>
            <a:srcRect/>
            <a:stretch>
              <a:fillRect/>
            </a:stretch>
          </p:blipFill>
          <p:spPr>
            <a:xfrm>
              <a:off x="3704345" y="5912481"/>
              <a:ext cx="3017732" cy="457200"/>
            </a:xfrm>
            <a:prstGeom prst="rect">
              <a:avLst/>
            </a:prstGeom>
            <a:noFill/>
            <a:ln>
              <a:solidFill>
                <a:schemeClr val="accent2"/>
              </a:solidFill>
            </a:ln>
          </p:spPr>
        </p:pic>
        <p:cxnSp>
          <p:nvCxnSpPr>
            <p:cNvPr id="82" name="直接箭头连接符 81"/>
            <p:cNvCxnSpPr>
              <a:stCxn id="58" idx="4"/>
            </p:cNvCxnSpPr>
            <p:nvPr/>
          </p:nvCxnSpPr>
          <p:spPr>
            <a:xfrm>
              <a:off x="3983744" y="4887814"/>
              <a:ext cx="0" cy="489387"/>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6" name="文本框 85"/>
            <p:cNvSpPr txBox="1"/>
            <p:nvPr/>
          </p:nvSpPr>
          <p:spPr>
            <a:xfrm>
              <a:off x="3704344" y="6447761"/>
              <a:ext cx="1028403" cy="369332"/>
            </a:xfrm>
            <a:prstGeom prst="rect">
              <a:avLst/>
            </a:prstGeom>
            <a:noFill/>
          </p:spPr>
          <p:txBody>
            <a:bodyPr wrap="square" rtlCol="0">
              <a:spAutoFit/>
            </a:bodyPr>
            <a:lstStyle/>
            <a:p>
              <a:r>
                <a:rPr lang="en-US" altLang="zh-CN" b="1" dirty="0">
                  <a:solidFill>
                    <a:schemeClr val="accent2"/>
                  </a:solidFill>
                </a:rPr>
                <a:t>……</a:t>
              </a:r>
              <a:endParaRPr lang="zh-CN" altLang="en-US" b="1" dirty="0">
                <a:solidFill>
                  <a:schemeClr val="accent2"/>
                </a:solidFill>
              </a:endParaRPr>
            </a:p>
          </p:txBody>
        </p:sp>
      </p:grpSp>
      <p:grpSp>
        <p:nvGrpSpPr>
          <p:cNvPr id="16" name="组合 15"/>
          <p:cNvGrpSpPr/>
          <p:nvPr/>
        </p:nvGrpSpPr>
        <p:grpSpPr>
          <a:xfrm>
            <a:off x="4798940" y="2640752"/>
            <a:ext cx="864627" cy="1010310"/>
            <a:chOff x="4798940" y="2640752"/>
            <a:chExt cx="864627" cy="1010310"/>
          </a:xfrm>
        </p:grpSpPr>
        <p:sp>
          <p:nvSpPr>
            <p:cNvPr id="88" name="椭圆 87"/>
            <p:cNvSpPr/>
            <p:nvPr/>
          </p:nvSpPr>
          <p:spPr>
            <a:xfrm>
              <a:off x="4798940" y="3033471"/>
              <a:ext cx="864627" cy="61759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量化</a:t>
              </a:r>
              <a:endParaRPr lang="en-US" altLang="zh-CN" sz="1100" dirty="0">
                <a:latin typeface="微软雅黑" panose="020B0503020204020204" charset="-122"/>
                <a:ea typeface="微软雅黑" panose="020B0503020204020204" charset="-122"/>
              </a:endParaRPr>
            </a:p>
            <a:p>
              <a:pPr algn="ctr"/>
              <a:r>
                <a:rPr lang="zh-CN" altLang="en-US" sz="1100" dirty="0">
                  <a:latin typeface="微软雅黑" panose="020B0503020204020204" charset="-122"/>
                  <a:ea typeface="微软雅黑" panose="020B0503020204020204" charset="-122"/>
                </a:rPr>
                <a:t>选择</a:t>
              </a:r>
            </a:p>
          </p:txBody>
        </p:sp>
        <p:cxnSp>
          <p:nvCxnSpPr>
            <p:cNvPr id="89" name="直接箭头连接符 88"/>
            <p:cNvCxnSpPr>
              <a:stCxn id="4" idx="4"/>
              <a:endCxn id="88" idx="0"/>
            </p:cNvCxnSpPr>
            <p:nvPr/>
          </p:nvCxnSpPr>
          <p:spPr>
            <a:xfrm>
              <a:off x="4825685" y="2640752"/>
              <a:ext cx="405569" cy="39271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4" name="组合 43"/>
          <p:cNvGrpSpPr/>
          <p:nvPr/>
        </p:nvGrpSpPr>
        <p:grpSpPr>
          <a:xfrm>
            <a:off x="5131376" y="2550308"/>
            <a:ext cx="2773931" cy="1098992"/>
            <a:chOff x="5131376" y="2550308"/>
            <a:chExt cx="2773931" cy="1098992"/>
          </a:xfrm>
        </p:grpSpPr>
        <p:sp>
          <p:nvSpPr>
            <p:cNvPr id="95" name="椭圆 94"/>
            <p:cNvSpPr/>
            <p:nvPr/>
          </p:nvSpPr>
          <p:spPr>
            <a:xfrm>
              <a:off x="7040680" y="3031709"/>
              <a:ext cx="864627" cy="61759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统计</a:t>
              </a:r>
              <a:endParaRPr lang="en-US" altLang="zh-CN" sz="1100" dirty="0">
                <a:latin typeface="微软雅黑" panose="020B0503020204020204" charset="-122"/>
                <a:ea typeface="微软雅黑" panose="020B0503020204020204" charset="-122"/>
              </a:endParaRPr>
            </a:p>
            <a:p>
              <a:pPr algn="ctr"/>
              <a:r>
                <a:rPr lang="zh-CN" altLang="en-US" sz="1100" dirty="0">
                  <a:latin typeface="微软雅黑" panose="020B0503020204020204" charset="-122"/>
                  <a:ea typeface="微软雅黑" panose="020B0503020204020204" charset="-122"/>
                </a:rPr>
                <a:t>描述</a:t>
              </a:r>
            </a:p>
          </p:txBody>
        </p:sp>
        <p:cxnSp>
          <p:nvCxnSpPr>
            <p:cNvPr id="97" name="直接箭头连接符 96"/>
            <p:cNvCxnSpPr>
              <a:stCxn id="4" idx="5"/>
              <a:endCxn id="95" idx="1"/>
            </p:cNvCxnSpPr>
            <p:nvPr/>
          </p:nvCxnSpPr>
          <p:spPr>
            <a:xfrm>
              <a:off x="5131376" y="2550308"/>
              <a:ext cx="2035926" cy="57184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
        <p:nvSpPr>
          <p:cNvPr id="101" name="椭圆 100"/>
          <p:cNvSpPr/>
          <p:nvPr/>
        </p:nvSpPr>
        <p:spPr>
          <a:xfrm>
            <a:off x="6340940" y="4210259"/>
            <a:ext cx="644867" cy="61759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数据</a:t>
            </a:r>
          </a:p>
        </p:txBody>
      </p:sp>
      <p:grpSp>
        <p:nvGrpSpPr>
          <p:cNvPr id="30" name="组合 29"/>
          <p:cNvGrpSpPr/>
          <p:nvPr/>
        </p:nvGrpSpPr>
        <p:grpSpPr>
          <a:xfrm>
            <a:off x="4798940" y="3651062"/>
            <a:ext cx="945568" cy="1180175"/>
            <a:chOff x="4798940" y="3651062"/>
            <a:chExt cx="945568" cy="1180175"/>
          </a:xfrm>
        </p:grpSpPr>
        <p:sp>
          <p:nvSpPr>
            <p:cNvPr id="102" name="椭圆 101"/>
            <p:cNvSpPr/>
            <p:nvPr/>
          </p:nvSpPr>
          <p:spPr>
            <a:xfrm>
              <a:off x="4798940" y="4213646"/>
              <a:ext cx="864627" cy="61759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还原性还原度</a:t>
              </a:r>
            </a:p>
          </p:txBody>
        </p:sp>
        <p:cxnSp>
          <p:nvCxnSpPr>
            <p:cNvPr id="107" name="直接箭头连接符 106"/>
            <p:cNvCxnSpPr>
              <a:stCxn id="88" idx="4"/>
              <a:endCxn id="102" idx="0"/>
            </p:cNvCxnSpPr>
            <p:nvPr/>
          </p:nvCxnSpPr>
          <p:spPr>
            <a:xfrm>
              <a:off x="5231254" y="3651062"/>
              <a:ext cx="0" cy="562584"/>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5197953" y="3741704"/>
              <a:ext cx="546555" cy="316369"/>
            </a:xfrm>
            <a:prstGeom prst="rect">
              <a:avLst/>
            </a:prstGeom>
            <a:noFill/>
          </p:spPr>
          <p:txBody>
            <a:bodyPr wrap="square">
              <a:spAutoFit/>
            </a:bodyPr>
            <a:lstStyle/>
            <a:p>
              <a:pPr algn="ctr">
                <a:lnSpc>
                  <a:spcPct val="150000"/>
                </a:lnSpc>
              </a:pPr>
              <a:r>
                <a:rPr lang="zh-CN" altLang="en-US" sz="1100" kern="100" dirty="0">
                  <a:latin typeface="微软雅黑" panose="020B0503020204020204" charset="-122"/>
                  <a:ea typeface="微软雅黑" panose="020B0503020204020204" charset="-122"/>
                  <a:cs typeface="Times New Roman" panose="02020603050405020304" pitchFamily="18" charset="0"/>
                </a:rPr>
                <a:t>依据</a:t>
              </a:r>
            </a:p>
          </p:txBody>
        </p:sp>
      </p:grpSp>
      <p:grpSp>
        <p:nvGrpSpPr>
          <p:cNvPr id="31" name="组合 30"/>
          <p:cNvGrpSpPr/>
          <p:nvPr/>
        </p:nvGrpSpPr>
        <p:grpSpPr>
          <a:xfrm>
            <a:off x="5558021" y="4211755"/>
            <a:ext cx="900178" cy="570284"/>
            <a:chOff x="5549686" y="4211857"/>
            <a:chExt cx="900178" cy="570284"/>
          </a:xfrm>
        </p:grpSpPr>
        <p:cxnSp>
          <p:nvCxnSpPr>
            <p:cNvPr id="117" name="直接箭头连接符 116"/>
            <p:cNvCxnSpPr>
              <a:stCxn id="102" idx="6"/>
              <a:endCxn id="101" idx="2"/>
            </p:cNvCxnSpPr>
            <p:nvPr/>
          </p:nvCxnSpPr>
          <p:spPr>
            <a:xfrm flipV="1">
              <a:off x="5663567" y="4519055"/>
              <a:ext cx="677373" cy="3387"/>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22" name="文本框 121"/>
            <p:cNvSpPr txBox="1"/>
            <p:nvPr/>
          </p:nvSpPr>
          <p:spPr>
            <a:xfrm>
              <a:off x="5549686" y="4211857"/>
              <a:ext cx="900178" cy="570284"/>
            </a:xfrm>
            <a:prstGeom prst="rect">
              <a:avLst/>
            </a:prstGeom>
            <a:noFill/>
          </p:spPr>
          <p:txBody>
            <a:bodyPr wrap="square">
              <a:spAutoFit/>
            </a:bodyPr>
            <a:lstStyle/>
            <a:p>
              <a:pPr algn="ctr">
                <a:lnSpc>
                  <a:spcPct val="150000"/>
                </a:lnSpc>
              </a:pPr>
              <a:r>
                <a:rPr lang="zh-CN" altLang="en-US" sz="1100" kern="100" dirty="0">
                  <a:latin typeface="微软雅黑" panose="020B0503020204020204" charset="-122"/>
                  <a:ea typeface="微软雅黑" panose="020B0503020204020204" charset="-122"/>
                  <a:cs typeface="Times New Roman" panose="02020603050405020304" pitchFamily="18" charset="0"/>
                </a:rPr>
                <a:t>因果性</a:t>
              </a:r>
              <a:endParaRPr lang="en-US" altLang="zh-CN" sz="1100" kern="100" dirty="0">
                <a:latin typeface="微软雅黑" panose="020B0503020204020204" charset="-122"/>
                <a:ea typeface="微软雅黑" panose="020B0503020204020204" charset="-122"/>
                <a:cs typeface="Times New Roman" panose="02020603050405020304" pitchFamily="18" charset="0"/>
              </a:endParaRPr>
            </a:p>
            <a:p>
              <a:pPr algn="ctr">
                <a:lnSpc>
                  <a:spcPct val="150000"/>
                </a:lnSpc>
              </a:pPr>
              <a:r>
                <a:rPr lang="zh-CN" altLang="en-US" sz="1100" kern="100" dirty="0">
                  <a:latin typeface="微软雅黑" panose="020B0503020204020204" charset="-122"/>
                  <a:ea typeface="微软雅黑" panose="020B0503020204020204" charset="-122"/>
                  <a:cs typeface="Times New Roman" panose="02020603050405020304" pitchFamily="18" charset="0"/>
                </a:rPr>
                <a:t>要求</a:t>
              </a:r>
            </a:p>
          </p:txBody>
        </p:sp>
      </p:grpSp>
      <p:grpSp>
        <p:nvGrpSpPr>
          <p:cNvPr id="41" name="组合 40"/>
          <p:cNvGrpSpPr/>
          <p:nvPr/>
        </p:nvGrpSpPr>
        <p:grpSpPr>
          <a:xfrm>
            <a:off x="6925738" y="4155085"/>
            <a:ext cx="1159922" cy="1111182"/>
            <a:chOff x="6925738" y="4155085"/>
            <a:chExt cx="1159922" cy="1111182"/>
          </a:xfrm>
        </p:grpSpPr>
        <p:sp>
          <p:nvSpPr>
            <p:cNvPr id="123" name="椭圆 122"/>
            <p:cNvSpPr/>
            <p:nvPr/>
          </p:nvSpPr>
          <p:spPr>
            <a:xfrm>
              <a:off x="6925738" y="4809066"/>
              <a:ext cx="1159922" cy="45720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任务相关的属性</a:t>
              </a:r>
            </a:p>
          </p:txBody>
        </p:sp>
        <p:sp>
          <p:nvSpPr>
            <p:cNvPr id="127" name="文本框 126"/>
            <p:cNvSpPr txBox="1"/>
            <p:nvPr/>
          </p:nvSpPr>
          <p:spPr>
            <a:xfrm>
              <a:off x="7012540" y="4155085"/>
              <a:ext cx="546555" cy="316369"/>
            </a:xfrm>
            <a:prstGeom prst="rect">
              <a:avLst/>
            </a:prstGeom>
            <a:noFill/>
          </p:spPr>
          <p:txBody>
            <a:bodyPr wrap="square">
              <a:spAutoFit/>
            </a:bodyPr>
            <a:lstStyle/>
            <a:p>
              <a:pPr algn="ctr">
                <a:lnSpc>
                  <a:spcPct val="150000"/>
                </a:lnSpc>
              </a:pPr>
              <a:r>
                <a:rPr lang="zh-CN" altLang="en-US" sz="1100" kern="100" dirty="0">
                  <a:latin typeface="微软雅黑" panose="020B0503020204020204" charset="-122"/>
                  <a:ea typeface="微软雅黑" panose="020B0503020204020204" charset="-122"/>
                  <a:cs typeface="Times New Roman" panose="02020603050405020304" pitchFamily="18" charset="0"/>
                </a:rPr>
                <a:t>选择</a:t>
              </a:r>
            </a:p>
          </p:txBody>
        </p:sp>
        <p:cxnSp>
          <p:nvCxnSpPr>
            <p:cNvPr id="131" name="连接符: 肘形 130"/>
            <p:cNvCxnSpPr>
              <a:stCxn id="101" idx="6"/>
              <a:endCxn id="123" idx="0"/>
            </p:cNvCxnSpPr>
            <p:nvPr/>
          </p:nvCxnSpPr>
          <p:spPr>
            <a:xfrm>
              <a:off x="6985807" y="4519055"/>
              <a:ext cx="519892" cy="290011"/>
            </a:xfrm>
            <a:prstGeom prst="bentConnector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a:off x="5281072" y="4818458"/>
            <a:ext cx="1644666" cy="457201"/>
            <a:chOff x="5281072" y="4818458"/>
            <a:chExt cx="1644666" cy="457201"/>
          </a:xfrm>
        </p:grpSpPr>
        <p:sp>
          <p:nvSpPr>
            <p:cNvPr id="134" name="椭圆 133"/>
            <p:cNvSpPr/>
            <p:nvPr/>
          </p:nvSpPr>
          <p:spPr>
            <a:xfrm>
              <a:off x="5281072" y="4818458"/>
              <a:ext cx="1159922" cy="45720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指标</a:t>
              </a:r>
              <a:endParaRPr lang="en-US" altLang="zh-CN" sz="1100" dirty="0">
                <a:latin typeface="微软雅黑" panose="020B0503020204020204" charset="-122"/>
                <a:ea typeface="微软雅黑" panose="020B0503020204020204" charset="-122"/>
              </a:endParaRPr>
            </a:p>
            <a:p>
              <a:pPr algn="ctr"/>
              <a:r>
                <a:rPr lang="zh-CN" altLang="en-US" sz="1100" dirty="0">
                  <a:latin typeface="微软雅黑" panose="020B0503020204020204" charset="-122"/>
                  <a:ea typeface="微软雅黑" panose="020B0503020204020204" charset="-122"/>
                </a:rPr>
                <a:t>（群）</a:t>
              </a:r>
            </a:p>
          </p:txBody>
        </p:sp>
        <p:cxnSp>
          <p:nvCxnSpPr>
            <p:cNvPr id="138" name="直接箭头连接符 137"/>
            <p:cNvCxnSpPr>
              <a:stCxn id="123" idx="2"/>
              <a:endCxn id="134" idx="6"/>
            </p:cNvCxnSpPr>
            <p:nvPr/>
          </p:nvCxnSpPr>
          <p:spPr>
            <a:xfrm flipH="1">
              <a:off x="6440994" y="5037667"/>
              <a:ext cx="484744" cy="939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组合 42"/>
          <p:cNvGrpSpPr/>
          <p:nvPr/>
        </p:nvGrpSpPr>
        <p:grpSpPr>
          <a:xfrm>
            <a:off x="3002100" y="4579019"/>
            <a:ext cx="2278972" cy="468040"/>
            <a:chOff x="3002100" y="4579019"/>
            <a:chExt cx="2278972" cy="468040"/>
          </a:xfrm>
        </p:grpSpPr>
        <p:cxnSp>
          <p:nvCxnSpPr>
            <p:cNvPr id="142" name="直接箭头连接符 141"/>
            <p:cNvCxnSpPr>
              <a:stCxn id="57" idx="4"/>
              <a:endCxn id="134" idx="2"/>
            </p:cNvCxnSpPr>
            <p:nvPr/>
          </p:nvCxnSpPr>
          <p:spPr>
            <a:xfrm>
              <a:off x="3002100" y="4887814"/>
              <a:ext cx="2278972" cy="159245"/>
            </a:xfrm>
            <a:prstGeom prst="straightConnector1">
              <a:avLst/>
            </a:prstGeom>
            <a:ln w="28575">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6" name="直接箭头连接符 145"/>
            <p:cNvCxnSpPr>
              <a:stCxn id="58" idx="6"/>
              <a:endCxn id="134" idx="2"/>
            </p:cNvCxnSpPr>
            <p:nvPr/>
          </p:nvCxnSpPr>
          <p:spPr>
            <a:xfrm>
              <a:off x="4314796" y="4579019"/>
              <a:ext cx="966276" cy="468040"/>
            </a:xfrm>
            <a:prstGeom prst="straightConnector1">
              <a:avLst/>
            </a:prstGeom>
            <a:ln w="28575">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46" name="组合 45"/>
          <p:cNvGrpSpPr/>
          <p:nvPr/>
        </p:nvGrpSpPr>
        <p:grpSpPr>
          <a:xfrm>
            <a:off x="7905307" y="3340505"/>
            <a:ext cx="1378851" cy="3107256"/>
            <a:chOff x="7905307" y="3340505"/>
            <a:chExt cx="1378851" cy="3107256"/>
          </a:xfrm>
        </p:grpSpPr>
        <p:sp>
          <p:nvSpPr>
            <p:cNvPr id="156" name="椭圆 155"/>
            <p:cNvSpPr/>
            <p:nvPr/>
          </p:nvSpPr>
          <p:spPr>
            <a:xfrm>
              <a:off x="8622053" y="5830170"/>
              <a:ext cx="662105" cy="61759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离散趋势</a:t>
              </a:r>
            </a:p>
          </p:txBody>
        </p:sp>
        <p:cxnSp>
          <p:nvCxnSpPr>
            <p:cNvPr id="158" name="连接符: 曲线 157"/>
            <p:cNvCxnSpPr>
              <a:stCxn id="95" idx="6"/>
              <a:endCxn id="156" idx="0"/>
            </p:cNvCxnSpPr>
            <p:nvPr/>
          </p:nvCxnSpPr>
          <p:spPr>
            <a:xfrm>
              <a:off x="7905307" y="3340505"/>
              <a:ext cx="1047799" cy="2489665"/>
            </a:xfrm>
            <a:prstGeom prst="curvedConnector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5" name="椭圆 154"/>
            <p:cNvSpPr/>
            <p:nvPr/>
          </p:nvSpPr>
          <p:spPr>
            <a:xfrm>
              <a:off x="8484501" y="4370080"/>
              <a:ext cx="662105" cy="617591"/>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微软雅黑" panose="020B0503020204020204" charset="-122"/>
                  <a:ea typeface="微软雅黑" panose="020B0503020204020204" charset="-122"/>
                </a:rPr>
                <a:t>集中趋势</a:t>
              </a:r>
            </a:p>
          </p:txBody>
        </p:sp>
      </p:grpSp>
      <p:grpSp>
        <p:nvGrpSpPr>
          <p:cNvPr id="50" name="组合 49"/>
          <p:cNvGrpSpPr/>
          <p:nvPr/>
        </p:nvGrpSpPr>
        <p:grpSpPr>
          <a:xfrm>
            <a:off x="9146606" y="4119425"/>
            <a:ext cx="2938924" cy="1781989"/>
            <a:chOff x="9146606" y="4119425"/>
            <a:chExt cx="2938924" cy="1781989"/>
          </a:xfrm>
        </p:grpSpPr>
        <p:sp>
          <p:nvSpPr>
            <p:cNvPr id="162" name="矩形: 圆角 161"/>
            <p:cNvSpPr/>
            <p:nvPr/>
          </p:nvSpPr>
          <p:spPr>
            <a:xfrm flipH="1">
              <a:off x="9726668" y="4119425"/>
              <a:ext cx="864626" cy="45959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00">
                  <a:latin typeface="微软雅黑" panose="020B0503020204020204" charset="-122"/>
                  <a:ea typeface="微软雅黑" panose="020B0503020204020204" charset="-122"/>
                </a:rPr>
                <a:t>算术平均数</a:t>
              </a:r>
              <a:endParaRPr lang="zh-CN" altLang="en-US" sz="1000" dirty="0">
                <a:latin typeface="微软雅黑" panose="020B0503020204020204" charset="-122"/>
                <a:ea typeface="微软雅黑" panose="020B0503020204020204" charset="-122"/>
              </a:endParaRPr>
            </a:p>
          </p:txBody>
        </p:sp>
        <p:cxnSp>
          <p:nvCxnSpPr>
            <p:cNvPr id="166" name="连接符: 肘形 165"/>
            <p:cNvCxnSpPr>
              <a:stCxn id="155" idx="6"/>
              <a:endCxn id="162" idx="3"/>
            </p:cNvCxnSpPr>
            <p:nvPr/>
          </p:nvCxnSpPr>
          <p:spPr>
            <a:xfrm flipV="1">
              <a:off x="9146606" y="4349222"/>
              <a:ext cx="580062" cy="329654"/>
            </a:xfrm>
            <a:prstGeom prst="bentConnector3">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69" name="矩形: 圆角 168"/>
            <p:cNvSpPr/>
            <p:nvPr/>
          </p:nvSpPr>
          <p:spPr>
            <a:xfrm flipH="1">
              <a:off x="9725800" y="4653099"/>
              <a:ext cx="864626" cy="45959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00" dirty="0">
                  <a:latin typeface="微软雅黑" panose="020B0503020204020204" charset="-122"/>
                  <a:ea typeface="微软雅黑" panose="020B0503020204020204" charset="-122"/>
                </a:rPr>
                <a:t>几何平均数</a:t>
              </a:r>
            </a:p>
          </p:txBody>
        </p:sp>
        <p:pic>
          <p:nvPicPr>
            <p:cNvPr id="170" name="图片 169" descr="\bar{x}=\frac{\sum x}{n}"/>
            <p:cNvPicPr/>
            <p:nvPr/>
          </p:nvPicPr>
          <p:blipFill>
            <a:blip r:embed="rId8">
              <a:extLst>
                <a:ext uri="{28A0092B-C50C-407E-A947-70E740481C1C}">
                  <a14:useLocalDpi xmlns:a14="http://schemas.microsoft.com/office/drawing/2010/main" val="0"/>
                </a:ext>
              </a:extLst>
            </a:blip>
            <a:srcRect/>
            <a:stretch>
              <a:fillRect/>
            </a:stretch>
          </p:blipFill>
          <p:spPr>
            <a:xfrm>
              <a:off x="10640709" y="4135764"/>
              <a:ext cx="899160" cy="423933"/>
            </a:xfrm>
            <a:prstGeom prst="rect">
              <a:avLst/>
            </a:prstGeom>
            <a:noFill/>
            <a:ln>
              <a:solidFill>
                <a:schemeClr val="accent2"/>
              </a:solidFill>
            </a:ln>
          </p:spPr>
        </p:pic>
        <p:pic>
          <p:nvPicPr>
            <p:cNvPr id="171" name="图片 170" descr="G=\sqrt[n]{x_1x_2\ldots x_n}"/>
            <p:cNvPicPr/>
            <p:nvPr/>
          </p:nvPicPr>
          <p:blipFill>
            <a:blip r:embed="rId9">
              <a:extLst>
                <a:ext uri="{28A0092B-C50C-407E-A947-70E740481C1C}">
                  <a14:useLocalDpi xmlns:a14="http://schemas.microsoft.com/office/drawing/2010/main" val="0"/>
                </a:ext>
              </a:extLst>
            </a:blip>
            <a:srcRect/>
            <a:stretch>
              <a:fillRect/>
            </a:stretch>
          </p:blipFill>
          <p:spPr>
            <a:xfrm>
              <a:off x="10640709" y="4778950"/>
              <a:ext cx="1444821" cy="203048"/>
            </a:xfrm>
            <a:prstGeom prst="rect">
              <a:avLst/>
            </a:prstGeom>
            <a:noFill/>
            <a:ln>
              <a:solidFill>
                <a:schemeClr val="accent2"/>
              </a:solidFill>
            </a:ln>
          </p:spPr>
        </p:pic>
        <p:cxnSp>
          <p:nvCxnSpPr>
            <p:cNvPr id="173" name="连接符: 肘形 172"/>
            <p:cNvCxnSpPr>
              <a:stCxn id="155" idx="6"/>
              <a:endCxn id="169" idx="3"/>
            </p:cNvCxnSpPr>
            <p:nvPr/>
          </p:nvCxnSpPr>
          <p:spPr>
            <a:xfrm>
              <a:off x="9146606" y="4678876"/>
              <a:ext cx="579194" cy="204020"/>
            </a:xfrm>
            <a:prstGeom prst="bentConnector3">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76" name="矩形: 圆角 175"/>
            <p:cNvSpPr/>
            <p:nvPr/>
          </p:nvSpPr>
          <p:spPr>
            <a:xfrm flipH="1">
              <a:off x="9725800" y="5173543"/>
              <a:ext cx="864626" cy="45959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00" dirty="0">
                  <a:latin typeface="微软雅黑" panose="020B0503020204020204" charset="-122"/>
                  <a:ea typeface="微软雅黑" panose="020B0503020204020204" charset="-122"/>
                </a:rPr>
                <a:t>调和平均数</a:t>
              </a:r>
            </a:p>
          </p:txBody>
        </p:sp>
        <p:pic>
          <p:nvPicPr>
            <p:cNvPr id="177" name="图片 176" descr="图片包含 游戏机, 物体, 钟表&#10;&#10;描述已自动生成"/>
            <p:cNvPicPr/>
            <p:nvPr/>
          </p:nvPicPr>
          <p:blipFill>
            <a:blip r:embed="rId10">
              <a:extLst>
                <a:ext uri="{28A0092B-C50C-407E-A947-70E740481C1C}">
                  <a14:useLocalDpi xmlns:a14="http://schemas.microsoft.com/office/drawing/2010/main" val="0"/>
                </a:ext>
              </a:extLst>
            </a:blip>
            <a:srcRect/>
            <a:stretch>
              <a:fillRect/>
            </a:stretch>
          </p:blipFill>
          <p:spPr>
            <a:xfrm>
              <a:off x="10640709" y="5157667"/>
              <a:ext cx="880144" cy="451732"/>
            </a:xfrm>
            <a:prstGeom prst="rect">
              <a:avLst/>
            </a:prstGeom>
            <a:noFill/>
            <a:ln>
              <a:solidFill>
                <a:schemeClr val="accent2"/>
              </a:solidFill>
            </a:ln>
          </p:spPr>
        </p:pic>
        <p:cxnSp>
          <p:nvCxnSpPr>
            <p:cNvPr id="178" name="连接符: 肘形 177"/>
            <p:cNvCxnSpPr>
              <a:stCxn id="155" idx="6"/>
              <a:endCxn id="176" idx="3"/>
            </p:cNvCxnSpPr>
            <p:nvPr/>
          </p:nvCxnSpPr>
          <p:spPr>
            <a:xfrm>
              <a:off x="9146606" y="4678876"/>
              <a:ext cx="579194" cy="724464"/>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83" name="文本框 182"/>
            <p:cNvSpPr txBox="1"/>
            <p:nvPr/>
          </p:nvSpPr>
          <p:spPr>
            <a:xfrm>
              <a:off x="9842910" y="5532082"/>
              <a:ext cx="631676" cy="369332"/>
            </a:xfrm>
            <a:prstGeom prst="rect">
              <a:avLst/>
            </a:prstGeom>
            <a:noFill/>
          </p:spPr>
          <p:txBody>
            <a:bodyPr wrap="square" rtlCol="0">
              <a:spAutoFit/>
            </a:bodyPr>
            <a:lstStyle/>
            <a:p>
              <a:r>
                <a:rPr lang="en-US" altLang="zh-CN" b="1" dirty="0">
                  <a:solidFill>
                    <a:schemeClr val="accent2"/>
                  </a:solidFill>
                </a:rPr>
                <a:t>……</a:t>
              </a:r>
              <a:endParaRPr lang="zh-CN" altLang="en-US" b="1" dirty="0">
                <a:solidFill>
                  <a:schemeClr val="accent2"/>
                </a:solidFill>
              </a:endParaRPr>
            </a:p>
          </p:txBody>
        </p:sp>
      </p:grpSp>
      <p:grpSp>
        <p:nvGrpSpPr>
          <p:cNvPr id="51" name="组合 50"/>
          <p:cNvGrpSpPr/>
          <p:nvPr/>
        </p:nvGrpSpPr>
        <p:grpSpPr>
          <a:xfrm>
            <a:off x="9284158" y="5862656"/>
            <a:ext cx="2068106" cy="646331"/>
            <a:chOff x="9284158" y="5862656"/>
            <a:chExt cx="2068106" cy="646331"/>
          </a:xfrm>
        </p:grpSpPr>
        <p:sp>
          <p:nvSpPr>
            <p:cNvPr id="181" name="矩形: 圆角 180"/>
            <p:cNvSpPr/>
            <p:nvPr/>
          </p:nvSpPr>
          <p:spPr>
            <a:xfrm flipH="1">
              <a:off x="9616994" y="5956025"/>
              <a:ext cx="383910" cy="45959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rPr>
                <a:t>极差</a:t>
              </a:r>
            </a:p>
          </p:txBody>
        </p:sp>
        <p:sp>
          <p:nvSpPr>
            <p:cNvPr id="182" name="矩形: 圆角 181"/>
            <p:cNvSpPr/>
            <p:nvPr/>
          </p:nvSpPr>
          <p:spPr>
            <a:xfrm flipH="1">
              <a:off x="10053244" y="5956025"/>
              <a:ext cx="383910" cy="45959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rPr>
                <a:t>方差</a:t>
              </a:r>
            </a:p>
          </p:txBody>
        </p:sp>
        <p:sp>
          <p:nvSpPr>
            <p:cNvPr id="184" name="矩形: 圆角 183"/>
            <p:cNvSpPr/>
            <p:nvPr/>
          </p:nvSpPr>
          <p:spPr>
            <a:xfrm flipH="1">
              <a:off x="10489494" y="5956025"/>
              <a:ext cx="383910" cy="45959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atin typeface="微软雅黑" panose="020B0503020204020204" charset="-122"/>
                  <a:ea typeface="微软雅黑" panose="020B0503020204020204" charset="-122"/>
                </a:rPr>
                <a:t>标准差</a:t>
              </a:r>
            </a:p>
          </p:txBody>
        </p:sp>
        <p:sp>
          <p:nvSpPr>
            <p:cNvPr id="185" name="文本框 184"/>
            <p:cNvSpPr txBox="1"/>
            <p:nvPr/>
          </p:nvSpPr>
          <p:spPr>
            <a:xfrm>
              <a:off x="10925743" y="5862656"/>
              <a:ext cx="426521" cy="646331"/>
            </a:xfrm>
            <a:prstGeom prst="rect">
              <a:avLst/>
            </a:prstGeom>
            <a:noFill/>
          </p:spPr>
          <p:txBody>
            <a:bodyPr wrap="square" rtlCol="0">
              <a:spAutoFit/>
            </a:bodyPr>
            <a:lstStyle/>
            <a:p>
              <a:r>
                <a:rPr lang="en-US" altLang="zh-CN" b="1" dirty="0">
                  <a:solidFill>
                    <a:schemeClr val="accent2"/>
                  </a:solidFill>
                </a:rPr>
                <a:t>……</a:t>
              </a:r>
              <a:endParaRPr lang="zh-CN" altLang="en-US" b="1" dirty="0">
                <a:solidFill>
                  <a:schemeClr val="accent2"/>
                </a:solidFill>
              </a:endParaRPr>
            </a:p>
          </p:txBody>
        </p:sp>
        <p:cxnSp>
          <p:nvCxnSpPr>
            <p:cNvPr id="188" name="连接符: 肘形 187"/>
            <p:cNvCxnSpPr>
              <a:stCxn id="156" idx="6"/>
              <a:endCxn id="181" idx="0"/>
            </p:cNvCxnSpPr>
            <p:nvPr/>
          </p:nvCxnSpPr>
          <p:spPr>
            <a:xfrm flipV="1">
              <a:off x="9284158" y="5956025"/>
              <a:ext cx="524791" cy="182941"/>
            </a:xfrm>
            <a:prstGeom prst="bentConnector4">
              <a:avLst>
                <a:gd name="adj1" fmla="val 31711"/>
                <a:gd name="adj2" fmla="val 17805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连接符: 肘形 191"/>
            <p:cNvCxnSpPr>
              <a:stCxn id="156" idx="6"/>
              <a:endCxn id="182" idx="0"/>
            </p:cNvCxnSpPr>
            <p:nvPr/>
          </p:nvCxnSpPr>
          <p:spPr>
            <a:xfrm flipV="1">
              <a:off x="9284158" y="5956025"/>
              <a:ext cx="961041" cy="182941"/>
            </a:xfrm>
            <a:prstGeom prst="bentConnector4">
              <a:avLst>
                <a:gd name="adj1" fmla="val 17812"/>
                <a:gd name="adj2" fmla="val 179903"/>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连接符: 肘形 195"/>
            <p:cNvCxnSpPr>
              <a:endCxn id="184" idx="0"/>
            </p:cNvCxnSpPr>
            <p:nvPr/>
          </p:nvCxnSpPr>
          <p:spPr>
            <a:xfrm flipV="1">
              <a:off x="9284158" y="5956025"/>
              <a:ext cx="1397291" cy="182942"/>
            </a:xfrm>
            <a:prstGeom prst="bentConnector4">
              <a:avLst>
                <a:gd name="adj1" fmla="val 12228"/>
                <a:gd name="adj2" fmla="val 183306"/>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
        <p:nvSpPr>
          <p:cNvPr id="202" name="文本框 201"/>
          <p:cNvSpPr txBox="1"/>
          <p:nvPr/>
        </p:nvSpPr>
        <p:spPr>
          <a:xfrm>
            <a:off x="196213" y="1457497"/>
            <a:ext cx="2325254" cy="2962734"/>
          </a:xfrm>
          <a:prstGeom prst="rect">
            <a:avLst/>
          </a:prstGeom>
          <a:noFill/>
        </p:spPr>
        <p:txBody>
          <a:bodyPr wrap="square" rtlCol="0">
            <a:spAutoFit/>
          </a:bodyPr>
          <a:lstStyle/>
          <a:p>
            <a:pPr>
              <a:lnSpc>
                <a:spcPct val="150000"/>
              </a:lnSpc>
            </a:pPr>
            <a:r>
              <a:rPr lang="zh-CN" altLang="en-US" sz="1400" kern="100" dirty="0">
                <a:effectLst/>
                <a:latin typeface="微软雅黑" panose="020B0503020204020204" charset="-122"/>
                <a:ea typeface="微软雅黑" panose="020B0503020204020204" charset="-122"/>
                <a:cs typeface="Times New Roman" panose="02020603050405020304" pitchFamily="18" charset="0"/>
              </a:rPr>
              <a:t>      在任务范式顶层概念构建好的前提下，通过构建本体，从“线”上进行分级分类，从顶层“类”的概念逐步走向实例，完成顶层抽象的、一般的概念到现实具象的、个别的工程化应用的转换，实现范式向工程实践的演化、过渡。</a:t>
            </a:r>
          </a:p>
        </p:txBody>
      </p:sp>
      <p:sp>
        <p:nvSpPr>
          <p:cNvPr id="204" name="文本框 203"/>
          <p:cNvSpPr txBox="1"/>
          <p:nvPr/>
        </p:nvSpPr>
        <p:spPr>
          <a:xfrm>
            <a:off x="192822" y="4527127"/>
            <a:ext cx="2325691" cy="2316403"/>
          </a:xfrm>
          <a:prstGeom prst="rect">
            <a:avLst/>
          </a:prstGeom>
          <a:noFill/>
        </p:spPr>
        <p:txBody>
          <a:bodyPr wrap="square">
            <a:spAutoFit/>
          </a:bodyPr>
          <a:lstStyle/>
          <a:p>
            <a:pPr>
              <a:lnSpc>
                <a:spcPct val="150000"/>
              </a:lnSpc>
            </a:pPr>
            <a:r>
              <a:rPr lang="zh-CN" altLang="en-US" sz="1400" b="1" kern="100" dirty="0">
                <a:solidFill>
                  <a:schemeClr val="accent2"/>
                </a:solidFill>
                <a:latin typeface="微软雅黑" panose="020B0503020204020204" charset="-122"/>
                <a:ea typeface="微软雅黑" panose="020B0503020204020204" charset="-122"/>
                <a:cs typeface="Times New Roman" panose="02020603050405020304" pitchFamily="18" charset="0"/>
              </a:rPr>
              <a:t>人类经济社会行为都是真实发生的系统过程，都是确定的、具体的、定量的，涉及的所有的要素都需要形成指标，而指标涉及到对象系统诉求的满足与状态的改变，因此需要具体的值来衡量。</a:t>
            </a:r>
          </a:p>
        </p:txBody>
      </p:sp>
      <p:grpSp>
        <p:nvGrpSpPr>
          <p:cNvPr id="98" name="组合 97"/>
          <p:cNvGrpSpPr/>
          <p:nvPr/>
        </p:nvGrpSpPr>
        <p:grpSpPr>
          <a:xfrm>
            <a:off x="119380" y="781685"/>
            <a:ext cx="11772900" cy="617220"/>
            <a:chOff x="188" y="1231"/>
            <a:chExt cx="18540" cy="972"/>
          </a:xfrm>
        </p:grpSpPr>
        <p:sp>
          <p:nvSpPr>
            <p:cNvPr id="99" name="矩形: 圆角 87"/>
            <p:cNvSpPr/>
            <p:nvPr/>
          </p:nvSpPr>
          <p:spPr>
            <a:xfrm>
              <a:off x="4969" y="1440"/>
              <a:ext cx="3531"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信息资源</a:t>
              </a:r>
            </a:p>
          </p:txBody>
        </p:sp>
        <p:sp>
          <p:nvSpPr>
            <p:cNvPr id="100" name="矩形: 圆角 88"/>
            <p:cNvSpPr/>
            <p:nvPr/>
          </p:nvSpPr>
          <p:spPr>
            <a:xfrm>
              <a:off x="9507" y="1440"/>
              <a:ext cx="3246" cy="630"/>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知识本体</a:t>
              </a:r>
            </a:p>
          </p:txBody>
        </p:sp>
        <p:sp>
          <p:nvSpPr>
            <p:cNvPr id="103" name="矩形: 圆角 90"/>
            <p:cNvSpPr/>
            <p:nvPr/>
          </p:nvSpPr>
          <p:spPr>
            <a:xfrm>
              <a:off x="14534" y="1446"/>
              <a:ext cx="3346"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智慧化能力</a:t>
              </a:r>
            </a:p>
          </p:txBody>
        </p:sp>
        <p:sp>
          <p:nvSpPr>
            <p:cNvPr id="104" name="矩形: 圆角 84"/>
            <p:cNvSpPr/>
            <p:nvPr/>
          </p:nvSpPr>
          <p:spPr>
            <a:xfrm>
              <a:off x="188" y="1231"/>
              <a:ext cx="18540" cy="973"/>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charset="-122"/>
                <a:ea typeface="微软雅黑" panose="020B0503020204020204" charset="-122"/>
              </a:endParaRPr>
            </a:p>
          </p:txBody>
        </p:sp>
        <p:sp>
          <p:nvSpPr>
            <p:cNvPr id="105" name="矩形: 圆角 92"/>
            <p:cNvSpPr/>
            <p:nvPr/>
          </p:nvSpPr>
          <p:spPr>
            <a:xfrm>
              <a:off x="904" y="1437"/>
              <a:ext cx="3082" cy="630"/>
            </a:xfrm>
            <a:prstGeom prst="round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领域分类</a:t>
              </a:r>
            </a:p>
          </p:txBody>
        </p:sp>
        <p:sp>
          <p:nvSpPr>
            <p:cNvPr id="106" name="箭头: 右 105"/>
            <p:cNvSpPr/>
            <p:nvPr/>
          </p:nvSpPr>
          <p:spPr>
            <a:xfrm>
              <a:off x="4197" y="1575"/>
              <a:ext cx="505" cy="39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十字形 107"/>
            <p:cNvSpPr/>
            <p:nvPr/>
          </p:nvSpPr>
          <p:spPr>
            <a:xfrm>
              <a:off x="8780" y="1575"/>
              <a:ext cx="462" cy="390"/>
            </a:xfrm>
            <a:prstGeom prst="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箭头: 右 113"/>
            <p:cNvSpPr/>
            <p:nvPr/>
          </p:nvSpPr>
          <p:spPr>
            <a:xfrm>
              <a:off x="13321" y="1534"/>
              <a:ext cx="624" cy="454"/>
            </a:xfrm>
            <a:prstGeom prst="notch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标题 1"/>
          <p:cNvSpPr txBox="1"/>
          <p:nvPr/>
        </p:nvSpPr>
        <p:spPr>
          <a:xfrm>
            <a:off x="425450" y="170111"/>
            <a:ext cx="4971768" cy="478155"/>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kumimoji="1" lang="zh-CN" altLang="en-US" sz="2800" kern="12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defRPr>
            </a:lvl1pPr>
          </a:lstStyle>
          <a:p>
            <a:r>
              <a:rPr lang="zh-CN" altLang="en-US" dirty="0"/>
              <a:t>工程实践内容</a:t>
            </a:r>
            <a:r>
              <a:rPr lang="en-US" altLang="zh-CN" sz="1800" dirty="0"/>
              <a:t>--</a:t>
            </a:r>
            <a:r>
              <a:rPr lang="zh-CN" altLang="en-US" sz="1800" dirty="0"/>
              <a:t>指标量化</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barn(outVertical)">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wipe(down)">
                                      <p:cBhvr>
                                        <p:cTn id="22" dur="500"/>
                                        <p:tgtEl>
                                          <p:spTgt spid="4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wipe(down)">
                                      <p:cBhvr>
                                        <p:cTn id="27" dur="500"/>
                                        <p:tgtEl>
                                          <p:spTgt spid="4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up)">
                                      <p:cBhvr>
                                        <p:cTn id="37" dur="5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wipe(up)">
                                      <p:cBhvr>
                                        <p:cTn id="42" dur="5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up)">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up)">
                                      <p:cBhvr>
                                        <p:cTn id="52" dur="500"/>
                                        <p:tgtEl>
                                          <p:spTgt spid="2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up)">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wipe(up)">
                                      <p:cBhvr>
                                        <p:cTn id="62" dur="500"/>
                                        <p:tgtEl>
                                          <p:spTgt spid="3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wipe(left)">
                                      <p:cBhvr>
                                        <p:cTn id="67" dur="500"/>
                                        <p:tgtEl>
                                          <p:spTgt spid="31"/>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01"/>
                                        </p:tgtEl>
                                        <p:attrNameLst>
                                          <p:attrName>style.visibility</p:attrName>
                                        </p:attrNameLst>
                                      </p:cBhvr>
                                      <p:to>
                                        <p:strVal val="visible"/>
                                      </p:to>
                                    </p:set>
                                    <p:animEffect transition="in" filter="fade">
                                      <p:cBhvr>
                                        <p:cTn id="72" dur="500"/>
                                        <p:tgtEl>
                                          <p:spTgt spid="10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41"/>
                                        </p:tgtEl>
                                        <p:attrNameLst>
                                          <p:attrName>style.visibility</p:attrName>
                                        </p:attrNameLst>
                                      </p:cBhvr>
                                      <p:to>
                                        <p:strVal val="visible"/>
                                      </p:to>
                                    </p:set>
                                    <p:animEffect transition="in" filter="wipe(up)">
                                      <p:cBhvr>
                                        <p:cTn id="77" dur="500"/>
                                        <p:tgtEl>
                                          <p:spTgt spid="4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2" fill="hold" nodeType="clickEffect">
                                  <p:stCondLst>
                                    <p:cond delay="0"/>
                                  </p:stCondLst>
                                  <p:childTnLst>
                                    <p:set>
                                      <p:cBhvr>
                                        <p:cTn id="81" dur="1" fill="hold">
                                          <p:stCondLst>
                                            <p:cond delay="0"/>
                                          </p:stCondLst>
                                        </p:cTn>
                                        <p:tgtEl>
                                          <p:spTgt spid="42"/>
                                        </p:tgtEl>
                                        <p:attrNameLst>
                                          <p:attrName>style.visibility</p:attrName>
                                        </p:attrNameLst>
                                      </p:cBhvr>
                                      <p:to>
                                        <p:strVal val="visible"/>
                                      </p:to>
                                    </p:set>
                                    <p:animEffect transition="in" filter="wipe(right)">
                                      <p:cBhvr>
                                        <p:cTn id="82" dur="500"/>
                                        <p:tgtEl>
                                          <p:spTgt spid="42"/>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43"/>
                                        </p:tgtEl>
                                        <p:attrNameLst>
                                          <p:attrName>style.visibility</p:attrName>
                                        </p:attrNameLst>
                                      </p:cBhvr>
                                      <p:to>
                                        <p:strVal val="visible"/>
                                      </p:to>
                                    </p:set>
                                    <p:animEffect transition="in" filter="wipe(left)">
                                      <p:cBhvr>
                                        <p:cTn id="87" dur="500"/>
                                        <p:tgtEl>
                                          <p:spTgt spid="43"/>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44"/>
                                        </p:tgtEl>
                                        <p:attrNameLst>
                                          <p:attrName>style.visibility</p:attrName>
                                        </p:attrNameLst>
                                      </p:cBhvr>
                                      <p:to>
                                        <p:strVal val="visible"/>
                                      </p:to>
                                    </p:set>
                                    <p:animEffect transition="in" filter="wipe(left)">
                                      <p:cBhvr>
                                        <p:cTn id="92" dur="500"/>
                                        <p:tgtEl>
                                          <p:spTgt spid="44"/>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nodeType="clickEffect">
                                  <p:stCondLst>
                                    <p:cond delay="0"/>
                                  </p:stCondLst>
                                  <p:childTnLst>
                                    <p:set>
                                      <p:cBhvr>
                                        <p:cTn id="96" dur="1" fill="hold">
                                          <p:stCondLst>
                                            <p:cond delay="0"/>
                                          </p:stCondLst>
                                        </p:cTn>
                                        <p:tgtEl>
                                          <p:spTgt spid="46"/>
                                        </p:tgtEl>
                                        <p:attrNameLst>
                                          <p:attrName>style.visibility</p:attrName>
                                        </p:attrNameLst>
                                      </p:cBhvr>
                                      <p:to>
                                        <p:strVal val="visible"/>
                                      </p:to>
                                    </p:set>
                                    <p:animEffect transition="in" filter="wipe(up)">
                                      <p:cBhvr>
                                        <p:cTn id="97" dur="500"/>
                                        <p:tgtEl>
                                          <p:spTgt spid="46"/>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50"/>
                                        </p:tgtEl>
                                        <p:attrNameLst>
                                          <p:attrName>style.visibility</p:attrName>
                                        </p:attrNameLst>
                                      </p:cBhvr>
                                      <p:to>
                                        <p:strVal val="visible"/>
                                      </p:to>
                                    </p:set>
                                    <p:animEffect transition="in" filter="wipe(left)">
                                      <p:cBhvr>
                                        <p:cTn id="102" dur="500"/>
                                        <p:tgtEl>
                                          <p:spTgt spid="50"/>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51"/>
                                        </p:tgtEl>
                                        <p:attrNameLst>
                                          <p:attrName>style.visibility</p:attrName>
                                        </p:attrNameLst>
                                      </p:cBhvr>
                                      <p:to>
                                        <p:strVal val="visible"/>
                                      </p:to>
                                    </p:set>
                                    <p:animEffect transition="in" filter="wipe(left)">
                                      <p:cBhvr>
                                        <p:cTn id="107" dur="500"/>
                                        <p:tgtEl>
                                          <p:spTgt spid="51"/>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54"/>
                                        </p:tgtEl>
                                        <p:attrNameLst>
                                          <p:attrName>style.visibility</p:attrName>
                                        </p:attrNameLst>
                                      </p:cBhvr>
                                      <p:to>
                                        <p:strVal val="visible"/>
                                      </p:to>
                                    </p:set>
                                    <p:animEffect transition="in" filter="wipe(left)">
                                      <p:cBhvr>
                                        <p:cTn id="112" dur="500"/>
                                        <p:tgtEl>
                                          <p:spTgt spid="54"/>
                                        </p:tgtEl>
                                      </p:cBhvr>
                                    </p:animEffect>
                                  </p:childTnLst>
                                </p:cTn>
                              </p:par>
                            </p:childTnLst>
                          </p:cTn>
                        </p:par>
                      </p:childTnLst>
                    </p:cTn>
                  </p:par>
                  <p:par>
                    <p:cTn id="113" fill="hold">
                      <p:stCondLst>
                        <p:cond delay="indefinite"/>
                      </p:stCondLst>
                      <p:childTnLst>
                        <p:par>
                          <p:cTn id="114" fill="hold">
                            <p:stCondLst>
                              <p:cond delay="0"/>
                            </p:stCondLst>
                            <p:childTnLst>
                              <p:par>
                                <p:cTn id="115" presetID="4" presetClass="entr" presetSubtype="32" fill="hold" nodeType="clickEffect">
                                  <p:stCondLst>
                                    <p:cond delay="0"/>
                                  </p:stCondLst>
                                  <p:childTnLst>
                                    <p:set>
                                      <p:cBhvr>
                                        <p:cTn id="116" dur="1" fill="hold">
                                          <p:stCondLst>
                                            <p:cond delay="0"/>
                                          </p:stCondLst>
                                        </p:cTn>
                                        <p:tgtEl>
                                          <p:spTgt spid="55"/>
                                        </p:tgtEl>
                                        <p:attrNameLst>
                                          <p:attrName>style.visibility</p:attrName>
                                        </p:attrNameLst>
                                      </p:cBhvr>
                                      <p:to>
                                        <p:strVal val="visible"/>
                                      </p:to>
                                    </p:set>
                                    <p:animEffect transition="in" filter="box(out)">
                                      <p:cBhvr>
                                        <p:cTn id="117" dur="8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5" grpId="0" animBg="1"/>
      <p:bldP spid="47" grpId="0" animBg="1"/>
      <p:bldP spid="48" grpId="0" animBg="1"/>
      <p:bldP spid="10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弧 7"/>
          <p:cNvSpPr/>
          <p:nvPr/>
        </p:nvSpPr>
        <p:spPr>
          <a:xfrm>
            <a:off x="-3447416" y="-452205"/>
            <a:ext cx="8437418" cy="7730836"/>
          </a:xfrm>
          <a:prstGeom prst="arc">
            <a:avLst>
              <a:gd name="adj1" fmla="val 17919618"/>
              <a:gd name="adj2" fmla="val 3665690"/>
            </a:avLst>
          </a:prstGeom>
          <a:ln w="508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9" name="文本框 8"/>
          <p:cNvSpPr txBox="1"/>
          <p:nvPr/>
        </p:nvSpPr>
        <p:spPr>
          <a:xfrm>
            <a:off x="2141034" y="3090047"/>
            <a:ext cx="1839952" cy="646331"/>
          </a:xfrm>
          <a:prstGeom prst="rect">
            <a:avLst/>
          </a:prstGeom>
          <a:noFill/>
        </p:spPr>
        <p:txBody>
          <a:bodyPr wrap="square" rtlCol="0">
            <a:spAutoFit/>
          </a:bodyPr>
          <a:lstStyle/>
          <a:p>
            <a:pPr algn="ctr"/>
            <a:r>
              <a:rPr kumimoji="1" lang="en-US" altLang="zh-CN" sz="3600" b="1" dirty="0">
                <a:solidFill>
                  <a:schemeClr val="tx1">
                    <a:lumMod val="65000"/>
                    <a:lumOff val="35000"/>
                  </a:schemeClr>
                </a:solidFill>
              </a:rPr>
              <a:t>PART</a:t>
            </a:r>
            <a:endParaRPr kumimoji="1" lang="zh-CN" altLang="en-US" sz="3600" b="1" dirty="0">
              <a:solidFill>
                <a:schemeClr val="tx1">
                  <a:lumMod val="65000"/>
                  <a:lumOff val="35000"/>
                </a:schemeClr>
              </a:solidFill>
            </a:endParaRPr>
          </a:p>
        </p:txBody>
      </p:sp>
      <p:sp>
        <p:nvSpPr>
          <p:cNvPr id="10" name="椭圆 9"/>
          <p:cNvSpPr/>
          <p:nvPr/>
        </p:nvSpPr>
        <p:spPr>
          <a:xfrm>
            <a:off x="3940477" y="2544275"/>
            <a:ext cx="1809455" cy="1763273"/>
          </a:xfrm>
          <a:prstGeom prst="ellipse">
            <a:avLst/>
          </a:prstGeom>
          <a:solidFill>
            <a:srgbClr val="12CAD6">
              <a:alpha val="6862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5400" dirty="0">
              <a:latin typeface="微软雅黑" panose="020B0503020204020204" charset="-122"/>
              <a:ea typeface="微软雅黑" panose="020B0503020204020204" charset="-122"/>
              <a:cs typeface="微软雅黑" panose="020B0503020204020204" charset="-122"/>
            </a:endParaRPr>
          </a:p>
        </p:txBody>
      </p:sp>
      <p:sp>
        <p:nvSpPr>
          <p:cNvPr id="11" name="椭圆 10"/>
          <p:cNvSpPr/>
          <p:nvPr/>
        </p:nvSpPr>
        <p:spPr>
          <a:xfrm>
            <a:off x="4070195" y="2653990"/>
            <a:ext cx="1550020" cy="1550020"/>
          </a:xfrm>
          <a:prstGeom prst="ellipse">
            <a:avLst/>
          </a:prstGeom>
          <a:solidFill>
            <a:srgbClr val="12C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5400" dirty="0">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5982629" y="3059269"/>
            <a:ext cx="6395266" cy="706755"/>
          </a:xfrm>
          <a:prstGeom prst="rect">
            <a:avLst/>
          </a:prstGeom>
          <a:noFill/>
        </p:spPr>
        <p:txBody>
          <a:bodyPr wrap="square" rtlCol="0">
            <a:spAutoFit/>
          </a:bodyPr>
          <a:lstStyle/>
          <a:p>
            <a:r>
              <a:rPr kumimoji="1" lang="zh-CN" altLang="en-US" sz="40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岗位角色</a:t>
            </a:r>
            <a:endParaRPr kumimoji="1" lang="en-US" altLang="zh-CN" sz="40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13" name="椭圆 12"/>
          <p:cNvSpPr/>
          <p:nvPr/>
        </p:nvSpPr>
        <p:spPr>
          <a:xfrm>
            <a:off x="4516244" y="1762599"/>
            <a:ext cx="320560" cy="306179"/>
          </a:xfrm>
          <a:prstGeom prst="ellipse">
            <a:avLst/>
          </a:prstGeom>
          <a:solidFill>
            <a:srgbClr val="12C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5400" dirty="0">
              <a:latin typeface="微软雅黑" panose="020B0503020204020204" charset="-122"/>
              <a:ea typeface="微软雅黑" panose="020B0503020204020204" charset="-122"/>
              <a:cs typeface="微软雅黑" panose="020B0503020204020204" charset="-122"/>
            </a:endParaRPr>
          </a:p>
        </p:txBody>
      </p:sp>
      <p:sp>
        <p:nvSpPr>
          <p:cNvPr id="14" name="椭圆 13"/>
          <p:cNvSpPr/>
          <p:nvPr/>
        </p:nvSpPr>
        <p:spPr>
          <a:xfrm>
            <a:off x="4513419" y="4783045"/>
            <a:ext cx="320560" cy="306179"/>
          </a:xfrm>
          <a:prstGeom prst="ellipse">
            <a:avLst/>
          </a:prstGeom>
          <a:solidFill>
            <a:srgbClr val="12C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54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802175" y="3576084"/>
            <a:ext cx="1402364" cy="5542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charset="-122"/>
                <a:ea typeface="微软雅黑" panose="020B0503020204020204" charset="-122"/>
              </a:rPr>
              <a:t>用户</a:t>
            </a:r>
          </a:p>
        </p:txBody>
      </p:sp>
      <p:sp>
        <p:nvSpPr>
          <p:cNvPr id="7" name="矩形 6"/>
          <p:cNvSpPr/>
          <p:nvPr/>
        </p:nvSpPr>
        <p:spPr>
          <a:xfrm>
            <a:off x="4604528" y="3576084"/>
            <a:ext cx="1562676" cy="5542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charset="-122"/>
                <a:ea typeface="微软雅黑" panose="020B0503020204020204" charset="-122"/>
              </a:rPr>
              <a:t>知识运营经理</a:t>
            </a:r>
          </a:p>
        </p:txBody>
      </p:sp>
      <p:sp>
        <p:nvSpPr>
          <p:cNvPr id="57" name="矩形 56"/>
          <p:cNvSpPr/>
          <p:nvPr/>
        </p:nvSpPr>
        <p:spPr>
          <a:xfrm>
            <a:off x="4626618" y="4971444"/>
            <a:ext cx="1517715" cy="4925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rPr>
              <a:t>开发团队</a:t>
            </a:r>
          </a:p>
        </p:txBody>
      </p:sp>
      <p:cxnSp>
        <p:nvCxnSpPr>
          <p:cNvPr id="59" name="直接箭头连接符 58"/>
          <p:cNvCxnSpPr>
            <a:stCxn id="57" idx="0"/>
            <a:endCxn id="7" idx="2"/>
          </p:cNvCxnSpPr>
          <p:nvPr/>
        </p:nvCxnSpPr>
        <p:spPr>
          <a:xfrm flipV="1">
            <a:off x="5385476" y="4130291"/>
            <a:ext cx="390" cy="8411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60" idx="2"/>
            <a:endCxn id="7" idx="0"/>
          </p:cNvCxnSpPr>
          <p:nvPr/>
        </p:nvCxnSpPr>
        <p:spPr>
          <a:xfrm>
            <a:off x="5385476" y="2553242"/>
            <a:ext cx="390" cy="10228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4673702" y="4623758"/>
            <a:ext cx="597613" cy="2050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汇报</a:t>
            </a:r>
          </a:p>
        </p:txBody>
      </p:sp>
      <p:sp>
        <p:nvSpPr>
          <p:cNvPr id="32" name="矩形 31"/>
          <p:cNvSpPr/>
          <p:nvPr/>
        </p:nvSpPr>
        <p:spPr>
          <a:xfrm>
            <a:off x="4709106" y="2803714"/>
            <a:ext cx="597613" cy="2050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汇报</a:t>
            </a:r>
          </a:p>
        </p:txBody>
      </p:sp>
      <p:sp>
        <p:nvSpPr>
          <p:cNvPr id="60" name="矩形 59"/>
          <p:cNvSpPr/>
          <p:nvPr/>
        </p:nvSpPr>
        <p:spPr>
          <a:xfrm>
            <a:off x="4626618" y="2060692"/>
            <a:ext cx="1517715" cy="4925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rPr>
              <a:t>知识运营团队</a:t>
            </a:r>
          </a:p>
        </p:txBody>
      </p:sp>
      <p:sp>
        <p:nvSpPr>
          <p:cNvPr id="66" name="矩形 65"/>
          <p:cNvSpPr/>
          <p:nvPr/>
        </p:nvSpPr>
        <p:spPr>
          <a:xfrm>
            <a:off x="3688739" y="1189075"/>
            <a:ext cx="1517715" cy="4925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charset="-122"/>
                <a:ea typeface="微软雅黑" panose="020B0503020204020204" charset="-122"/>
              </a:rPr>
              <a:t>知识生产类</a:t>
            </a:r>
          </a:p>
        </p:txBody>
      </p:sp>
      <p:sp>
        <p:nvSpPr>
          <p:cNvPr id="67" name="矩形 66"/>
          <p:cNvSpPr/>
          <p:nvPr/>
        </p:nvSpPr>
        <p:spPr>
          <a:xfrm>
            <a:off x="5605099" y="1173662"/>
            <a:ext cx="1517715" cy="4925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charset="-122"/>
                <a:ea typeface="微软雅黑" panose="020B0503020204020204" charset="-122"/>
              </a:rPr>
              <a:t>业务分析类</a:t>
            </a:r>
          </a:p>
        </p:txBody>
      </p:sp>
      <p:cxnSp>
        <p:nvCxnSpPr>
          <p:cNvPr id="69" name="连接符: 肘形 68"/>
          <p:cNvCxnSpPr>
            <a:stCxn id="67" idx="2"/>
            <a:endCxn id="60" idx="0"/>
          </p:cNvCxnSpPr>
          <p:nvPr/>
        </p:nvCxnSpPr>
        <p:spPr>
          <a:xfrm rot="5400000">
            <a:off x="5677477" y="1374212"/>
            <a:ext cx="394480" cy="97848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连接符: 肘形 70"/>
          <p:cNvCxnSpPr>
            <a:stCxn id="66" idx="2"/>
            <a:endCxn id="60" idx="0"/>
          </p:cNvCxnSpPr>
          <p:nvPr/>
        </p:nvCxnSpPr>
        <p:spPr>
          <a:xfrm rot="16200000" flipH="1">
            <a:off x="4727003" y="1402218"/>
            <a:ext cx="379067" cy="93787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2326004" y="4309583"/>
            <a:ext cx="597613" cy="2050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考核</a:t>
            </a:r>
          </a:p>
        </p:txBody>
      </p:sp>
      <p:sp>
        <p:nvSpPr>
          <p:cNvPr id="46" name="矩形 45"/>
          <p:cNvSpPr/>
          <p:nvPr/>
        </p:nvSpPr>
        <p:spPr>
          <a:xfrm>
            <a:off x="499089" y="2758670"/>
            <a:ext cx="1573914" cy="66898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charset="-122"/>
                <a:ea typeface="微软雅黑" panose="020B0503020204020204" charset="-122"/>
              </a:rPr>
              <a:t>产品经理</a:t>
            </a:r>
          </a:p>
        </p:txBody>
      </p:sp>
      <p:sp>
        <p:nvSpPr>
          <p:cNvPr id="12" name="箭头: 右 11"/>
          <p:cNvSpPr/>
          <p:nvPr/>
        </p:nvSpPr>
        <p:spPr>
          <a:xfrm>
            <a:off x="2287974" y="2696000"/>
            <a:ext cx="947809" cy="803459"/>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charset="-122"/>
                <a:ea typeface="微软雅黑" panose="020B0503020204020204" charset="-122"/>
              </a:rPr>
              <a:t>统筹</a:t>
            </a:r>
          </a:p>
        </p:txBody>
      </p:sp>
      <p:sp>
        <p:nvSpPr>
          <p:cNvPr id="45" name="矩形 44"/>
          <p:cNvSpPr/>
          <p:nvPr/>
        </p:nvSpPr>
        <p:spPr>
          <a:xfrm>
            <a:off x="511791" y="3892398"/>
            <a:ext cx="1561211" cy="66898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charset="-122"/>
                <a:ea typeface="微软雅黑" panose="020B0503020204020204" charset="-122"/>
              </a:rPr>
              <a:t>产品助理</a:t>
            </a:r>
          </a:p>
        </p:txBody>
      </p:sp>
      <p:sp>
        <p:nvSpPr>
          <p:cNvPr id="9" name="标题 8"/>
          <p:cNvSpPr>
            <a:spLocks noGrp="1"/>
          </p:cNvSpPr>
          <p:nvPr>
            <p:ph type="title"/>
          </p:nvPr>
        </p:nvSpPr>
        <p:spPr/>
        <p:txBody>
          <a:bodyPr/>
          <a:lstStyle/>
          <a:p>
            <a:r>
              <a:rPr lang="zh-CN" altLang="en-US" sz="2800" dirty="0">
                <a:solidFill>
                  <a:schemeClr val="tx1"/>
                </a:solidFill>
                <a:latin typeface="微软雅黑" panose="020B0503020204020204" charset="-122"/>
                <a:ea typeface="微软雅黑" panose="020B0503020204020204" charset="-122"/>
              </a:rPr>
              <a:t>知识工程</a:t>
            </a:r>
            <a:r>
              <a:rPr lang="zh-CN" altLang="en-US" dirty="0">
                <a:solidFill>
                  <a:schemeClr val="tx1"/>
                </a:solidFill>
                <a:latin typeface="微软雅黑" panose="020B0503020204020204" charset="-122"/>
                <a:ea typeface="微软雅黑" panose="020B0503020204020204" charset="-122"/>
              </a:rPr>
              <a:t>各角色</a:t>
            </a:r>
            <a:r>
              <a:rPr lang="zh-CN" altLang="en-US" sz="2800" dirty="0">
                <a:solidFill>
                  <a:schemeClr val="tx1"/>
                </a:solidFill>
                <a:latin typeface="微软雅黑" panose="020B0503020204020204" charset="-122"/>
                <a:ea typeface="微软雅黑" panose="020B0503020204020204" charset="-122"/>
              </a:rPr>
              <a:t>工作关系图</a:t>
            </a:r>
            <a:endParaRPr lang="zh-CN" altLang="en-US" dirty="0"/>
          </a:p>
        </p:txBody>
      </p:sp>
      <p:sp>
        <p:nvSpPr>
          <p:cNvPr id="52" name="矩形 51"/>
          <p:cNvSpPr/>
          <p:nvPr/>
        </p:nvSpPr>
        <p:spPr>
          <a:xfrm>
            <a:off x="10986268" y="3101626"/>
            <a:ext cx="496351" cy="149993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charset="-122"/>
                <a:ea typeface="微软雅黑" panose="020B0503020204020204" charset="-122"/>
              </a:rPr>
              <a:t>项目团队</a:t>
            </a:r>
          </a:p>
        </p:txBody>
      </p:sp>
      <p:sp>
        <p:nvSpPr>
          <p:cNvPr id="53" name="矩形 52"/>
          <p:cNvSpPr/>
          <p:nvPr/>
        </p:nvSpPr>
        <p:spPr>
          <a:xfrm>
            <a:off x="3656309" y="5735964"/>
            <a:ext cx="1582576" cy="4925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charset="-122"/>
                <a:ea typeface="微软雅黑" panose="020B0503020204020204" charset="-122"/>
              </a:rPr>
              <a:t>技术类工程师</a:t>
            </a:r>
          </a:p>
        </p:txBody>
      </p:sp>
      <p:sp>
        <p:nvSpPr>
          <p:cNvPr id="55" name="矩形 54"/>
          <p:cNvSpPr/>
          <p:nvPr/>
        </p:nvSpPr>
        <p:spPr>
          <a:xfrm>
            <a:off x="5530793" y="5739503"/>
            <a:ext cx="1588624" cy="4925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charset="-122"/>
                <a:ea typeface="微软雅黑" panose="020B0503020204020204" charset="-122"/>
              </a:rPr>
              <a:t>训练类工程师</a:t>
            </a:r>
          </a:p>
        </p:txBody>
      </p:sp>
      <p:cxnSp>
        <p:nvCxnSpPr>
          <p:cNvPr id="62" name="连接符: 肘形 61"/>
          <p:cNvCxnSpPr>
            <a:stCxn id="60" idx="1"/>
            <a:endCxn id="45" idx="3"/>
          </p:cNvCxnSpPr>
          <p:nvPr/>
        </p:nvCxnSpPr>
        <p:spPr>
          <a:xfrm rot="10800000" flipV="1">
            <a:off x="2073002" y="2306966"/>
            <a:ext cx="2553616" cy="191992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连接符: 肘形 62"/>
          <p:cNvCxnSpPr>
            <a:stCxn id="57" idx="1"/>
            <a:endCxn id="45" idx="3"/>
          </p:cNvCxnSpPr>
          <p:nvPr/>
        </p:nvCxnSpPr>
        <p:spPr>
          <a:xfrm rot="10800000">
            <a:off x="2073002" y="4226889"/>
            <a:ext cx="2553616" cy="99083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矩形 69"/>
          <p:cNvSpPr/>
          <p:nvPr/>
        </p:nvSpPr>
        <p:spPr>
          <a:xfrm>
            <a:off x="2156766" y="3942535"/>
            <a:ext cx="883123" cy="2050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配置管理</a:t>
            </a:r>
          </a:p>
        </p:txBody>
      </p:sp>
      <p:sp>
        <p:nvSpPr>
          <p:cNvPr id="73" name="矩形 72"/>
          <p:cNvSpPr/>
          <p:nvPr/>
        </p:nvSpPr>
        <p:spPr>
          <a:xfrm>
            <a:off x="1286046" y="6195063"/>
            <a:ext cx="919174" cy="1129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需求汇集</a:t>
            </a:r>
          </a:p>
        </p:txBody>
      </p:sp>
      <p:cxnSp>
        <p:nvCxnSpPr>
          <p:cNvPr id="75" name="连接符: 肘形 74"/>
          <p:cNvCxnSpPr>
            <a:stCxn id="52" idx="3"/>
            <a:endCxn id="45" idx="2"/>
          </p:cNvCxnSpPr>
          <p:nvPr/>
        </p:nvCxnSpPr>
        <p:spPr>
          <a:xfrm flipH="1">
            <a:off x="1292397" y="3851593"/>
            <a:ext cx="10190222" cy="709785"/>
          </a:xfrm>
          <a:prstGeom prst="bentConnector4">
            <a:avLst>
              <a:gd name="adj1" fmla="val -2243"/>
              <a:gd name="adj2" fmla="val 37405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连接符: 肘形 76"/>
          <p:cNvCxnSpPr>
            <a:stCxn id="53" idx="0"/>
            <a:endCxn id="57" idx="2"/>
          </p:cNvCxnSpPr>
          <p:nvPr/>
        </p:nvCxnSpPr>
        <p:spPr>
          <a:xfrm rot="5400000" flipH="1" flipV="1">
            <a:off x="4780551" y="5131040"/>
            <a:ext cx="271970" cy="93787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连接符: 肘形 80"/>
          <p:cNvCxnSpPr>
            <a:stCxn id="55" idx="0"/>
            <a:endCxn id="57" idx="2"/>
          </p:cNvCxnSpPr>
          <p:nvPr/>
        </p:nvCxnSpPr>
        <p:spPr>
          <a:xfrm rot="16200000" flipV="1">
            <a:off x="5717537" y="5131934"/>
            <a:ext cx="275509" cy="93962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连接符: 肘形 126"/>
          <p:cNvCxnSpPr>
            <a:stCxn id="60" idx="3"/>
            <a:endCxn id="52" idx="0"/>
          </p:cNvCxnSpPr>
          <p:nvPr/>
        </p:nvCxnSpPr>
        <p:spPr>
          <a:xfrm>
            <a:off x="6144333" y="2306967"/>
            <a:ext cx="5090111" cy="79465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连接符: 肘形 129"/>
          <p:cNvCxnSpPr>
            <a:stCxn id="57" idx="3"/>
            <a:endCxn id="52" idx="2"/>
          </p:cNvCxnSpPr>
          <p:nvPr/>
        </p:nvCxnSpPr>
        <p:spPr>
          <a:xfrm flipV="1">
            <a:off x="6144333" y="4601560"/>
            <a:ext cx="5090111" cy="61615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5" name="矩形 134"/>
          <p:cNvSpPr/>
          <p:nvPr/>
        </p:nvSpPr>
        <p:spPr>
          <a:xfrm>
            <a:off x="10337230" y="3477847"/>
            <a:ext cx="496351" cy="264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落地</a:t>
            </a:r>
          </a:p>
        </p:txBody>
      </p:sp>
      <p:sp>
        <p:nvSpPr>
          <p:cNvPr id="136" name="矩形 135"/>
          <p:cNvSpPr/>
          <p:nvPr/>
        </p:nvSpPr>
        <p:spPr>
          <a:xfrm>
            <a:off x="8718815" y="5311345"/>
            <a:ext cx="496351" cy="264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组建</a:t>
            </a:r>
          </a:p>
        </p:txBody>
      </p:sp>
      <p:sp>
        <p:nvSpPr>
          <p:cNvPr id="137" name="矩形 136"/>
          <p:cNvSpPr/>
          <p:nvPr/>
        </p:nvSpPr>
        <p:spPr>
          <a:xfrm>
            <a:off x="8718815" y="2007247"/>
            <a:ext cx="496351" cy="264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组建</a:t>
            </a:r>
          </a:p>
        </p:txBody>
      </p:sp>
      <p:cxnSp>
        <p:nvCxnSpPr>
          <p:cNvPr id="89" name="直接箭头连接符 88"/>
          <p:cNvCxnSpPr>
            <a:stCxn id="45" idx="0"/>
            <a:endCxn id="46" idx="2"/>
          </p:cNvCxnSpPr>
          <p:nvPr/>
        </p:nvCxnSpPr>
        <p:spPr>
          <a:xfrm flipH="1" flipV="1">
            <a:off x="1286046" y="3427650"/>
            <a:ext cx="6351" cy="4647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4" name="矩形 93"/>
          <p:cNvSpPr/>
          <p:nvPr/>
        </p:nvSpPr>
        <p:spPr>
          <a:xfrm>
            <a:off x="1384607" y="3526902"/>
            <a:ext cx="493627" cy="2319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汇报</a:t>
            </a:r>
          </a:p>
        </p:txBody>
      </p:sp>
      <p:cxnSp>
        <p:nvCxnSpPr>
          <p:cNvPr id="108" name="直接箭头连接符 107"/>
          <p:cNvCxnSpPr>
            <a:stCxn id="52" idx="1"/>
            <a:endCxn id="6" idx="3"/>
          </p:cNvCxnSpPr>
          <p:nvPr/>
        </p:nvCxnSpPr>
        <p:spPr>
          <a:xfrm flipH="1">
            <a:off x="10204539" y="3851593"/>
            <a:ext cx="781729" cy="15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8" name="矩形 117"/>
          <p:cNvSpPr/>
          <p:nvPr/>
        </p:nvSpPr>
        <p:spPr>
          <a:xfrm>
            <a:off x="8223581" y="3505121"/>
            <a:ext cx="597613" cy="2050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汇报</a:t>
            </a:r>
          </a:p>
        </p:txBody>
      </p:sp>
      <p:sp>
        <p:nvSpPr>
          <p:cNvPr id="120" name="矩形 119"/>
          <p:cNvSpPr/>
          <p:nvPr/>
        </p:nvSpPr>
        <p:spPr>
          <a:xfrm>
            <a:off x="6730724" y="3576084"/>
            <a:ext cx="1562676" cy="5542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charset="-122"/>
                <a:ea typeface="微软雅黑" panose="020B0503020204020204" charset="-122"/>
              </a:rPr>
              <a:t>售前顾问</a:t>
            </a:r>
          </a:p>
        </p:txBody>
      </p:sp>
      <p:cxnSp>
        <p:nvCxnSpPr>
          <p:cNvPr id="126" name="直接箭头连接符 125"/>
          <p:cNvCxnSpPr>
            <a:stCxn id="7" idx="3"/>
            <a:endCxn id="120" idx="1"/>
          </p:cNvCxnSpPr>
          <p:nvPr/>
        </p:nvCxnSpPr>
        <p:spPr>
          <a:xfrm>
            <a:off x="6167204" y="3853188"/>
            <a:ext cx="5635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直接箭头连接符 131"/>
          <p:cNvCxnSpPr>
            <a:stCxn id="120" idx="3"/>
            <a:endCxn id="6" idx="1"/>
          </p:cNvCxnSpPr>
          <p:nvPr/>
        </p:nvCxnSpPr>
        <p:spPr>
          <a:xfrm>
            <a:off x="8293400" y="3853188"/>
            <a:ext cx="5087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8" name="矩形 137"/>
          <p:cNvSpPr/>
          <p:nvPr/>
        </p:nvSpPr>
        <p:spPr>
          <a:xfrm>
            <a:off x="6154484" y="3505121"/>
            <a:ext cx="597613" cy="2050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指导</a:t>
            </a: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竖排标题 1"/>
          <p:cNvSpPr>
            <a:spLocks noGrp="1"/>
          </p:cNvSpPr>
          <p:nvPr>
            <p:ph type="title" orient="vert"/>
          </p:nvPr>
        </p:nvSpPr>
        <p:spPr/>
        <p:txBody>
          <a:bodyPr/>
          <a:lstStyle/>
          <a:p>
            <a:r>
              <a:rPr lang="zh-CN" altLang="en-US" dirty="0"/>
              <a:t>感谢聆听！</a:t>
            </a:r>
            <a:endParaRPr kumimoji="1"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无&quot;,&quot;HeaderHeight&quot;:1.8439803439803504,&quot;FooterHeight&quot;:3.8000000000000003,&quot;SideMargin&quot;:1.1,&quot;TopMargin&quot;:4.6000000000000005,&quot;BottomMargin&quot;:1.5,&quot;IntervalMargin&quot;:0.0,&quot;SettingType&quot;:&quot;System&quot;}"/>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9aa4d851-c98e-478d-8f9a-b14b84c048a6}"/>
  <p:tag name="TABLE_ENDDRAG_ORIGIN_RECT" val="399*269"/>
  <p:tag name="TABLE_ENDDRAG_RECT" val="416*120*399*269"/>
</p:tagLst>
</file>

<file path=ppt/tags/tag3.xml><?xml version="1.0" encoding="utf-8"?>
<p:tagLst xmlns:a="http://schemas.openxmlformats.org/drawingml/2006/main" xmlns:r="http://schemas.openxmlformats.org/officeDocument/2006/relationships" xmlns:p="http://schemas.openxmlformats.org/presentationml/2006/main">
  <p:tag name="ISLIDE.ICON" val="#94142;#391223;"/>
</p:tagLst>
</file>

<file path=ppt/theme/theme1.xml><?xml version="1.0" encoding="utf-8"?>
<a:theme xmlns:a="http://schemas.openxmlformats.org/drawingml/2006/main" name="Office 主题">
  <a:themeElements>
    <a:clrScheme name="自定义 7">
      <a:dk1>
        <a:sysClr val="windowText" lastClr="000000"/>
      </a:dk1>
      <a:lt1>
        <a:sysClr val="window" lastClr="FFFFFF"/>
      </a:lt1>
      <a:dk2>
        <a:srgbClr val="44546A"/>
      </a:dk2>
      <a:lt2>
        <a:srgbClr val="E7E6E6"/>
      </a:lt2>
      <a:accent1>
        <a:srgbClr val="FA1616"/>
      </a:accent1>
      <a:accent2>
        <a:srgbClr val="12CAD6"/>
      </a:accent2>
      <a:accent3>
        <a:srgbClr val="0FABBC"/>
      </a:accent3>
      <a:accent4>
        <a:srgbClr val="E4F9FF"/>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3914</Words>
  <Application>Microsoft Office PowerPoint</Application>
  <PresentationFormat>宽屏</PresentationFormat>
  <Paragraphs>513</Paragraphs>
  <Slides>21</Slides>
  <Notes>15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等线</vt:lpstr>
      <vt:lpstr>等线</vt:lpstr>
      <vt:lpstr>DengXian Light</vt:lpstr>
      <vt:lpstr>宋体</vt:lpstr>
      <vt:lpstr>微软雅黑</vt:lpstr>
      <vt:lpstr>Arial</vt:lpstr>
      <vt:lpstr>Calibri</vt:lpstr>
      <vt:lpstr>Office 主题</vt:lpstr>
      <vt:lpstr>领域知识工程</vt:lpstr>
      <vt:lpstr>PowerPoint 演示文稿</vt:lpstr>
      <vt:lpstr>领域知识工程学</vt:lpstr>
      <vt:lpstr>（一）任务范式——主动系统与对象系统</vt:lpstr>
      <vt:lpstr>（一）任务范式——问题驱动</vt:lpstr>
      <vt:lpstr>（一）任务范式——目标约束</vt:lpstr>
      <vt:lpstr>（一）任务范式——知识制导</vt:lpstr>
      <vt:lpstr>（一）任务范式——事实激活</vt:lpstr>
      <vt:lpstr>PowerPoint 演示文稿</vt:lpstr>
      <vt:lpstr>工程实践内容</vt:lpstr>
      <vt:lpstr>工程实践内容</vt:lpstr>
      <vt:lpstr>工程实践内容</vt:lpstr>
      <vt:lpstr>工程实践内容</vt:lpstr>
      <vt:lpstr>工程实践内容</vt:lpstr>
      <vt:lpstr>工程实践内容</vt:lpstr>
      <vt:lpstr>工程实践内容</vt:lpstr>
      <vt:lpstr>工程实践内容</vt:lpstr>
      <vt:lpstr>PowerPoint 演示文稿</vt:lpstr>
      <vt:lpstr>PowerPoint 演示文稿</vt:lpstr>
      <vt:lpstr>知识工程各角色工作关系图</vt:lpstr>
      <vt:lpstr>感谢聆听！</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1031</cp:lastModifiedBy>
  <cp:revision>4143</cp:revision>
  <dcterms:created xsi:type="dcterms:W3CDTF">2020-07-18T06:42:00Z</dcterms:created>
  <dcterms:modified xsi:type="dcterms:W3CDTF">2024-12-04T10:56:19Z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2052-11.1.0.10938</vt:lpwstr>
  </property>
  <property fmtid="{D5CDD505-2E9C-101B-9397-08002B2CF9AE}" pid="3" name="ICV">
    <vt:lpwstr>EEC9EA26C5674196942092D58FBD233D</vt:lpwstr>
  </property>
</Properties>
</file>